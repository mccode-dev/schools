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tif"/><Relationship Id="rId4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2021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7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8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8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8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1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1 Virtual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393192">
                  <a:lnSpc>
                    <a:spcPct val="110000"/>
                  </a:lnSpc>
                  <a:spcBef>
                    <a:spcPts val="0"/>
                  </a:spcBef>
                  <a:defRPr b="1" i="1" sz="1591">
                    <a:solidFill>
                      <a:srgbClr val="FFFFFF"/>
                    </a:solidFill>
                  </a:defRPr>
                </a:pPr>
                <a:r>
                  <a:t>2021 Virtual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5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539495">
                <a:lnSpc>
                  <a:spcPct val="110000"/>
                </a:lnSpc>
                <a:spcBef>
                  <a:spcPts val="0"/>
                </a:spcBef>
                <a:defRPr b="1" i="1" sz="2183">
                  <a:solidFill>
                    <a:srgbClr val="FFFFFF"/>
                  </a:solidFill>
                </a:defRPr>
              </a:pPr>
              <a:r>
                <a:t>2025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"/>
          <p:cNvGrpSpPr/>
          <p:nvPr/>
        </p:nvGrpSpPr>
        <p:grpSpPr>
          <a:xfrm>
            <a:off x="6350" y="-1"/>
            <a:ext cx="12193200" cy="6876383"/>
            <a:chOff x="0" y="0"/>
            <a:chExt cx="12193199" cy="6876381"/>
          </a:xfrm>
        </p:grpSpPr>
        <p:grpSp>
          <p:nvGrpSpPr>
            <p:cNvPr id="301" name="Group"/>
            <p:cNvGrpSpPr/>
            <p:nvPr/>
          </p:nvGrpSpPr>
          <p:grpSpPr>
            <a:xfrm>
              <a:off x="0" y="-1"/>
              <a:ext cx="12193200" cy="6876383"/>
              <a:chOff x="0" y="0"/>
              <a:chExt cx="12193199" cy="6876381"/>
            </a:xfrm>
          </p:grpSpPr>
          <p:sp>
            <p:nvSpPr>
              <p:cNvPr id="298" name="Bottom bar"/>
              <p:cNvSpPr/>
              <p:nvPr/>
            </p:nvSpPr>
            <p:spPr>
              <a:xfrm>
                <a:off x="0" y="6559534"/>
                <a:ext cx="12193200" cy="3168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Top bar"/>
              <p:cNvSpPr/>
              <p:nvPr/>
            </p:nvSpPr>
            <p:spPr>
              <a:xfrm>
                <a:off x="0" y="0"/>
                <a:ext cx="12193200" cy="504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0" name="pasted-movie.png" descr="pasted-movie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4913605" y="6559581"/>
                <a:ext cx="6349482" cy="3168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02" name="UserProfile.Offices.Workarea_{{DocumentLanguage}}text"/>
            <p:cNvSpPr txBox="1"/>
            <p:nvPr/>
          </p:nvSpPr>
          <p:spPr>
            <a:xfrm>
              <a:off x="1348199" y="6636099"/>
              <a:ext cx="33970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spcBef>
                  <a:spcPts val="0"/>
                </a:spcBef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Peter Willendrup, DTU Physics and ESS DMSC</a:t>
              </a:r>
            </a:p>
          </p:txBody>
        </p:sp>
      </p:grpSp>
      <p:sp>
        <p:nvSpPr>
          <p:cNvPr id="304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06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580" y="251999"/>
            <a:ext cx="1142204" cy="61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52365" y="141061"/>
            <a:ext cx="749128" cy="734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Box 1"/>
          <p:cNvSpPr txBox="1"/>
          <p:nvPr/>
        </p:nvSpPr>
        <p:spPr>
          <a:xfrm>
            <a:off x="3770755" y="2926148"/>
            <a:ext cx="4047149" cy="3190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Moving Optics</a:t>
            </a:r>
          </a:p>
          <a:p>
            <a:pPr marL="250031" indent="-250031">
              <a:buSzPct val="100000"/>
              <a:buFont typeface="Arial"/>
              <a:buChar char="•"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250031" indent="-250031">
              <a:buSzPct val="100000"/>
              <a:buFont typeface="Arial"/>
              <a:buChar char="•"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Velocity selector</a:t>
            </a:r>
          </a:p>
          <a:p>
            <a:pPr marL="250031" indent="-250031">
              <a:buSzPct val="100000"/>
              <a:buFont typeface="Arial"/>
              <a:buChar char="•"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Disk Chopper</a:t>
            </a:r>
          </a:p>
          <a:p>
            <a:pPr marL="250031" indent="-250031">
              <a:buSzPct val="100000"/>
              <a:buFont typeface="Arial"/>
              <a:buChar char="•"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Fermi Chopper</a:t>
            </a:r>
          </a:p>
        </p:txBody>
      </p:sp>
      <p:sp>
        <p:nvSpPr>
          <p:cNvPr id="319" name="Rounded Rectangle 2"/>
          <p:cNvSpPr/>
          <p:nvPr/>
        </p:nvSpPr>
        <p:spPr>
          <a:xfrm>
            <a:off x="2044069" y="2228221"/>
            <a:ext cx="1457407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0" name="Rounded Rectangle 3"/>
          <p:cNvSpPr/>
          <p:nvPr/>
        </p:nvSpPr>
        <p:spPr>
          <a:xfrm>
            <a:off x="6923697" y="2228221"/>
            <a:ext cx="2461131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1" name="Rounded Rectangle 4"/>
          <p:cNvSpPr/>
          <p:nvPr/>
        </p:nvSpPr>
        <p:spPr>
          <a:xfrm>
            <a:off x="4164285" y="2228221"/>
            <a:ext cx="166574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2" name="Rounded Rectangle 5"/>
          <p:cNvSpPr/>
          <p:nvPr/>
        </p:nvSpPr>
        <p:spPr>
          <a:xfrm>
            <a:off x="5144466" y="2228221"/>
            <a:ext cx="360230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3" name="Rectangle 6"/>
          <p:cNvSpPr/>
          <p:nvPr/>
        </p:nvSpPr>
        <p:spPr>
          <a:xfrm flipH="1">
            <a:off x="3542968" y="1777500"/>
            <a:ext cx="41494" cy="1497409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4" name="Title 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1"/>
          <p:cNvSpPr txBox="1"/>
          <p:nvPr/>
        </p:nvSpPr>
        <p:spPr>
          <a:xfrm>
            <a:off x="5756985" y="2807262"/>
            <a:ext cx="5766874" cy="2610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/>
          <a:p>
            <a:pPr marR="36882" indent="40639" defTabSz="407733">
              <a:lnSpc>
                <a:spcPct val="93000"/>
              </a:lnSpc>
              <a:defRPr b="1" sz="28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Velocity Selectors</a:t>
            </a:r>
          </a:p>
          <a:p>
            <a:pPr marR="36882" indent="40639" defTabSz="407733">
              <a:lnSpc>
                <a:spcPct val="93000"/>
              </a:lnSpc>
              <a:defRPr sz="28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R="36882" indent="40639" defTabSz="407733">
              <a:lnSpc>
                <a:spcPct val="93000"/>
              </a:lnSpc>
              <a:defRPr sz="28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- </a:t>
            </a:r>
          </a:p>
          <a:p>
            <a:pPr marR="36882" indent="40639" defTabSz="407733">
              <a:lnSpc>
                <a:spcPct val="93000"/>
              </a:lnSpc>
              <a:defRPr sz="28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R="36882" indent="40639" defTabSz="407733">
              <a:lnSpc>
                <a:spcPct val="93000"/>
              </a:lnSpc>
              <a:defRPr sz="28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Select the neutron energy you want</a:t>
            </a:r>
          </a:p>
        </p:txBody>
      </p:sp>
      <p:sp>
        <p:nvSpPr>
          <p:cNvPr id="328" name="Rounded Rectangle 2"/>
          <p:cNvSpPr/>
          <p:nvPr/>
        </p:nvSpPr>
        <p:spPr>
          <a:xfrm>
            <a:off x="2044069" y="2059143"/>
            <a:ext cx="1457407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29" name="Rounded Rectangle 3"/>
          <p:cNvSpPr/>
          <p:nvPr/>
        </p:nvSpPr>
        <p:spPr>
          <a:xfrm>
            <a:off x="3681617" y="2059143"/>
            <a:ext cx="5156060" cy="518619"/>
          </a:xfrm>
          <a:prstGeom prst="roundRect">
            <a:avLst>
              <a:gd name="adj" fmla="val 16667"/>
            </a:avLst>
          </a:prstGeom>
          <a:solidFill>
            <a:srgbClr val="E41962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30" name="Rectangle 6"/>
          <p:cNvSpPr/>
          <p:nvPr/>
        </p:nvSpPr>
        <p:spPr>
          <a:xfrm flipH="1">
            <a:off x="3542968" y="1608422"/>
            <a:ext cx="41494" cy="1497409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31" name="Title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roup 1"/>
          <p:cNvGrpSpPr/>
          <p:nvPr/>
        </p:nvGrpSpPr>
        <p:grpSpPr>
          <a:xfrm>
            <a:off x="3814411" y="2131054"/>
            <a:ext cx="3570043" cy="1788248"/>
            <a:chOff x="0" y="0"/>
            <a:chExt cx="3570042" cy="1788246"/>
          </a:xfrm>
        </p:grpSpPr>
        <p:sp>
          <p:nvSpPr>
            <p:cNvPr id="334" name="Shape 45"/>
            <p:cNvSpPr/>
            <p:nvPr/>
          </p:nvSpPr>
          <p:spPr>
            <a:xfrm>
              <a:off x="1169389" y="-1"/>
              <a:ext cx="2394467" cy="1788248"/>
            </a:xfrm>
            <a:prstGeom prst="rect">
              <a:avLst/>
            </a:prstGeom>
            <a:solidFill>
              <a:srgbClr val="00C5FF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5" name="Shape 52"/>
            <p:cNvSpPr/>
            <p:nvPr/>
          </p:nvSpPr>
          <p:spPr>
            <a:xfrm>
              <a:off x="0" y="847064"/>
              <a:ext cx="1033271" cy="112943"/>
            </a:xfrm>
            <a:prstGeom prst="rightArrow">
              <a:avLst>
                <a:gd name="adj1" fmla="val 32000"/>
                <a:gd name="adj2" fmla="val 366667"/>
              </a:avLst>
            </a:prstGeom>
            <a:solidFill>
              <a:srgbClr val="008000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36" name="Shape 53"/>
            <p:cNvSpPr/>
            <p:nvPr/>
          </p:nvSpPr>
          <p:spPr>
            <a:xfrm>
              <a:off x="1169389" y="696475"/>
              <a:ext cx="2394467" cy="470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16" y="20329"/>
                    <a:pt x="6276" y="18635"/>
                    <a:pt x="6276" y="18635"/>
                  </a:cubicBezTo>
                  <a:lnTo>
                    <a:pt x="10270" y="15388"/>
                  </a:lnTo>
                  <a:lnTo>
                    <a:pt x="14835" y="10588"/>
                  </a:lnTo>
                  <a:lnTo>
                    <a:pt x="18666" y="4941"/>
                  </a:lnTo>
                  <a:lnTo>
                    <a:pt x="21600" y="0"/>
                  </a:lnTo>
                </a:path>
              </a:pathLst>
            </a:custGeom>
            <a:noFill/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530198">
                <a:defRPr sz="3800"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337" name="Shape 54"/>
            <p:cNvSpPr/>
            <p:nvPr/>
          </p:nvSpPr>
          <p:spPr>
            <a:xfrm>
              <a:off x="1175577" y="894123"/>
              <a:ext cx="2394466" cy="470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16" y="20329"/>
                    <a:pt x="6276" y="18635"/>
                    <a:pt x="6276" y="18635"/>
                  </a:cubicBezTo>
                  <a:lnTo>
                    <a:pt x="10270" y="15388"/>
                  </a:lnTo>
                  <a:lnTo>
                    <a:pt x="14835" y="10588"/>
                  </a:lnTo>
                  <a:lnTo>
                    <a:pt x="18666" y="4941"/>
                  </a:lnTo>
                  <a:lnTo>
                    <a:pt x="21600" y="0"/>
                  </a:lnTo>
                </a:path>
              </a:pathLst>
            </a:custGeom>
            <a:noFill/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530198">
                <a:defRPr sz="3800"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338" name="Shape 55"/>
            <p:cNvSpPr/>
            <p:nvPr/>
          </p:nvSpPr>
          <p:spPr>
            <a:xfrm>
              <a:off x="1175577" y="517650"/>
              <a:ext cx="2394466" cy="470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16" y="20329"/>
                    <a:pt x="6276" y="18635"/>
                    <a:pt x="6276" y="18635"/>
                  </a:cubicBezTo>
                  <a:lnTo>
                    <a:pt x="10270" y="15388"/>
                  </a:lnTo>
                  <a:lnTo>
                    <a:pt x="14835" y="10588"/>
                  </a:lnTo>
                  <a:lnTo>
                    <a:pt x="18666" y="4941"/>
                  </a:lnTo>
                  <a:lnTo>
                    <a:pt x="21600" y="0"/>
                  </a:lnTo>
                </a:path>
              </a:pathLst>
            </a:custGeom>
            <a:noFill/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530198">
                <a:defRPr sz="3800"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339" name="Shape 56"/>
            <p:cNvSpPr/>
            <p:nvPr/>
          </p:nvSpPr>
          <p:spPr>
            <a:xfrm>
              <a:off x="1175577" y="329413"/>
              <a:ext cx="2394466" cy="470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16" y="20329"/>
                    <a:pt x="6276" y="18635"/>
                    <a:pt x="6276" y="18635"/>
                  </a:cubicBezTo>
                  <a:lnTo>
                    <a:pt x="10270" y="15388"/>
                  </a:lnTo>
                  <a:lnTo>
                    <a:pt x="14835" y="10588"/>
                  </a:lnTo>
                  <a:lnTo>
                    <a:pt x="18666" y="4941"/>
                  </a:lnTo>
                  <a:lnTo>
                    <a:pt x="21600" y="0"/>
                  </a:lnTo>
                </a:path>
              </a:pathLst>
            </a:custGeom>
            <a:noFill/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defTabSz="530198">
                <a:defRPr sz="3800"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</p:grpSp>
      <p:sp>
        <p:nvSpPr>
          <p:cNvPr id="341" name="TextBox 8"/>
          <p:cNvSpPr txBox="1"/>
          <p:nvPr/>
        </p:nvSpPr>
        <p:spPr>
          <a:xfrm>
            <a:off x="3834891" y="497359"/>
            <a:ext cx="4548486" cy="56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>
            <a:lvl1pPr marR="36882" indent="40639" defTabSz="407733">
              <a:lnSpc>
                <a:spcPct val="93000"/>
              </a:lnSpc>
              <a:defRPr sz="32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VELOCITY SELECTORS</a:t>
            </a:r>
          </a:p>
        </p:txBody>
      </p:sp>
      <p:sp>
        <p:nvSpPr>
          <p:cNvPr id="342" name="TextBox 9"/>
          <p:cNvSpPr txBox="1"/>
          <p:nvPr/>
        </p:nvSpPr>
        <p:spPr>
          <a:xfrm>
            <a:off x="7626851" y="4427590"/>
            <a:ext cx="1585875" cy="22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absorbing blades</a:t>
            </a:r>
          </a:p>
        </p:txBody>
      </p:sp>
      <p:sp>
        <p:nvSpPr>
          <p:cNvPr id="343" name="Straight Arrow Connector 12"/>
          <p:cNvSpPr/>
          <p:nvPr/>
        </p:nvSpPr>
        <p:spPr>
          <a:xfrm flipH="1" flipV="1">
            <a:off x="7174460" y="3119296"/>
            <a:ext cx="1421802" cy="1275978"/>
          </a:xfrm>
          <a:prstGeom prst="line">
            <a:avLst/>
          </a:prstGeom>
          <a:ln w="12700">
            <a:solidFill>
              <a:srgbClr val="FF0000"/>
            </a:solidFill>
            <a:tailEnd type="triangle"/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" name="Title 1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18020" y="2300014"/>
            <a:ext cx="4257561" cy="1111232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TextBox 2"/>
          <p:cNvSpPr txBox="1"/>
          <p:nvPr/>
        </p:nvSpPr>
        <p:spPr>
          <a:xfrm>
            <a:off x="3834891" y="497359"/>
            <a:ext cx="4548486" cy="56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>
            <a:lvl1pPr marR="36882" indent="40639" defTabSz="407733">
              <a:lnSpc>
                <a:spcPct val="93000"/>
              </a:lnSpc>
              <a:defRPr sz="32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VELOCITY SELECTORS</a:t>
            </a:r>
          </a:p>
        </p:txBody>
      </p:sp>
      <p:sp>
        <p:nvSpPr>
          <p:cNvPr id="349" name="Title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3" name="Picture 11" descr="Picture 11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8478" y="2900740"/>
            <a:ext cx="3688337" cy="2074690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extBox 3"/>
          <p:cNvSpPr txBox="1"/>
          <p:nvPr/>
        </p:nvSpPr>
        <p:spPr>
          <a:xfrm>
            <a:off x="1725575" y="4817646"/>
            <a:ext cx="1067929" cy="241054"/>
          </a:xfrm>
          <a:prstGeom prst="rect">
            <a:avLst/>
          </a:prstGeom>
          <a:solidFill>
            <a:srgbClr val="0D143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104" tIns="46104" rIns="46104" bIns="46104">
            <a:spAutoFit/>
          </a:bodyPr>
          <a:lstStyle>
            <a:lvl1pPr marR="36882" indent="40639" defTabSz="407733">
              <a:lnSpc>
                <a:spcPct val="93000"/>
              </a:lnSpc>
              <a:defRPr sz="1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ILL.FR</a:t>
            </a:r>
          </a:p>
        </p:txBody>
      </p:sp>
      <p:sp>
        <p:nvSpPr>
          <p:cNvPr id="355" name="TextBox 8"/>
          <p:cNvSpPr txBox="1"/>
          <p:nvPr/>
        </p:nvSpPr>
        <p:spPr>
          <a:xfrm>
            <a:off x="3167593" y="1892739"/>
            <a:ext cx="4834644" cy="389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/>
          <a:p>
            <a:pPr>
              <a:defRPr sz="20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‘broad’ monochromatization </a:t>
            </a:r>
            <a:r>
              <a:rPr>
                <a:uFillTx/>
              </a:rPr>
              <a:t>δλ/λ </a:t>
            </a:r>
            <a:r>
              <a:rPr>
                <a:uFillTx/>
              </a:rPr>
              <a:t> ≈ 10 %</a:t>
            </a:r>
          </a:p>
        </p:txBody>
      </p:sp>
      <p:sp>
        <p:nvSpPr>
          <p:cNvPr id="356" name="TextBox 9"/>
          <p:cNvSpPr txBox="1"/>
          <p:nvPr/>
        </p:nvSpPr>
        <p:spPr>
          <a:xfrm>
            <a:off x="3834891" y="497359"/>
            <a:ext cx="4548486" cy="56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>
            <a:lvl1pPr marR="36882" indent="40639" defTabSz="407733">
              <a:lnSpc>
                <a:spcPct val="93000"/>
              </a:lnSpc>
              <a:defRPr sz="32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VELOCITY SELECTORS</a:t>
            </a:r>
          </a:p>
        </p:txBody>
      </p:sp>
      <p:grpSp>
        <p:nvGrpSpPr>
          <p:cNvPr id="361" name="Group 10"/>
          <p:cNvGrpSpPr/>
          <p:nvPr/>
        </p:nvGrpSpPr>
        <p:grpSpPr>
          <a:xfrm>
            <a:off x="6322091" y="2900740"/>
            <a:ext cx="2637399" cy="2104134"/>
            <a:chOff x="0" y="0"/>
            <a:chExt cx="2637398" cy="2104133"/>
          </a:xfrm>
        </p:grpSpPr>
        <p:grpSp>
          <p:nvGrpSpPr>
            <p:cNvPr id="359" name="Group 7"/>
            <p:cNvGrpSpPr/>
            <p:nvPr/>
          </p:nvGrpSpPr>
          <p:grpSpPr>
            <a:xfrm>
              <a:off x="0" y="-1"/>
              <a:ext cx="2637399" cy="2104135"/>
              <a:chOff x="0" y="0"/>
              <a:chExt cx="2637398" cy="2104133"/>
            </a:xfrm>
          </p:grpSpPr>
          <p:pic>
            <p:nvPicPr>
              <p:cNvPr id="357" name="Picture 5" descr="Picture 5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-1"/>
                <a:ext cx="2637399" cy="10569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58" name="Picture 6" descr="Picture 6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1047178"/>
                <a:ext cx="2637399" cy="105695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60" name="TextBox 2"/>
            <p:cNvSpPr/>
            <p:nvPr/>
          </p:nvSpPr>
          <p:spPr>
            <a:xfrm>
              <a:off x="0" y="1855023"/>
              <a:ext cx="87043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/>
              <a:r>
                <a:t>Astrium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6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77733" y="1188783"/>
            <a:ext cx="4257561" cy="1111232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TextBox 4"/>
          <p:cNvSpPr txBox="1"/>
          <p:nvPr/>
        </p:nvSpPr>
        <p:spPr>
          <a:xfrm>
            <a:off x="2573135" y="2565723"/>
            <a:ext cx="7466756" cy="3250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INPUT PARAMETERS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xwidth	[m]			width entry aperture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yheight	[m]			height entry aperture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zdepth	[m]			housing! length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length	[m]			blade length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	[m]			blade thickness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alpha	[deg]			twisting angle 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radius	[m]			distance rotation axis – aperture centre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nu 	[Hz]			rotation speed, counterclockwise</a:t>
            </a:r>
          </a:p>
          <a:p>
            <a:pPr>
              <a:defRPr sz="1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nslit	[]			number of blades</a:t>
            </a:r>
          </a:p>
        </p:txBody>
      </p:sp>
      <p:sp>
        <p:nvSpPr>
          <p:cNvPr id="366" name="TextBox 16"/>
          <p:cNvSpPr txBox="1"/>
          <p:nvPr/>
        </p:nvSpPr>
        <p:spPr>
          <a:xfrm>
            <a:off x="3834891" y="497359"/>
            <a:ext cx="4548486" cy="56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6104" tIns="46104" rIns="46104" bIns="46104">
            <a:spAutoFit/>
          </a:bodyPr>
          <a:lstStyle>
            <a:lvl1pPr marR="36882" indent="40639" defTabSz="407733">
              <a:lnSpc>
                <a:spcPct val="93000"/>
              </a:lnSpc>
              <a:defRPr sz="3200">
                <a:uFill>
                  <a:solidFill>
                    <a:srgbClr val="000000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VELOCITY SELECTORS</a:t>
            </a:r>
          </a:p>
        </p:txBody>
      </p:sp>
      <p:sp>
        <p:nvSpPr>
          <p:cNvPr id="367" name="Right Bracket 6"/>
          <p:cNvSpPr/>
          <p:nvPr/>
        </p:nvSpPr>
        <p:spPr>
          <a:xfrm>
            <a:off x="8590734" y="2917503"/>
            <a:ext cx="75400" cy="894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68"/>
                  <a:pt x="21600" y="152"/>
                </a:cubicBezTo>
                <a:lnTo>
                  <a:pt x="21600" y="21448"/>
                </a:lnTo>
                <a:cubicBezTo>
                  <a:pt x="21600" y="21532"/>
                  <a:pt x="11929" y="21600"/>
                  <a:pt x="0" y="21600"/>
                </a:cubicBezTo>
              </a:path>
            </a:pathLst>
          </a:custGeom>
          <a:ln w="50800">
            <a:solidFill>
              <a:srgbClr val="FF0000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6799" tIns="46799" rIns="46799" bIns="46799" anchor="ctr"/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68" name="TextBox 7"/>
          <p:cNvSpPr txBox="1"/>
          <p:nvPr/>
        </p:nvSpPr>
        <p:spPr>
          <a:xfrm>
            <a:off x="9124846" y="3146955"/>
            <a:ext cx="911353" cy="29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housing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ounded Rectangle 3"/>
          <p:cNvSpPr/>
          <p:nvPr/>
        </p:nvSpPr>
        <p:spPr>
          <a:xfrm>
            <a:off x="2044069" y="2228221"/>
            <a:ext cx="1457407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DISK CHOPPER</a:t>
            </a:r>
          </a:p>
        </p:txBody>
      </p:sp>
      <p:sp>
        <p:nvSpPr>
          <p:cNvPr id="3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3" name="Rounded Rectangle 12"/>
          <p:cNvSpPr/>
          <p:nvPr/>
        </p:nvSpPr>
        <p:spPr>
          <a:xfrm>
            <a:off x="6923697" y="2228221"/>
            <a:ext cx="2461131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4" name="Rounded Rectangle 13"/>
          <p:cNvSpPr/>
          <p:nvPr/>
        </p:nvSpPr>
        <p:spPr>
          <a:xfrm>
            <a:off x="4164285" y="2228221"/>
            <a:ext cx="166574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5" name="Rounded Rectangle 14"/>
          <p:cNvSpPr/>
          <p:nvPr/>
        </p:nvSpPr>
        <p:spPr>
          <a:xfrm>
            <a:off x="5144466" y="2228221"/>
            <a:ext cx="360230" cy="51861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10800000"/>
          </a:gradFill>
          <a:ln w="12700">
            <a:miter lim="400000"/>
          </a:ln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6" name="Rectangle 15"/>
          <p:cNvSpPr/>
          <p:nvPr/>
        </p:nvSpPr>
        <p:spPr>
          <a:xfrm flipH="1">
            <a:off x="3542968" y="1777500"/>
            <a:ext cx="41494" cy="1497409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6799" tIns="46799" rIns="46799" bIns="46799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7" name="TextBox 16"/>
          <p:cNvSpPr txBox="1"/>
          <p:nvPr/>
        </p:nvSpPr>
        <p:spPr>
          <a:xfrm>
            <a:off x="3167567" y="3932046"/>
            <a:ext cx="4035807" cy="1577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Define time structure of the beam </a:t>
            </a:r>
          </a:p>
          <a:p>
            <a:pPr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Time Of Flight (TOF) measurements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80" name="DiskChop1.pdf" descr="DiskChop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9571" y="1234240"/>
            <a:ext cx="4377473" cy="4188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" name="r&amp;d2-2.jpg" descr="r&amp;d2-2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87248" y="1543508"/>
            <a:ext cx="3826649" cy="2869988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Title 1"/>
          <p:cNvSpPr txBox="1"/>
          <p:nvPr/>
        </p:nvSpPr>
        <p:spPr>
          <a:xfrm>
            <a:off x="1519571" y="110814"/>
            <a:ext cx="8232759" cy="42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DISK CHOPPER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5" name="TextBox 4"/>
          <p:cNvSpPr txBox="1"/>
          <p:nvPr/>
        </p:nvSpPr>
        <p:spPr>
          <a:xfrm>
            <a:off x="1927209" y="657622"/>
            <a:ext cx="8892388" cy="5886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INPUT PARAMETERS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nu 		[Hz]			frequency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yheight		[m]			slit height (if 0, yheight = radius)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radius		[m]			disk radius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theta_0		[deg]			angular width of slits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xwidth		[m]			horizontal slit width opening, beam center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jitter 		[s]			jitter in time phase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delay		[s]			time delay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phase		[deg]			angular delay, overrides time	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Isfirst		[0/1]			several choppers, defines first chopper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npulse		[1]			number of pulses if isfirst=true</a:t>
            </a: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verbose		[1]			display disk chopper config</a:t>
            </a:r>
          </a:p>
        </p:txBody>
      </p:sp>
      <p:sp>
        <p:nvSpPr>
          <p:cNvPr id="386" name="Title 1"/>
          <p:cNvSpPr txBox="1"/>
          <p:nvPr/>
        </p:nvSpPr>
        <p:spPr>
          <a:xfrm>
            <a:off x="1519571" y="110814"/>
            <a:ext cx="8232759" cy="42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DISK CHOPPER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9" name="Shape 83"/>
          <p:cNvSpPr txBox="1"/>
          <p:nvPr/>
        </p:nvSpPr>
        <p:spPr>
          <a:xfrm>
            <a:off x="1796196" y="161364"/>
            <a:ext cx="7745507" cy="86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104" tIns="46104" rIns="46104" bIns="46104">
            <a:spAutoFit/>
          </a:bodyPr>
          <a:lstStyle/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DISK CHOPPER_S</a:t>
            </a:r>
          </a:p>
        </p:txBody>
      </p:sp>
      <p:pic>
        <p:nvPicPr>
          <p:cNvPr id="390" name="DiskChop2.pdf" descr="DiskChop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22660" y="2189949"/>
            <a:ext cx="7295991" cy="3849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3" name="Shape 125"/>
          <p:cNvSpPr txBox="1"/>
          <p:nvPr/>
        </p:nvSpPr>
        <p:spPr>
          <a:xfrm>
            <a:off x="1911456" y="207468"/>
            <a:ext cx="7538038" cy="514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104" tIns="46104" rIns="46104" bIns="46104">
            <a:spAutoFit/>
          </a:bodyPr>
          <a:lstStyle>
            <a:lvl1pPr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FERMI CHOPPER</a:t>
            </a:r>
          </a:p>
        </p:txBody>
      </p:sp>
      <p:pic>
        <p:nvPicPr>
          <p:cNvPr id="394" name="FermiChop.pdf" descr="FermiChop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7722" y="1267865"/>
            <a:ext cx="7388199" cy="41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6" name="Tex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