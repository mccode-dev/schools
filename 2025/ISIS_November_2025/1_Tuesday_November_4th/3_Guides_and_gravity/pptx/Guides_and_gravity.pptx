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tif"/><Relationship Id="rId4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2021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7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8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8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8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1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1 Virtual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393192">
                  <a:lnSpc>
                    <a:spcPct val="110000"/>
                  </a:lnSpc>
                  <a:spcBef>
                    <a:spcPts val="0"/>
                  </a:spcBef>
                  <a:defRPr b="1" i="1" sz="1591">
                    <a:solidFill>
                      <a:srgbClr val="FFFFFF"/>
                    </a:solidFill>
                  </a:defRPr>
                </a:pPr>
                <a:r>
                  <a:t>2021 Virtual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5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539495">
                <a:lnSpc>
                  <a:spcPct val="110000"/>
                </a:lnSpc>
                <a:spcBef>
                  <a:spcPts val="0"/>
                </a:spcBef>
                <a:defRPr b="1" i="1" sz="2183">
                  <a:solidFill>
                    <a:srgbClr val="FFFFFF"/>
                  </a:solidFill>
                </a:defRPr>
              </a:pPr>
              <a:r>
                <a:t>2025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"/>
          <p:cNvGrpSpPr/>
          <p:nvPr/>
        </p:nvGrpSpPr>
        <p:grpSpPr>
          <a:xfrm>
            <a:off x="6350" y="-1"/>
            <a:ext cx="12193200" cy="6876383"/>
            <a:chOff x="0" y="0"/>
            <a:chExt cx="12193199" cy="6876381"/>
          </a:xfrm>
        </p:grpSpPr>
        <p:grpSp>
          <p:nvGrpSpPr>
            <p:cNvPr id="301" name="Group"/>
            <p:cNvGrpSpPr/>
            <p:nvPr/>
          </p:nvGrpSpPr>
          <p:grpSpPr>
            <a:xfrm>
              <a:off x="0" y="-1"/>
              <a:ext cx="12193200" cy="6876383"/>
              <a:chOff x="0" y="0"/>
              <a:chExt cx="12193199" cy="6876381"/>
            </a:xfrm>
          </p:grpSpPr>
          <p:sp>
            <p:nvSpPr>
              <p:cNvPr id="298" name="Bottom bar"/>
              <p:cNvSpPr/>
              <p:nvPr/>
            </p:nvSpPr>
            <p:spPr>
              <a:xfrm>
                <a:off x="0" y="6559534"/>
                <a:ext cx="12193200" cy="3168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Top bar"/>
              <p:cNvSpPr/>
              <p:nvPr/>
            </p:nvSpPr>
            <p:spPr>
              <a:xfrm>
                <a:off x="0" y="0"/>
                <a:ext cx="12193200" cy="504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0" name="pasted-movie.png" descr="pasted-movie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4913605" y="6559581"/>
                <a:ext cx="6349482" cy="3168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02" name="UserProfile.Offices.Workarea_{{DocumentLanguage}}text"/>
            <p:cNvSpPr txBox="1"/>
            <p:nvPr/>
          </p:nvSpPr>
          <p:spPr>
            <a:xfrm>
              <a:off x="1348199" y="6636099"/>
              <a:ext cx="33970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spcBef>
                  <a:spcPts val="0"/>
                </a:spcBef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Peter Willendrup, DTU Physics and ESS DMSC</a:t>
              </a:r>
            </a:p>
          </p:txBody>
        </p:sp>
      </p:grpSp>
      <p:sp>
        <p:nvSpPr>
          <p:cNvPr id="304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06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580" y="251999"/>
            <a:ext cx="1142204" cy="61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52365" y="141061"/>
            <a:ext cx="749128" cy="734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4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itle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700"/>
            </a:lvl1pPr>
          </a:lstStyle>
          <a:p>
            <a:pPr/>
            <a:r>
              <a:t>Guides and gravity in McStas</a:t>
            </a:r>
          </a:p>
        </p:txBody>
      </p:sp>
      <p:sp>
        <p:nvSpPr>
          <p:cNvPr id="319" name="Subtitle 4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Peter Willendrup</a:t>
            </a:r>
          </a:p>
        </p:txBody>
      </p:sp>
      <p:sp>
        <p:nvSpPr>
          <p:cNvPr id="320" name="Slide Number Placeholder 2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1" name="Adapted from slides by Mads Bertelsen, ESS"/>
          <p:cNvSpPr txBox="1"/>
          <p:nvPr/>
        </p:nvSpPr>
        <p:spPr>
          <a:xfrm>
            <a:off x="5801255" y="6194025"/>
            <a:ext cx="406737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Adapted from slides by Mads Bertelsen, 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Overview</a:t>
            </a:r>
          </a:p>
        </p:txBody>
      </p:sp>
      <p:sp>
        <p:nvSpPr>
          <p:cNvPr id="324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/>
            <a:r>
              <a:t>Description of phase-space and propagation</a:t>
            </a:r>
          </a:p>
          <a:p>
            <a:pPr/>
            <a:r>
              <a:t>Reflectivity</a:t>
            </a:r>
          </a:p>
          <a:p>
            <a:pPr/>
            <a:r>
              <a:t>McStas coordinate system</a:t>
            </a:r>
          </a:p>
          <a:p>
            <a:pPr/>
            <a:r>
              <a:t>Gravitation in McStas</a:t>
            </a:r>
          </a:p>
          <a:p>
            <a:pPr/>
            <a:r>
              <a:t>Guide components with support for gravity </a:t>
            </a:r>
          </a:p>
          <a:p>
            <a:pPr lvl="2"/>
            <a:r>
              <a:t>Guide_gravity</a:t>
            </a:r>
          </a:p>
          <a:p>
            <a:pPr lvl="2"/>
            <a:r>
              <a:t>Elliptic_guide_gravity</a:t>
            </a:r>
          </a:p>
          <a:p>
            <a:pPr/>
            <a:r>
              <a:t>Breaking line of sight</a:t>
            </a:r>
          </a:p>
          <a:p>
            <a:pPr/>
            <a:r>
              <a:t>Example</a:t>
            </a:r>
          </a:p>
          <a:p>
            <a:pPr/>
            <a:r>
              <a:t>Exercise</a:t>
            </a:r>
          </a:p>
        </p:txBody>
      </p:sp>
      <p:sp>
        <p:nvSpPr>
          <p:cNvPr id="32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28" name="noguide_1.png" descr="noguide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2445"/>
            <a:ext cx="5066102" cy="37984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329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33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1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32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33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35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336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339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340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341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342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344" name="“Phase-space” at source"/>
          <p:cNvSpPr txBox="1"/>
          <p:nvPr/>
        </p:nvSpPr>
        <p:spPr>
          <a:xfrm>
            <a:off x="9469663" y="1368148"/>
            <a:ext cx="222637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“Phase-space” at source</a:t>
            </a:r>
          </a:p>
        </p:txBody>
      </p:sp>
      <p:sp>
        <p:nvSpPr>
          <p:cNvPr id="346" name="Connection Line"/>
          <p:cNvSpPr/>
          <p:nvPr/>
        </p:nvSpPr>
        <p:spPr>
          <a:xfrm>
            <a:off x="8910751" y="1730413"/>
            <a:ext cx="1835606" cy="1811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4140" y="20964"/>
                  <a:pt x="21340" y="13764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head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49" name="noguide_1.png" descr="noguide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2445"/>
            <a:ext cx="5066102" cy="37984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350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351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2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53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54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56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357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360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361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362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363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365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66" name="Wanted “phase-space” at sample"/>
          <p:cNvSpPr txBox="1"/>
          <p:nvPr/>
        </p:nvSpPr>
        <p:spPr>
          <a:xfrm>
            <a:off x="8972393" y="1406400"/>
            <a:ext cx="299819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3">
                    <a:lumOff val="-9372"/>
                  </a:schemeClr>
                </a:solidFill>
              </a:defRPr>
            </a:lvl1pPr>
          </a:lstStyle>
          <a:p>
            <a:pPr/>
            <a:r>
              <a:t>Wanted “phase-space” at sample</a:t>
            </a:r>
          </a:p>
        </p:txBody>
      </p:sp>
      <p:sp>
        <p:nvSpPr>
          <p:cNvPr id="368" name="Connection Line"/>
          <p:cNvSpPr/>
          <p:nvPr/>
        </p:nvSpPr>
        <p:spPr>
          <a:xfrm>
            <a:off x="8577342" y="1730413"/>
            <a:ext cx="2169015" cy="2070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2233" y="19812"/>
                  <a:pt x="19433" y="12612"/>
                  <a:pt x="21600" y="0"/>
                </a:cubicBezTo>
              </a:path>
            </a:pathLst>
          </a:custGeom>
          <a:ln w="25400">
            <a:solidFill>
              <a:schemeClr val="accent3">
                <a:lumOff val="-9372"/>
              </a:schemeClr>
            </a:solidFill>
            <a:head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71" name="noguide_5.png" descr="noguide_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2445"/>
            <a:ext cx="5066102" cy="37984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372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373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4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75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76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78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379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382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383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384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385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387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90" name="noguide_9.png" descr="noguide_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391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392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3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94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95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397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398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01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02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03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04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406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09" name="noguide_13.png" descr="noguide_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410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411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2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13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14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16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417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20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21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22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23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425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28" name="noguide_17.png" descr="noguide_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429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43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1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32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33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35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436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39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40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41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42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444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47" name="noguide_21.png" descr="noguide_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448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449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0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51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52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54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455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58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59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60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61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463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66" name="noguide_25.png" descr="noguide_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467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468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9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70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71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73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474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77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78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79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80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482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85" name="noguide_29.png" descr="noguide_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486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48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88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89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90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492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493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496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497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498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99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01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04" name="noguide_33.png" descr="noguide_3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</p:pic>
      <p:sp>
        <p:nvSpPr>
          <p:cNvPr id="505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506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7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08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09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11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512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515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16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517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18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20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23" name="noguide_37.png" descr="noguide_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1281" y="2042878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524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52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6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27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28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30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531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534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35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536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37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39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42" name="noguide_41.png" descr="noguide_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1281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543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544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45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46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47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49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550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2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553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54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555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56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7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58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61" name="noguide_45.png" descr="noguide_4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2366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562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563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64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65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66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68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569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572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73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574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75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77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80" name="noguide_49.png" descr="noguide_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38513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581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582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3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84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85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587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588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591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92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593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94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596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99" name="noguide_53.png" descr="noguide_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0053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600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601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2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03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04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06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607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610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11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612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13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615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18" name="noguide_57.png" descr="noguide_5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703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619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62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1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22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23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25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626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629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30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631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32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634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37" name="noguide_61.png" descr="noguide_6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2366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638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free space</a:t>
            </a:r>
          </a:p>
        </p:txBody>
      </p:sp>
      <p:sp>
        <p:nvSpPr>
          <p:cNvPr id="639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0" name="Shape 344"/>
          <p:cNvSpPr/>
          <p:nvPr/>
        </p:nvSpPr>
        <p:spPr>
          <a:xfrm>
            <a:off x="26973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41" name="Shape 345"/>
          <p:cNvSpPr/>
          <p:nvPr/>
        </p:nvSpPr>
        <p:spPr>
          <a:xfrm>
            <a:off x="2813405" y="2566992"/>
            <a:ext cx="2022096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BABA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42" name="Shape 346"/>
          <p:cNvSpPr/>
          <p:nvPr/>
        </p:nvSpPr>
        <p:spPr>
          <a:xfrm flipV="1">
            <a:off x="3200216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Shape 347"/>
          <p:cNvSpPr/>
          <p:nvPr/>
        </p:nvSpPr>
        <p:spPr>
          <a:xfrm>
            <a:off x="2697395" y="1933856"/>
            <a:ext cx="2254118" cy="491712"/>
          </a:xfrm>
          <a:prstGeom prst="rect">
            <a:avLst/>
          </a:prstGeom>
          <a:solidFill>
            <a:srgbClr val="BABABA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44" name="Shape 348"/>
          <p:cNvSpPr/>
          <p:nvPr/>
        </p:nvSpPr>
        <p:spPr>
          <a:xfrm>
            <a:off x="3192511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645" name="Shape 349"/>
          <p:cNvSpPr/>
          <p:nvPr/>
        </p:nvSpPr>
        <p:spPr>
          <a:xfrm flipV="1">
            <a:off x="3194830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" name="Shape 350"/>
          <p:cNvSpPr/>
          <p:nvPr/>
        </p:nvSpPr>
        <p:spPr>
          <a:xfrm>
            <a:off x="2882538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" name="Shape 351"/>
          <p:cNvSpPr txBox="1"/>
          <p:nvPr/>
        </p:nvSpPr>
        <p:spPr>
          <a:xfrm>
            <a:off x="30751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648" name="Shape 352"/>
          <p:cNvSpPr txBox="1"/>
          <p:nvPr/>
        </p:nvSpPr>
        <p:spPr>
          <a:xfrm>
            <a:off x="4515792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49" name="Shape 353"/>
          <p:cNvSpPr txBox="1"/>
          <p:nvPr/>
        </p:nvSpPr>
        <p:spPr>
          <a:xfrm>
            <a:off x="3210476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650" name="Shape 354"/>
          <p:cNvSpPr txBox="1"/>
          <p:nvPr/>
        </p:nvSpPr>
        <p:spPr>
          <a:xfrm>
            <a:off x="3944451" y="3882019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51" name="Shape 355"/>
          <p:cNvSpPr/>
          <p:nvPr/>
        </p:nvSpPr>
        <p:spPr>
          <a:xfrm flipV="1">
            <a:off x="3990004" y="3787052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" name="Shape 356"/>
          <p:cNvSpPr txBox="1"/>
          <p:nvPr/>
        </p:nvSpPr>
        <p:spPr>
          <a:xfrm>
            <a:off x="2693000" y="1933856"/>
            <a:ext cx="2262907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653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54" name="Triangle"/>
          <p:cNvSpPr/>
          <p:nvPr/>
        </p:nvSpPr>
        <p:spPr>
          <a:xfrm rot="5400337">
            <a:off x="7972448" y="2927030"/>
            <a:ext cx="746118" cy="537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DDDDDD">
              <a:alpha val="64861"/>
            </a:srgbClr>
          </a:solidFill>
          <a:ln w="25400">
            <a:solidFill>
              <a:schemeClr val="accent1">
                <a:alpha val="64861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55" name="Triangle"/>
          <p:cNvSpPr/>
          <p:nvPr/>
        </p:nvSpPr>
        <p:spPr>
          <a:xfrm rot="16201210">
            <a:off x="8000484" y="4182211"/>
            <a:ext cx="746015" cy="537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DDDDDD">
              <a:alpha val="64861"/>
            </a:srgbClr>
          </a:solidFill>
          <a:ln w="25400">
            <a:solidFill>
              <a:schemeClr val="accent1">
                <a:alpha val="64861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56" name="Text"/>
          <p:cNvSpPr txBox="1"/>
          <p:nvPr/>
        </p:nvSpPr>
        <p:spPr>
          <a:xfrm>
            <a:off x="5896967" y="3320189"/>
            <a:ext cx="385366" cy="22195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/>
          </a:p>
        </p:txBody>
      </p:sp>
      <p:sp>
        <p:nvSpPr>
          <p:cNvPr id="657" name="- We lost some phase-space to propagation"/>
          <p:cNvSpPr txBox="1"/>
          <p:nvPr/>
        </p:nvSpPr>
        <p:spPr>
          <a:xfrm>
            <a:off x="7638183" y="1541696"/>
            <a:ext cx="399613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- We lost some phase-space to propagation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60" name="withguide_1.png" descr="withguide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9045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661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662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3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64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65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68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669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672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73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674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75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677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79" name="Wanted “phase-space” at sample"/>
          <p:cNvSpPr txBox="1"/>
          <p:nvPr/>
        </p:nvSpPr>
        <p:spPr>
          <a:xfrm>
            <a:off x="8666381" y="1452526"/>
            <a:ext cx="299819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3">
                    <a:lumOff val="-9372"/>
                  </a:schemeClr>
                </a:solidFill>
              </a:defRPr>
            </a:lvl1pPr>
          </a:lstStyle>
          <a:p>
            <a:pPr/>
            <a:r>
              <a:t>Wanted “phase-space” at sample</a:t>
            </a:r>
          </a:p>
        </p:txBody>
      </p:sp>
      <p:sp>
        <p:nvSpPr>
          <p:cNvPr id="681" name="Connection Line"/>
          <p:cNvSpPr/>
          <p:nvPr/>
        </p:nvSpPr>
        <p:spPr>
          <a:xfrm>
            <a:off x="8589476" y="1730413"/>
            <a:ext cx="2378740" cy="2094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2314" y="20363"/>
                  <a:pt x="19514" y="13163"/>
                  <a:pt x="21600" y="0"/>
                </a:cubicBezTo>
              </a:path>
            </a:pathLst>
          </a:custGeom>
          <a:ln w="25400">
            <a:solidFill>
              <a:schemeClr val="accent3">
                <a:lumOff val="-9372"/>
              </a:schemeClr>
            </a:solidFill>
            <a:head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84" name="withguide_5.png" descr="withguide_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9045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685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686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7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88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89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692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693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696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97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698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99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701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05" name="withguide_9.png" descr="withguide_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0738" y="2045209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706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70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08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09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10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13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714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717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718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719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720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722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26" name="withguide_13.png" descr="withguide_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2366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727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728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9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30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31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34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735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738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739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740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741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743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47" name="withguide_17.png" descr="withguide_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9806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748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749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0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51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52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55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756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759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760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761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762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764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68" name="withguide_21.png" descr="withguide_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2366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769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77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71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72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73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76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777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780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781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782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783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785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89" name="withguide_25.png" descr="withguide_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37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790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791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92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93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94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797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798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801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02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803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804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806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810" name="withguide_29.png" descr="withguide_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811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812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13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14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15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18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819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822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23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824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825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827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831" name="withguide_33.png" descr="withguide_3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51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832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833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4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35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36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39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840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843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44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845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846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848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852" name="withguide_37.png" descr="withguide_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0709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853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854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55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56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57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60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861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864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65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866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867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869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873" name="withguide_41.png" descr="withguide_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9806" y="2041937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874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87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76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77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78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81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882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885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86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887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888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890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894" name="withguide_45.png" descr="withguide_4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404" y="2044926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895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896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97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98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899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02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903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906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07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908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909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911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915" name="withguide_49.png" descr="withguide_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404" y="2041937"/>
            <a:ext cx="5067301" cy="3799390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916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91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18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19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20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23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924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927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28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929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930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932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936" name="withguide_53.png" descr="withguide_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4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937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938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39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40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41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44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945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948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49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950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951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953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957" name="withguide_61.png" descr="withguide_6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4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958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959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60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61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62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65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966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969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70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971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972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974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Shape 344"/>
          <p:cNvSpPr/>
          <p:nvPr/>
        </p:nvSpPr>
        <p:spPr>
          <a:xfrm>
            <a:off x="5618395" y="1938253"/>
            <a:ext cx="5300719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978" name="withguide_61.png" descr="withguide_6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404" y="2041995"/>
            <a:ext cx="5067301" cy="379939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  <a:miter lim="400000"/>
          </a:ln>
        </p:spPr>
      </p:pic>
      <p:sp>
        <p:nvSpPr>
          <p:cNvPr id="979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Beam propagation in guide</a:t>
            </a:r>
          </a:p>
        </p:txBody>
      </p:sp>
      <p:sp>
        <p:nvSpPr>
          <p:cNvPr id="98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81" name="Shape 391"/>
          <p:cNvSpPr/>
          <p:nvPr/>
        </p:nvSpPr>
        <p:spPr>
          <a:xfrm>
            <a:off x="2695495" y="1938253"/>
            <a:ext cx="2254118" cy="4006876"/>
          </a:xfrm>
          <a:prstGeom prst="rect">
            <a:avLst/>
          </a:prstGeom>
          <a:solidFill>
            <a:srgbClr val="CBCBCB">
              <a:alpha val="87000"/>
            </a:srgbClr>
          </a:solidFill>
          <a:ln w="635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82" name="Shape 392"/>
          <p:cNvSpPr/>
          <p:nvPr/>
        </p:nvSpPr>
        <p:spPr>
          <a:xfrm>
            <a:off x="2811505" y="2566992"/>
            <a:ext cx="2022097" cy="3249515"/>
          </a:xfrm>
          <a:prstGeom prst="rect">
            <a:avLst/>
          </a:prstGeom>
          <a:solidFill>
            <a:srgbClr val="FFFFFF"/>
          </a:solidFill>
          <a:ln w="12700">
            <a:solidFill>
              <a:srgbClr val="989898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83" name="Shape 393"/>
          <p:cNvSpPr/>
          <p:nvPr/>
        </p:nvSpPr>
        <p:spPr>
          <a:xfrm flipV="1">
            <a:off x="3198317" y="3934600"/>
            <a:ext cx="724165" cy="1477872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" name="Shape 394"/>
          <p:cNvSpPr/>
          <p:nvPr/>
        </p:nvSpPr>
        <p:spPr>
          <a:xfrm flipH="1" flipV="1">
            <a:off x="3658921" y="3315770"/>
            <a:ext cx="265225" cy="647727"/>
          </a:xfrm>
          <a:prstGeom prst="line">
            <a:avLst/>
          </a:prstGeom>
          <a:ln w="38100">
            <a:solidFill>
              <a:srgbClr val="E13829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" name="Shape 395"/>
          <p:cNvSpPr/>
          <p:nvPr/>
        </p:nvSpPr>
        <p:spPr>
          <a:xfrm>
            <a:off x="2695495" y="1933856"/>
            <a:ext cx="2254118" cy="491712"/>
          </a:xfrm>
          <a:prstGeom prst="rect">
            <a:avLst/>
          </a:prstGeom>
          <a:solidFill>
            <a:srgbClr val="989898">
              <a:alpha val="31000"/>
            </a:srgbClr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  <p:sp>
        <p:nvSpPr>
          <p:cNvPr id="986" name="Shape 397"/>
          <p:cNvSpPr/>
          <p:nvPr/>
        </p:nvSpPr>
        <p:spPr>
          <a:xfrm>
            <a:off x="3190613" y="4776620"/>
            <a:ext cx="266519" cy="69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72" fill="norm" stroke="1" extrusionOk="0">
                <a:moveTo>
                  <a:pt x="0" y="1244"/>
                </a:moveTo>
                <a:cubicBezTo>
                  <a:pt x="4341" y="-1128"/>
                  <a:pt x="8857" y="-91"/>
                  <a:pt x="12967" y="4221"/>
                </a:cubicBezTo>
                <a:cubicBezTo>
                  <a:pt x="16317" y="7735"/>
                  <a:pt x="19281" y="13315"/>
                  <a:pt x="21600" y="20472"/>
                </a:cubicBezTo>
              </a:path>
            </a:pathLst>
          </a:custGeom>
          <a:ln w="25400">
            <a:solidFill>
              <a:srgbClr val="5A5F5E"/>
            </a:solidFill>
            <a:miter lim="400000"/>
          </a:ln>
        </p:spPr>
        <p:txBody>
          <a:bodyPr lIns="46799" tIns="46799" rIns="46799" bIns="46799" anchor="ctr"/>
          <a:lstStyle/>
          <a:p>
            <a:pPr>
              <a:defRPr sz="17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</a:p>
        </p:txBody>
      </p:sp>
      <p:sp>
        <p:nvSpPr>
          <p:cNvPr id="987" name="Shape 398"/>
          <p:cNvSpPr/>
          <p:nvPr/>
        </p:nvSpPr>
        <p:spPr>
          <a:xfrm flipV="1">
            <a:off x="3192931" y="3276800"/>
            <a:ext cx="2" cy="2371393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" name="Shape 399"/>
          <p:cNvSpPr/>
          <p:nvPr/>
        </p:nvSpPr>
        <p:spPr>
          <a:xfrm>
            <a:off x="2880639" y="5419083"/>
            <a:ext cx="1494482" cy="2"/>
          </a:xfrm>
          <a:prstGeom prst="line">
            <a:avLst/>
          </a:prstGeom>
          <a:ln w="381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" name="Shape 400"/>
          <p:cNvSpPr txBox="1"/>
          <p:nvPr/>
        </p:nvSpPr>
        <p:spPr>
          <a:xfrm>
            <a:off x="3073276" y="292833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z</a:t>
            </a:r>
          </a:p>
        </p:txBody>
      </p:sp>
      <p:sp>
        <p:nvSpPr>
          <p:cNvPr id="990" name="Shape 401"/>
          <p:cNvSpPr txBox="1"/>
          <p:nvPr/>
        </p:nvSpPr>
        <p:spPr>
          <a:xfrm>
            <a:off x="4513893" y="5360802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91" name="Shape 402"/>
          <p:cNvSpPr txBox="1"/>
          <p:nvPr/>
        </p:nvSpPr>
        <p:spPr>
          <a:xfrm>
            <a:off x="3208577" y="4323999"/>
            <a:ext cx="436031" cy="58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/>
          <a:p>
            <a: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pPr>
            <a:r>
              <a:t>𝜂</a:t>
            </a:r>
            <a:r>
              <a:rPr baseline="-5998"/>
              <a:t>x</a:t>
            </a:r>
          </a:p>
        </p:txBody>
      </p:sp>
      <p:sp>
        <p:nvSpPr>
          <p:cNvPr id="992" name="Shape 403"/>
          <p:cNvSpPr txBox="1"/>
          <p:nvPr/>
        </p:nvSpPr>
        <p:spPr>
          <a:xfrm>
            <a:off x="3623866" y="3120631"/>
            <a:ext cx="292559" cy="5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154" tIns="35154" rIns="35154" bIns="35154">
            <a:spAutoFit/>
          </a:bodyPr>
          <a:lstStyle>
            <a:lvl1pPr>
              <a:defRPr sz="3300">
                <a:solidFill>
                  <a:srgbClr val="535353"/>
                </a:solidFill>
                <a:latin typeface="CMU Serif"/>
                <a:ea typeface="CMU Serif"/>
                <a:cs typeface="CMU Serif"/>
                <a:sym typeface="CMU Serif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993" name="Shape 404"/>
          <p:cNvSpPr/>
          <p:nvPr/>
        </p:nvSpPr>
        <p:spPr>
          <a:xfrm flipV="1">
            <a:off x="3669419" y="3025664"/>
            <a:ext cx="177256" cy="2"/>
          </a:xfrm>
          <a:prstGeom prst="line">
            <a:avLst/>
          </a:prstGeom>
          <a:ln w="25400">
            <a:solidFill>
              <a:srgbClr val="5A5F5E"/>
            </a:solidFill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" name="Shape 406"/>
          <p:cNvSpPr txBox="1"/>
          <p:nvPr/>
        </p:nvSpPr>
        <p:spPr>
          <a:xfrm>
            <a:off x="2691102" y="1933856"/>
            <a:ext cx="2262906" cy="469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154" tIns="35154" rIns="35154" bIns="35154">
            <a:normAutofit fontScale="100000" lnSpcReduction="0"/>
          </a:bodyPr>
          <a:lstStyle>
            <a:lvl1pPr>
              <a:lnSpc>
                <a:spcPct val="90000"/>
              </a:lnSpc>
              <a:defRPr sz="2600"/>
            </a:lvl1pPr>
          </a:lstStyle>
          <a:p>
            <a:pPr/>
            <a:r>
              <a:t>Divergence</a:t>
            </a:r>
          </a:p>
        </p:txBody>
      </p:sp>
      <p:sp>
        <p:nvSpPr>
          <p:cNvPr id="995" name="Shape 408"/>
          <p:cNvSpPr/>
          <p:nvPr/>
        </p:nvSpPr>
        <p:spPr>
          <a:xfrm flipV="1">
            <a:off x="3923827" y="3250902"/>
            <a:ext cx="2" cy="2150005"/>
          </a:xfrm>
          <a:prstGeom prst="line">
            <a:avLst/>
          </a:prstGeom>
          <a:ln w="50800">
            <a:solidFill>
              <a:srgbClr val="ABABAB"/>
            </a:solidFill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" name="Triangle"/>
          <p:cNvSpPr/>
          <p:nvPr/>
        </p:nvSpPr>
        <p:spPr>
          <a:xfrm rot="5400337">
            <a:off x="7608182" y="2927492"/>
            <a:ext cx="1123541" cy="812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DDDDDD">
              <a:alpha val="64861"/>
            </a:srgbClr>
          </a:solidFill>
          <a:ln w="25400">
            <a:solidFill>
              <a:schemeClr val="accent1">
                <a:alpha val="64861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997" name="Rectangle"/>
          <p:cNvSpPr/>
          <p:nvPr/>
        </p:nvSpPr>
        <p:spPr>
          <a:xfrm>
            <a:off x="8170511" y="2891152"/>
            <a:ext cx="394212" cy="1868001"/>
          </a:xfrm>
          <a:prstGeom prst="rect">
            <a:avLst/>
          </a:prstGeom>
          <a:ln w="25400">
            <a:solidFill>
              <a:schemeClr val="accent3">
                <a:lumOff val="-9372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998" name="Triangle"/>
          <p:cNvSpPr/>
          <p:nvPr/>
        </p:nvSpPr>
        <p:spPr>
          <a:xfrm rot="16201210">
            <a:off x="7949391" y="3919393"/>
            <a:ext cx="1123541" cy="812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DDDDDD">
              <a:alpha val="64861"/>
            </a:srgbClr>
          </a:solidFill>
          <a:ln w="25400">
            <a:solidFill>
              <a:schemeClr val="accent1">
                <a:alpha val="64861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999" name="We got some phase-space back from guide reflection!"/>
          <p:cNvSpPr txBox="1"/>
          <p:nvPr/>
        </p:nvSpPr>
        <p:spPr>
          <a:xfrm>
            <a:off x="6995556" y="1539674"/>
            <a:ext cx="486568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We got some phase-space back from guide reflection!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Reflectivity curves</a:t>
            </a:r>
          </a:p>
        </p:txBody>
      </p:sp>
      <p:sp>
        <p:nvSpPr>
          <p:cNvPr id="1002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/>
            <a:r>
              <a:t>Reflectivity, super mirror, reflectivity curve</a:t>
            </a:r>
          </a:p>
        </p:txBody>
      </p:sp>
      <p:sp>
        <p:nvSpPr>
          <p:cNvPr id="1003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20" name="Group 513"/>
          <p:cNvGrpSpPr/>
          <p:nvPr/>
        </p:nvGrpSpPr>
        <p:grpSpPr>
          <a:xfrm>
            <a:off x="2208351" y="2868797"/>
            <a:ext cx="4076954" cy="2751777"/>
            <a:chOff x="0" y="0"/>
            <a:chExt cx="4076953" cy="2751776"/>
          </a:xfrm>
        </p:grpSpPr>
        <p:sp>
          <p:nvSpPr>
            <p:cNvPr id="1004" name="Shape 497"/>
            <p:cNvSpPr/>
            <p:nvPr/>
          </p:nvSpPr>
          <p:spPr>
            <a:xfrm>
              <a:off x="889352" y="881206"/>
              <a:ext cx="1433479" cy="1546137"/>
            </a:xfrm>
            <a:prstGeom prst="ellips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267272">
                <a:defRPr sz="1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005" name="Shape 498"/>
            <p:cNvSpPr/>
            <p:nvPr/>
          </p:nvSpPr>
          <p:spPr>
            <a:xfrm rot="16200000">
              <a:off x="2613350" y="1256075"/>
              <a:ext cx="1065404" cy="186180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267272">
                <a:defRPr sz="1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006" name="Shape 499"/>
            <p:cNvSpPr/>
            <p:nvPr/>
          </p:nvSpPr>
          <p:spPr>
            <a:xfrm>
              <a:off x="1169120" y="1193004"/>
              <a:ext cx="855321" cy="922541"/>
            </a:xfrm>
            <a:prstGeom prst="ellips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267272">
                <a:defRPr sz="1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007" name="Shape 500"/>
            <p:cNvSpPr/>
            <p:nvPr/>
          </p:nvSpPr>
          <p:spPr>
            <a:xfrm rot="17526645">
              <a:off x="1095166" y="1104741"/>
              <a:ext cx="789555" cy="18618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267272">
                <a:defRPr sz="1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008" name="Shape 501"/>
            <p:cNvSpPr/>
            <p:nvPr/>
          </p:nvSpPr>
          <p:spPr>
            <a:xfrm rot="20264815">
              <a:off x="618041" y="232553"/>
              <a:ext cx="1516225" cy="14646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267272">
                <a:defRPr sz="1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009" name="Shape 502"/>
            <p:cNvSpPr/>
            <p:nvPr/>
          </p:nvSpPr>
          <p:spPr>
            <a:xfrm>
              <a:off x="143992" y="1081751"/>
              <a:ext cx="1462100" cy="572279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0" name="Shape 503"/>
            <p:cNvSpPr/>
            <p:nvPr/>
          </p:nvSpPr>
          <p:spPr>
            <a:xfrm flipV="1">
              <a:off x="1609528" y="1080751"/>
              <a:ext cx="1462100" cy="572279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" name="Shape 504"/>
            <p:cNvSpPr txBox="1"/>
            <p:nvPr/>
          </p:nvSpPr>
          <p:spPr>
            <a:xfrm>
              <a:off x="2422116" y="1483853"/>
              <a:ext cx="310720" cy="3004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3241" tIns="23241" rIns="23241" bIns="23241" numCol="1" anchor="t">
              <a:spAutoFit/>
            </a:bodyPr>
            <a:lstStyle>
              <a:lvl1pPr defTabSz="584200">
                <a:defRPr sz="2000"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pPr/>
              <a:r>
                <a:t>𝛳</a:t>
              </a:r>
            </a:p>
          </p:txBody>
        </p:sp>
        <p:sp>
          <p:nvSpPr>
            <p:cNvPr id="1012" name="Shape 505"/>
            <p:cNvSpPr txBox="1"/>
            <p:nvPr/>
          </p:nvSpPr>
          <p:spPr>
            <a:xfrm>
              <a:off x="561676" y="1092771"/>
              <a:ext cx="310719" cy="351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3241" tIns="23241" rIns="23241" bIns="23241" numCol="1" anchor="t">
              <a:spAutoFit/>
            </a:bodyPr>
            <a:lstStyle/>
            <a:p>
              <a:pPr defTabSz="267272">
                <a:defRPr b="1" sz="2000">
                  <a:latin typeface="+mj-lt"/>
                  <a:ea typeface="+mj-ea"/>
                  <a:cs typeface="+mj-cs"/>
                  <a:sym typeface="Helvetica"/>
                </a:defRPr>
              </a:pPr>
              <a:r>
                <a:t>k</a:t>
              </a:r>
              <a:r>
                <a:rPr b="0" baseline="-5998">
                  <a:latin typeface="Helvetica Light"/>
                  <a:ea typeface="Helvetica Light"/>
                  <a:cs typeface="Helvetica Light"/>
                  <a:sym typeface="Helvetica Light"/>
                </a:rPr>
                <a:t>i</a:t>
              </a:r>
            </a:p>
          </p:txBody>
        </p:sp>
        <p:sp>
          <p:nvSpPr>
            <p:cNvPr id="1013" name="Shape 506"/>
            <p:cNvSpPr txBox="1"/>
            <p:nvPr/>
          </p:nvSpPr>
          <p:spPr>
            <a:xfrm>
              <a:off x="2419111" y="1092771"/>
              <a:ext cx="310719" cy="3512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3241" tIns="23241" rIns="23241" bIns="23241" numCol="1" anchor="t">
              <a:spAutoFit/>
            </a:bodyPr>
            <a:lstStyle/>
            <a:p>
              <a:pPr defTabSz="267272">
                <a:defRPr b="1" sz="2000">
                  <a:latin typeface="+mj-lt"/>
                  <a:ea typeface="+mj-ea"/>
                  <a:cs typeface="+mj-cs"/>
                  <a:sym typeface="Helvetica"/>
                </a:defRPr>
              </a:pPr>
              <a:r>
                <a:t>k</a:t>
              </a:r>
              <a:r>
                <a:rPr b="0" baseline="-5998">
                  <a:latin typeface="Helvetica Light"/>
                  <a:ea typeface="Helvetica Light"/>
                  <a:cs typeface="Helvetica Light"/>
                  <a:sym typeface="Helvetica Light"/>
                </a:rPr>
                <a:t>f</a:t>
              </a:r>
            </a:p>
          </p:txBody>
        </p:sp>
        <p:sp>
          <p:nvSpPr>
            <p:cNvPr id="1014" name="Shape 507"/>
            <p:cNvSpPr/>
            <p:nvPr/>
          </p:nvSpPr>
          <p:spPr>
            <a:xfrm flipV="1">
              <a:off x="1604323" y="496304"/>
              <a:ext cx="1" cy="1153334"/>
            </a:xfrm>
            <a:prstGeom prst="line">
              <a:avLst/>
            </a:prstGeom>
            <a:noFill/>
            <a:ln w="63500" cap="flat">
              <a:solidFill>
                <a:srgbClr val="45743B"/>
              </a:solidFill>
              <a:prstDash val="solid"/>
              <a:miter lim="400000"/>
              <a:head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5" name="Shape 508"/>
            <p:cNvSpPr txBox="1"/>
            <p:nvPr/>
          </p:nvSpPr>
          <p:spPr>
            <a:xfrm>
              <a:off x="1606091" y="1184288"/>
              <a:ext cx="251234" cy="414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3241" tIns="23241" rIns="23241" bIns="23241" numCol="1" anchor="t">
              <a:spAutoFit/>
            </a:bodyPr>
            <a:lstStyle>
              <a:lvl1pPr defTabSz="584200">
                <a:defRPr sz="2400"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pPr/>
              <a:r>
                <a:t>q</a:t>
              </a:r>
            </a:p>
          </p:txBody>
        </p:sp>
        <p:sp>
          <p:nvSpPr>
            <p:cNvPr id="1016" name="Shape 509"/>
            <p:cNvSpPr/>
            <p:nvPr/>
          </p:nvSpPr>
          <p:spPr>
            <a:xfrm>
              <a:off x="0" y="1649589"/>
              <a:ext cx="3189119" cy="345047"/>
            </a:xfrm>
            <a:prstGeom prst="rect">
              <a:avLst/>
            </a:prstGeom>
            <a:solidFill>
              <a:srgbClr val="B62927">
                <a:alpha val="8278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7" name="Shape 510"/>
            <p:cNvSpPr/>
            <p:nvPr/>
          </p:nvSpPr>
          <p:spPr>
            <a:xfrm>
              <a:off x="1591656" y="1648200"/>
              <a:ext cx="1462101" cy="57227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8" name="Shape 511"/>
            <p:cNvSpPr txBox="1"/>
            <p:nvPr/>
          </p:nvSpPr>
          <p:spPr>
            <a:xfrm>
              <a:off x="2334954" y="1830934"/>
              <a:ext cx="531452" cy="353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3241" tIns="23241" rIns="23241" bIns="23241" numCol="1" anchor="t">
              <a:spAutoFit/>
            </a:bodyPr>
            <a:lstStyle>
              <a:lvl1pPr defTabSz="584200">
                <a:defRPr sz="2000"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pPr/>
              <a:r>
                <a:t>2𝛳</a:t>
              </a:r>
            </a:p>
          </p:txBody>
        </p:sp>
        <p:sp>
          <p:nvSpPr>
            <p:cNvPr id="1019" name="Shape 512"/>
            <p:cNvSpPr/>
            <p:nvPr/>
          </p:nvSpPr>
          <p:spPr>
            <a:xfrm>
              <a:off x="4443" y="1654274"/>
              <a:ext cx="318467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021" name="Picture 39" descr="Picture 3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03472" y="2624772"/>
            <a:ext cx="5692156" cy="2708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2" name="Picture 40" descr="Picture 4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16528" y="1648415"/>
            <a:ext cx="1739473" cy="7214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Reflectivity curves in McStas</a:t>
            </a:r>
          </a:p>
        </p:txBody>
      </p:sp>
      <p:sp>
        <p:nvSpPr>
          <p:cNvPr id="102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2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4725" y="1529950"/>
            <a:ext cx="7767688" cy="7670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62433" y="2951044"/>
            <a:ext cx="4079975" cy="3518511"/>
          </a:xfrm>
          <a:prstGeom prst="rect">
            <a:avLst/>
          </a:prstGeom>
          <a:ln w="12700">
            <a:miter lim="400000"/>
          </a:ln>
        </p:spPr>
      </p:pic>
      <p:sp>
        <p:nvSpPr>
          <p:cNvPr id="1028" name="TextBox 8"/>
          <p:cNvSpPr txBox="1"/>
          <p:nvPr/>
        </p:nvSpPr>
        <p:spPr>
          <a:xfrm>
            <a:off x="10360059" y="3176833"/>
            <a:ext cx="1471357" cy="140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𝛼</m:t>
                </m:r>
              </m:oMath>
            </a14:m>
            <a:r>
              <a:rPr>
                <a:latin typeface="+mn-lt"/>
                <a:ea typeface="+mn-ea"/>
                <a:cs typeface="+mn-cs"/>
                <a:sym typeface="Arial"/>
              </a:rPr>
              <a:t>= 0</a:t>
            </a:r>
            <a:br>
              <a:rPr>
                <a:latin typeface="+mn-lt"/>
                <a:ea typeface="+mn-ea"/>
                <a:cs typeface="+mn-cs"/>
                <a:sym typeface="Arial"/>
              </a:rPr>
            </a:br>
            <a:r>
              <a:rPr i="1">
                <a:latin typeface="+mn-lt"/>
                <a:ea typeface="+mn-ea"/>
                <a:cs typeface="+mn-cs"/>
                <a:sym typeface="Arial"/>
              </a:rPr>
              <a:t>W</a:t>
            </a:r>
            <a:r>
              <a:rPr>
                <a:latin typeface="+mn-lt"/>
                <a:ea typeface="+mn-ea"/>
                <a:cs typeface="+mn-cs"/>
                <a:sym typeface="Arial"/>
              </a:rPr>
              <a:t> = 0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/>
            <a:r>
              <a:t>Only </a:t>
            </a:r>
            <a:r>
              <a:rPr i="1"/>
              <a:t>m</a:t>
            </a:r>
            <a:r>
              <a:t> matters</a:t>
            </a:r>
          </a:p>
          <a:p>
            <a:pPr/>
            <a:r>
              <a:t>Better mirrors available today</a:t>
            </a:r>
          </a:p>
        </p:txBody>
      </p:sp>
      <p:pic>
        <p:nvPicPr>
          <p:cNvPr id="1029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2174" y="3015264"/>
            <a:ext cx="3922414" cy="3463708"/>
          </a:xfrm>
          <a:prstGeom prst="rect">
            <a:avLst/>
          </a:prstGeom>
          <a:ln w="12700">
            <a:miter lim="400000"/>
          </a:ln>
        </p:spPr>
      </p:pic>
      <p:sp>
        <p:nvSpPr>
          <p:cNvPr id="1030" name="TextBox 11"/>
          <p:cNvSpPr txBox="1"/>
          <p:nvPr/>
        </p:nvSpPr>
        <p:spPr>
          <a:xfrm>
            <a:off x="2931735" y="3240666"/>
            <a:ext cx="1319754" cy="275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Slope:</a:t>
            </a:r>
            <a14:m>
              <m:oMath>
                <m:r>
                  <a:rPr xmlns:a="http://schemas.openxmlformats.org/drawingml/2006/main" sz="1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1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𝛼</m:t>
                </m:r>
              </m:oMath>
            </a14:m>
          </a:p>
        </p:txBody>
      </p:sp>
      <p:sp>
        <p:nvSpPr>
          <p:cNvPr id="1031" name="TextBox 15"/>
          <p:cNvSpPr txBox="1"/>
          <p:nvPr/>
        </p:nvSpPr>
        <p:spPr>
          <a:xfrm>
            <a:off x="4310248" y="4588173"/>
            <a:ext cx="1319754" cy="538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Cutoff: </a:t>
            </a:r>
            <a14:m>
              <m:oMath>
                <m:f>
                  <m:fPr>
                    <m:ctrl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</m:t>
                    </m:r>
                  </m:num>
                  <m:den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den>
                </m:f>
              </m:oMath>
            </a14:m>
          </a:p>
        </p:txBody>
      </p:sp>
      <p:sp>
        <p:nvSpPr>
          <p:cNvPr id="1032" name="TextBox 3"/>
          <p:cNvSpPr txBox="1"/>
          <p:nvPr/>
        </p:nvSpPr>
        <p:spPr>
          <a:xfrm>
            <a:off x="2422687" y="2591059"/>
            <a:ext cx="2875178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McStas standard model</a:t>
            </a:r>
          </a:p>
        </p:txBody>
      </p:sp>
      <p:sp>
        <p:nvSpPr>
          <p:cNvPr id="1033" name="TextBox 13"/>
          <p:cNvSpPr txBox="1"/>
          <p:nvPr/>
        </p:nvSpPr>
        <p:spPr>
          <a:xfrm>
            <a:off x="7099954" y="2589407"/>
            <a:ext cx="2875177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McStas fitted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28" grpId="2"/>
      <p:bldP build="whole" bldLvl="1" animBg="1" rev="0" advAuto="0" spid="1033" grpId="3"/>
      <p:bldP build="whole" bldLvl="1" animBg="1" rev="0" advAuto="0" spid="1027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Guide placement in McStas</a:t>
            </a:r>
          </a:p>
        </p:txBody>
      </p:sp>
      <p:sp>
        <p:nvSpPr>
          <p:cNvPr id="1036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/>
            <a:r>
              <a:t>The center is the front of the guide element</a:t>
            </a:r>
          </a:p>
          <a:p>
            <a:pPr/>
            <a:r>
              <a:t>Tip: Insert a guide at the end of the guide</a:t>
            </a:r>
          </a:p>
        </p:txBody>
      </p:sp>
      <p:sp>
        <p:nvSpPr>
          <p:cNvPr id="103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3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4725" y="3053023"/>
            <a:ext cx="8850836" cy="2047582"/>
          </a:xfrm>
          <a:prstGeom prst="rect">
            <a:avLst/>
          </a:prstGeom>
          <a:ln w="12700">
            <a:miter lim="400000"/>
          </a:ln>
        </p:spPr>
      </p:pic>
      <p:sp>
        <p:nvSpPr>
          <p:cNvPr id="1039" name="Straight Connector 4"/>
          <p:cNvSpPr/>
          <p:nvPr/>
        </p:nvSpPr>
        <p:spPr>
          <a:xfrm flipV="1">
            <a:off x="10433050" y="4003790"/>
            <a:ext cx="173461" cy="174511"/>
          </a:xfrm>
          <a:prstGeom prst="line">
            <a:avLst/>
          </a:prstGeom>
          <a:ln w="22225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" name="Straight Connector 12"/>
          <p:cNvSpPr/>
          <p:nvPr/>
        </p:nvSpPr>
        <p:spPr>
          <a:xfrm flipV="1">
            <a:off x="10429874" y="4457815"/>
            <a:ext cx="179811" cy="184036"/>
          </a:xfrm>
          <a:prstGeom prst="line">
            <a:avLst/>
          </a:prstGeom>
          <a:ln w="22225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041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22083" y="3039772"/>
            <a:ext cx="1191621" cy="1588826"/>
          </a:xfrm>
          <a:prstGeom prst="rect">
            <a:avLst/>
          </a:prstGeom>
          <a:ln w="12700">
            <a:miter lim="400000"/>
          </a:ln>
        </p:spPr>
      </p:pic>
      <p:sp>
        <p:nvSpPr>
          <p:cNvPr id="1042" name="TextBox 11"/>
          <p:cNvSpPr txBox="1"/>
          <p:nvPr/>
        </p:nvSpPr>
        <p:spPr>
          <a:xfrm>
            <a:off x="1774725" y="5113856"/>
            <a:ext cx="2168165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COMPONENT Source</a:t>
            </a:r>
            <a:br/>
            <a:r>
              <a:t>AT (0,0,0) ABSOLUTE</a:t>
            </a:r>
          </a:p>
        </p:txBody>
      </p:sp>
      <p:sp>
        <p:nvSpPr>
          <p:cNvPr id="1043" name="TextBox 16"/>
          <p:cNvSpPr txBox="1"/>
          <p:nvPr/>
        </p:nvSpPr>
        <p:spPr>
          <a:xfrm>
            <a:off x="4566630" y="5113856"/>
            <a:ext cx="3059656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COMPONENT Guide(length=A)</a:t>
            </a:r>
            <a:br/>
            <a:r>
              <a:t>AT (0,0,2) RELATIVE Source</a:t>
            </a:r>
          </a:p>
        </p:txBody>
      </p:sp>
      <p:sp>
        <p:nvSpPr>
          <p:cNvPr id="1044" name="TextBox 17"/>
          <p:cNvSpPr txBox="1"/>
          <p:nvPr/>
        </p:nvSpPr>
        <p:spPr>
          <a:xfrm>
            <a:off x="9530115" y="5118386"/>
            <a:ext cx="3540650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COMPONENT Arm</a:t>
            </a:r>
            <a:br/>
            <a:r>
              <a:t>AT (0,0,A) RELATIVE Guide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1" grpId="1"/>
      <p:bldP build="whole" bldLvl="1" animBg="1" rev="0" advAuto="0" spid="1044" grpId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ravitation in McSt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Gravitation in McStas</a:t>
            </a:r>
          </a:p>
        </p:txBody>
      </p:sp>
      <p:sp>
        <p:nvSpPr>
          <p:cNvPr id="1047" name="Enabled by adding -g / --gravitation on command line or by selecting “Gravity On” in mcgu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50479" indent="-150479" defTabSz="694944">
              <a:spcBef>
                <a:spcPts val="300"/>
              </a:spcBef>
              <a:defRPr sz="1368"/>
            </a:pPr>
            <a:r>
              <a:t>Enabled by adding -g / --gravitation on command line or</a:t>
            </a:r>
            <a:br/>
            <a:r>
              <a:t>by selecting “Gravity On” in mcgui</a:t>
            </a:r>
            <a:br/>
          </a:p>
          <a:p>
            <a:pPr marL="150479" indent="-150479" defTabSz="694944">
              <a:spcBef>
                <a:spcPts val="300"/>
              </a:spcBef>
              <a:defRPr sz="1368"/>
            </a:pPr>
            <a:r>
              <a:t>Default ~ gravity on earth</a:t>
            </a:r>
            <a:br/>
            <a:r>
              <a:rPr sz="988"/>
              <a:t>#define GRAVITY  9.81              /* [m/s^2] gravitational acceleration */</a:t>
            </a:r>
            <a:br>
              <a:rPr sz="988"/>
            </a:br>
            <a:br>
              <a:rPr sz="988"/>
            </a:br>
            <a:r>
              <a:rPr sz="988"/>
              <a:t>( If on the moon, use -DGRAVITY=1.62 ;-) )</a:t>
            </a:r>
            <a:br>
              <a:rPr sz="988"/>
            </a:br>
          </a:p>
          <a:p>
            <a:pPr marL="150479" indent="-150479" defTabSz="694944">
              <a:spcBef>
                <a:spcPts val="300"/>
              </a:spcBef>
              <a:defRPr sz="1368"/>
            </a:pPr>
            <a:r>
              <a:t>For guides, only Guide_gravity and Elliptic_guide_gravity </a:t>
            </a:r>
            <a:br/>
            <a:r>
              <a:t>support parabolic propagation. (Many others propagate </a:t>
            </a:r>
            <a:br/>
            <a:r>
              <a:t>linearly in </a:t>
            </a:r>
            <a:r>
              <a:rPr i="1"/>
              <a:t>v direction.)</a:t>
            </a:r>
            <a:r>
              <a:t> </a:t>
            </a:r>
            <a:br/>
          </a:p>
          <a:p>
            <a:pPr marL="150479" indent="-150479" defTabSz="694944">
              <a:spcBef>
                <a:spcPts val="300"/>
              </a:spcBef>
              <a:defRPr sz="1368"/>
            </a:pPr>
            <a:r>
              <a:t>As you will see in the practical, implications are greatest with long wavelengths and at long distances</a:t>
            </a:r>
            <a:br/>
          </a:p>
          <a:p>
            <a:pPr marL="150479" indent="-150479" defTabSz="694944">
              <a:spcBef>
                <a:spcPts val="300"/>
              </a:spcBef>
              <a:defRPr sz="1368"/>
            </a:pPr>
            <a:r>
              <a:rPr i="1"/>
              <a:t>“How about e.g. elliptic mirror optic X that does not support gravity?”</a:t>
            </a:r>
            <a:br>
              <a:rPr i="1"/>
            </a:br>
            <a:endParaRPr i="1"/>
          </a:p>
          <a:p>
            <a:pPr lvl="1" marL="314640" indent="-150479" defTabSz="694944">
              <a:spcBef>
                <a:spcPts val="300"/>
              </a:spcBef>
              <a:buChar char="•"/>
              <a:defRPr sz="1368"/>
            </a:pPr>
            <a:r>
              <a:t>often a good workaround is to add a monitor close to the surface of object X, this takes care that propagation up to the monitor includes gravitation: </a:t>
            </a:r>
            <a:br/>
          </a:p>
          <a:p>
            <a:pPr lvl="1" marL="314640" indent="-150479" defTabSz="694944">
              <a:spcBef>
                <a:spcPts val="300"/>
              </a:spcBef>
              <a:buChar char="•"/>
              <a:defRPr sz="1368"/>
            </a:pPr>
            <a:r>
              <a:t>Gravity is enabled in any call to PROP_DT, PROP_Z0 etc., but not in </a:t>
            </a:r>
            <a:br/>
            <a:r>
              <a:t>intersect_* routines  (most monitors use PROP_Z0 directly, no intersect_ call first</a:t>
            </a:r>
            <a:br/>
          </a:p>
          <a:p>
            <a:pPr lvl="1" marL="314640" indent="-150479" defTabSz="694944">
              <a:spcBef>
                <a:spcPts val="300"/>
              </a:spcBef>
              <a:buChar char="•"/>
              <a:defRPr sz="1368"/>
            </a:pPr>
            <a:r>
              <a:t>OK to propagate without gravitation e.g. within sample, through velocity selector etc. / range of ~cm’s</a:t>
            </a:r>
          </a:p>
        </p:txBody>
      </p:sp>
      <p:sp>
        <p:nvSpPr>
          <p:cNvPr id="10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49" name="Screen Shot 2021-04-12 at 19.12.01.png" descr="Screen Shot 2021-04-12 at 19.12.01.png"/>
          <p:cNvPicPr>
            <a:picLocks noChangeAspect="1"/>
          </p:cNvPicPr>
          <p:nvPr/>
        </p:nvPicPr>
        <p:blipFill>
          <a:blip r:embed="rId2">
            <a:extLst/>
          </a:blip>
          <a:srcRect l="1463" t="735" r="1082" b="735"/>
          <a:stretch>
            <a:fillRect/>
          </a:stretch>
        </p:blipFill>
        <p:spPr>
          <a:xfrm>
            <a:off x="7771586" y="331203"/>
            <a:ext cx="3428985" cy="4112171"/>
          </a:xfrm>
          <a:prstGeom prst="rect">
            <a:avLst/>
          </a:prstGeom>
          <a:ln w="12700">
            <a:miter lim="400000"/>
          </a:ln>
        </p:spPr>
      </p:pic>
      <p:sp>
        <p:nvSpPr>
          <p:cNvPr id="1050" name="Line"/>
          <p:cNvSpPr/>
          <p:nvPr/>
        </p:nvSpPr>
        <p:spPr>
          <a:xfrm>
            <a:off x="4654788" y="2015825"/>
            <a:ext cx="4698481" cy="1621087"/>
          </a:xfrm>
          <a:prstGeom prst="line">
            <a:avLst/>
          </a:prstGeom>
          <a:ln w="12700">
            <a:solidFill>
              <a:schemeClr val="accent1"/>
            </a:solidFill>
            <a:prstDash val="sysDot"/>
            <a:miter lim="400000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" name="Line"/>
          <p:cNvSpPr/>
          <p:nvPr/>
        </p:nvSpPr>
        <p:spPr>
          <a:xfrm flipV="1">
            <a:off x="2721493" y="3560088"/>
            <a:ext cx="12700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Popular guide components: Guide_gravity</a:t>
            </a:r>
          </a:p>
        </p:txBody>
      </p:sp>
      <p:sp>
        <p:nvSpPr>
          <p:cNvPr id="1054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Typical guide component with gravity, parameter-interface similar to e.g. Guide.comp </a:t>
            </a:r>
          </a:p>
          <a:p>
            <a:pPr/>
            <a:r>
              <a:t>Many additional features, channels, fermi chopper, … (see mcdoc pages for more info) </a:t>
            </a:r>
          </a:p>
        </p:txBody>
      </p:sp>
      <p:sp>
        <p:nvSpPr>
          <p:cNvPr id="105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56" name="TextBox 21"/>
          <p:cNvSpPr txBox="1"/>
          <p:nvPr/>
        </p:nvSpPr>
        <p:spPr>
          <a:xfrm>
            <a:off x="10110778" y="4557445"/>
            <a:ext cx="121920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h2</a:t>
            </a:r>
          </a:p>
        </p:txBody>
      </p:sp>
      <p:sp>
        <p:nvSpPr>
          <p:cNvPr id="1057" name="Freeform 1"/>
          <p:cNvSpPr/>
          <p:nvPr/>
        </p:nvSpPr>
        <p:spPr>
          <a:xfrm>
            <a:off x="4656613" y="4201609"/>
            <a:ext cx="937187" cy="1287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0" h="21600" fill="norm" stroke="1" extrusionOk="0">
                <a:moveTo>
                  <a:pt x="0" y="0"/>
                </a:moveTo>
                <a:lnTo>
                  <a:pt x="21200" y="2397"/>
                </a:lnTo>
                <a:cubicBezTo>
                  <a:pt x="21134" y="8668"/>
                  <a:pt x="21600" y="15328"/>
                  <a:pt x="21534" y="21600"/>
                </a:cubicBezTo>
                <a:lnTo>
                  <a:pt x="2" y="19346"/>
                </a:lnTo>
                <a:cubicBezTo>
                  <a:pt x="1" y="12897"/>
                  <a:pt x="1" y="644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058" name="Freeform 2"/>
          <p:cNvSpPr/>
          <p:nvPr/>
        </p:nvSpPr>
        <p:spPr>
          <a:xfrm>
            <a:off x="8377050" y="4099638"/>
            <a:ext cx="1042729" cy="1244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626"/>
                </a:lnTo>
                <a:lnTo>
                  <a:pt x="21291" y="21600"/>
                </a:lnTo>
                <a:lnTo>
                  <a:pt x="240" y="18369"/>
                </a:lnTo>
                <a:cubicBezTo>
                  <a:pt x="240" y="12313"/>
                  <a:pt x="0" y="605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cxnSp>
        <p:nvCxnSpPr>
          <p:cNvPr id="1059" name="Straight Connector 4"/>
          <p:cNvCxnSpPr>
            <a:stCxn id="1057" idx="0"/>
            <a:endCxn id="1058" idx="0"/>
          </p:cNvCxnSpPr>
          <p:nvPr/>
        </p:nvCxnSpPr>
        <p:spPr>
          <a:xfrm flipV="1">
            <a:off x="5125206" y="4721988"/>
            <a:ext cx="3773209" cy="123489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060" name="Straight Connector 9"/>
          <p:cNvCxnSpPr>
            <a:stCxn id="1057" idx="0"/>
            <a:endCxn id="1058" idx="0"/>
          </p:cNvCxnSpPr>
          <p:nvPr/>
        </p:nvCxnSpPr>
        <p:spPr>
          <a:xfrm flipV="1">
            <a:off x="5125206" y="4721988"/>
            <a:ext cx="3773209" cy="123489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061" name="Straight Connector 10"/>
          <p:cNvCxnSpPr>
            <a:stCxn id="1057" idx="0"/>
            <a:endCxn id="1058" idx="0"/>
          </p:cNvCxnSpPr>
          <p:nvPr/>
        </p:nvCxnSpPr>
        <p:spPr>
          <a:xfrm flipV="1">
            <a:off x="5125206" y="4721988"/>
            <a:ext cx="3773209" cy="123489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062" name="Straight Connector 11"/>
          <p:cNvCxnSpPr>
            <a:stCxn id="1057" idx="0"/>
            <a:endCxn id="1058" idx="0"/>
          </p:cNvCxnSpPr>
          <p:nvPr/>
        </p:nvCxnSpPr>
        <p:spPr>
          <a:xfrm flipV="1">
            <a:off x="5125206" y="4721988"/>
            <a:ext cx="3773209" cy="123489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063" name="TextBox 15"/>
          <p:cNvSpPr txBox="1"/>
          <p:nvPr/>
        </p:nvSpPr>
        <p:spPr>
          <a:xfrm>
            <a:off x="5142431" y="3160058"/>
            <a:ext cx="12192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w1</a:t>
            </a:r>
          </a:p>
        </p:txBody>
      </p:sp>
      <p:sp>
        <p:nvSpPr>
          <p:cNvPr id="1064" name="TextBox 20"/>
          <p:cNvSpPr txBox="1"/>
          <p:nvPr/>
        </p:nvSpPr>
        <p:spPr>
          <a:xfrm>
            <a:off x="3783496" y="4454426"/>
            <a:ext cx="121920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h1</a:t>
            </a:r>
          </a:p>
        </p:txBody>
      </p:sp>
      <p:sp>
        <p:nvSpPr>
          <p:cNvPr id="1065" name="TextBox 22"/>
          <p:cNvSpPr txBox="1"/>
          <p:nvPr/>
        </p:nvSpPr>
        <p:spPr>
          <a:xfrm>
            <a:off x="8965827" y="3150664"/>
            <a:ext cx="12192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w2</a:t>
            </a:r>
          </a:p>
        </p:txBody>
      </p:sp>
      <p:sp>
        <p:nvSpPr>
          <p:cNvPr id="1066" name="Left Brace 17"/>
          <p:cNvSpPr/>
          <p:nvPr/>
        </p:nvSpPr>
        <p:spPr>
          <a:xfrm rot="10800000">
            <a:off x="9482832" y="4241053"/>
            <a:ext cx="483705" cy="1113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250"/>
                  <a:pt x="10800" y="20818"/>
                </a:cubicBezTo>
                <a:lnTo>
                  <a:pt x="10800" y="11582"/>
                </a:lnTo>
                <a:cubicBezTo>
                  <a:pt x="10800" y="11150"/>
                  <a:pt x="5965" y="10800"/>
                  <a:pt x="0" y="10800"/>
                </a:cubicBezTo>
                <a:cubicBezTo>
                  <a:pt x="5965" y="10800"/>
                  <a:pt x="10800" y="10450"/>
                  <a:pt x="10800" y="10018"/>
                </a:cubicBezTo>
                <a:lnTo>
                  <a:pt x="10800" y="782"/>
                </a:lnTo>
                <a:cubicBezTo>
                  <a:pt x="10800" y="350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067" name="Left Brace 24"/>
          <p:cNvSpPr/>
          <p:nvPr/>
        </p:nvSpPr>
        <p:spPr>
          <a:xfrm rot="5884581">
            <a:off x="4901783" y="3527445"/>
            <a:ext cx="531485" cy="883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115"/>
                  <a:pt x="10800" y="20517"/>
                </a:cubicBezTo>
                <a:lnTo>
                  <a:pt x="10800" y="8360"/>
                </a:lnTo>
                <a:cubicBezTo>
                  <a:pt x="10800" y="7761"/>
                  <a:pt x="5965" y="7276"/>
                  <a:pt x="0" y="7276"/>
                </a:cubicBezTo>
                <a:cubicBezTo>
                  <a:pt x="5965" y="7276"/>
                  <a:pt x="10800" y="6791"/>
                  <a:pt x="10800" y="6193"/>
                </a:cubicBezTo>
                <a:lnTo>
                  <a:pt x="10800" y="1083"/>
                </a:lnTo>
                <a:cubicBezTo>
                  <a:pt x="10800" y="485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068" name="Left Brace 29"/>
          <p:cNvSpPr/>
          <p:nvPr/>
        </p:nvSpPr>
        <p:spPr>
          <a:xfrm rot="5992863">
            <a:off x="8757636" y="3372472"/>
            <a:ext cx="458303" cy="1050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248"/>
                  <a:pt x="10800" y="20815"/>
                </a:cubicBezTo>
                <a:lnTo>
                  <a:pt x="10800" y="11585"/>
                </a:lnTo>
                <a:cubicBezTo>
                  <a:pt x="10800" y="11152"/>
                  <a:pt x="5965" y="10800"/>
                  <a:pt x="0" y="10800"/>
                </a:cubicBezTo>
                <a:cubicBezTo>
                  <a:pt x="5965" y="10800"/>
                  <a:pt x="10800" y="10448"/>
                  <a:pt x="10800" y="10015"/>
                </a:cubicBezTo>
                <a:lnTo>
                  <a:pt x="10800" y="785"/>
                </a:lnTo>
                <a:cubicBezTo>
                  <a:pt x="10800" y="352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069" name="Left Brace 30"/>
          <p:cNvSpPr/>
          <p:nvPr/>
        </p:nvSpPr>
        <p:spPr>
          <a:xfrm rot="60000">
            <a:off x="4203770" y="4194378"/>
            <a:ext cx="415999" cy="116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312"/>
                  <a:pt x="10800" y="20957"/>
                </a:cubicBezTo>
                <a:lnTo>
                  <a:pt x="10800" y="11443"/>
                </a:lnTo>
                <a:cubicBezTo>
                  <a:pt x="10800" y="11088"/>
                  <a:pt x="5965" y="10800"/>
                  <a:pt x="0" y="10800"/>
                </a:cubicBezTo>
                <a:cubicBezTo>
                  <a:pt x="5965" y="10800"/>
                  <a:pt x="10800" y="10512"/>
                  <a:pt x="10800" y="10157"/>
                </a:cubicBezTo>
                <a:lnTo>
                  <a:pt x="10800" y="643"/>
                </a:lnTo>
                <a:cubicBezTo>
                  <a:pt x="10800" y="288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070" name="Straight Connector 28"/>
          <p:cNvSpPr/>
          <p:nvPr/>
        </p:nvSpPr>
        <p:spPr>
          <a:xfrm flipV="1">
            <a:off x="5110143" y="4708516"/>
            <a:ext cx="3855685" cy="107078"/>
          </a:xfrm>
          <a:prstGeom prst="line">
            <a:avLst/>
          </a:prstGeom>
          <a:ln w="25400">
            <a:solidFill>
              <a:srgbClr val="0D0D0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" name="Left Brace 36"/>
          <p:cNvSpPr/>
          <p:nvPr/>
        </p:nvSpPr>
        <p:spPr>
          <a:xfrm rot="16080000">
            <a:off x="6798429" y="3155399"/>
            <a:ext cx="513411" cy="3823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492"/>
                  <a:pt x="10800" y="21358"/>
                </a:cubicBezTo>
                <a:lnTo>
                  <a:pt x="10800" y="14139"/>
                </a:lnTo>
                <a:cubicBezTo>
                  <a:pt x="10800" y="14005"/>
                  <a:pt x="5965" y="13897"/>
                  <a:pt x="0" y="13897"/>
                </a:cubicBezTo>
                <a:cubicBezTo>
                  <a:pt x="5965" y="13897"/>
                  <a:pt x="10800" y="13789"/>
                  <a:pt x="10800" y="13656"/>
                </a:cubicBezTo>
                <a:lnTo>
                  <a:pt x="10800" y="242"/>
                </a:lnTo>
                <a:cubicBezTo>
                  <a:pt x="10800" y="108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072" name="TextBox 37"/>
          <p:cNvSpPr txBox="1"/>
          <p:nvPr/>
        </p:nvSpPr>
        <p:spPr>
          <a:xfrm>
            <a:off x="7679214" y="5381774"/>
            <a:ext cx="121920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Popular guide components: Guide_gravity</a:t>
            </a:r>
          </a:p>
        </p:txBody>
      </p:sp>
      <p:sp>
        <p:nvSpPr>
          <p:cNvPr id="107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76" name="TextBox 21"/>
          <p:cNvSpPr txBox="1"/>
          <p:nvPr/>
        </p:nvSpPr>
        <p:spPr>
          <a:xfrm>
            <a:off x="10539041" y="4707916"/>
            <a:ext cx="121920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h2</a:t>
            </a:r>
          </a:p>
        </p:txBody>
      </p:sp>
      <p:grpSp>
        <p:nvGrpSpPr>
          <p:cNvPr id="1093" name="Group 3"/>
          <p:cNvGrpSpPr/>
          <p:nvPr/>
        </p:nvGrpSpPr>
        <p:grpSpPr>
          <a:xfrm>
            <a:off x="3783496" y="2835966"/>
            <a:ext cx="6737199" cy="3381003"/>
            <a:chOff x="0" y="0"/>
            <a:chExt cx="6737198" cy="3381003"/>
          </a:xfrm>
        </p:grpSpPr>
        <p:sp>
          <p:nvSpPr>
            <p:cNvPr id="1077" name="Freeform 1"/>
            <p:cNvSpPr/>
            <p:nvPr/>
          </p:nvSpPr>
          <p:spPr>
            <a:xfrm>
              <a:off x="907772" y="770323"/>
              <a:ext cx="569845" cy="2610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9" y="0"/>
                  </a:moveTo>
                  <a:lnTo>
                    <a:pt x="21600" y="2083"/>
                  </a:lnTo>
                  <a:lnTo>
                    <a:pt x="20093" y="21600"/>
                  </a:lnTo>
                  <a:lnTo>
                    <a:pt x="0" y="18859"/>
                  </a:lnTo>
                  <a:lnTo>
                    <a:pt x="2009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1078" name="Freeform 2"/>
            <p:cNvSpPr/>
            <p:nvPr/>
          </p:nvSpPr>
          <p:spPr>
            <a:xfrm>
              <a:off x="4605130" y="1101628"/>
              <a:ext cx="1470992" cy="160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6248"/>
                  </a:lnTo>
                  <a:lnTo>
                    <a:pt x="21211" y="21600"/>
                  </a:lnTo>
                  <a:lnTo>
                    <a:pt x="0" y="14102"/>
                  </a:lnTo>
                  <a:cubicBezTo>
                    <a:pt x="0" y="9402"/>
                    <a:pt x="0" y="470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1079" name="Straight Connector 4"/>
            <p:cNvSpPr/>
            <p:nvPr/>
          </p:nvSpPr>
          <p:spPr>
            <a:xfrm>
              <a:off x="1477616" y="1022116"/>
              <a:ext cx="4598505" cy="54333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0" name="Straight Connector 9"/>
            <p:cNvSpPr/>
            <p:nvPr/>
          </p:nvSpPr>
          <p:spPr>
            <a:xfrm>
              <a:off x="960781" y="770323"/>
              <a:ext cx="3644349" cy="33130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1" name="Straight Connector 10"/>
            <p:cNvSpPr/>
            <p:nvPr/>
          </p:nvSpPr>
          <p:spPr>
            <a:xfrm flipV="1">
              <a:off x="907772" y="2148549"/>
              <a:ext cx="3697360" cy="90114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2" name="Straight Connector 11"/>
            <p:cNvSpPr/>
            <p:nvPr/>
          </p:nvSpPr>
          <p:spPr>
            <a:xfrm flipV="1">
              <a:off x="1437860" y="2705140"/>
              <a:ext cx="4611758" cy="6758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3" name="TextBox 15"/>
            <p:cNvSpPr txBox="1"/>
            <p:nvPr/>
          </p:nvSpPr>
          <p:spPr>
            <a:xfrm>
              <a:off x="1683025" y="-1"/>
              <a:ext cx="1219201" cy="3210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2200"/>
              </a:lvl1pPr>
            </a:lstStyle>
            <a:p>
              <a:pPr/>
              <a:r>
                <a:t>w1</a:t>
              </a:r>
            </a:p>
          </p:txBody>
        </p:sp>
        <p:sp>
          <p:nvSpPr>
            <p:cNvPr id="1084" name="TextBox 20"/>
            <p:cNvSpPr txBox="1"/>
            <p:nvPr/>
          </p:nvSpPr>
          <p:spPr>
            <a:xfrm>
              <a:off x="-1" y="1618460"/>
              <a:ext cx="1219201" cy="3210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2200"/>
              </a:lvl1pPr>
            </a:lstStyle>
            <a:p>
              <a:pPr/>
              <a:r>
                <a:t>h1</a:t>
              </a:r>
            </a:p>
          </p:txBody>
        </p:sp>
        <p:sp>
          <p:nvSpPr>
            <p:cNvPr id="1085" name="TextBox 22"/>
            <p:cNvSpPr txBox="1"/>
            <p:nvPr/>
          </p:nvSpPr>
          <p:spPr>
            <a:xfrm>
              <a:off x="5517998" y="291548"/>
              <a:ext cx="1219201" cy="3210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2200"/>
              </a:lvl1pPr>
            </a:lstStyle>
            <a:p>
              <a:pPr/>
              <a:r>
                <a:t>w2</a:t>
              </a:r>
            </a:p>
          </p:txBody>
        </p:sp>
        <p:sp>
          <p:nvSpPr>
            <p:cNvPr id="1086" name="Left Brace 17"/>
            <p:cNvSpPr/>
            <p:nvPr/>
          </p:nvSpPr>
          <p:spPr>
            <a:xfrm rot="10800000">
              <a:off x="6127599" y="1578706"/>
              <a:ext cx="483705" cy="1113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250"/>
                    <a:pt x="10800" y="20818"/>
                  </a:cubicBezTo>
                  <a:lnTo>
                    <a:pt x="10800" y="11582"/>
                  </a:lnTo>
                  <a:cubicBezTo>
                    <a:pt x="10800" y="11150"/>
                    <a:pt x="5965" y="10800"/>
                    <a:pt x="0" y="10800"/>
                  </a:cubicBezTo>
                  <a:cubicBezTo>
                    <a:pt x="5965" y="10800"/>
                    <a:pt x="10800" y="10450"/>
                    <a:pt x="10800" y="10018"/>
                  </a:cubicBezTo>
                  <a:lnTo>
                    <a:pt x="10800" y="782"/>
                  </a:lnTo>
                  <a:cubicBezTo>
                    <a:pt x="10800" y="350"/>
                    <a:pt x="15635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989898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spcBef>
                  <a:spcPts val="0"/>
                </a:spcBef>
                <a:defRPr sz="1800"/>
              </a:pPr>
            </a:p>
          </p:txBody>
        </p:sp>
        <p:sp>
          <p:nvSpPr>
            <p:cNvPr id="1087" name="Left Brace 24"/>
            <p:cNvSpPr/>
            <p:nvPr/>
          </p:nvSpPr>
          <p:spPr>
            <a:xfrm rot="7045631">
              <a:off x="1151666" y="350237"/>
              <a:ext cx="483705" cy="544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0885"/>
                    <a:pt x="10800" y="20002"/>
                  </a:cubicBezTo>
                  <a:lnTo>
                    <a:pt x="10800" y="8874"/>
                  </a:lnTo>
                  <a:cubicBezTo>
                    <a:pt x="10800" y="7992"/>
                    <a:pt x="5965" y="7276"/>
                    <a:pt x="0" y="7276"/>
                  </a:cubicBezTo>
                  <a:cubicBezTo>
                    <a:pt x="5965" y="7276"/>
                    <a:pt x="10800" y="6561"/>
                    <a:pt x="10800" y="5679"/>
                  </a:cubicBezTo>
                  <a:lnTo>
                    <a:pt x="10800" y="1598"/>
                  </a:lnTo>
                  <a:cubicBezTo>
                    <a:pt x="10800" y="715"/>
                    <a:pt x="15635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989898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spcBef>
                  <a:spcPts val="0"/>
                </a:spcBef>
                <a:defRPr sz="1800"/>
              </a:pPr>
            </a:p>
          </p:txBody>
        </p:sp>
        <p:sp>
          <p:nvSpPr>
            <p:cNvPr id="1088" name="Left Brace 29"/>
            <p:cNvSpPr/>
            <p:nvPr/>
          </p:nvSpPr>
          <p:spPr>
            <a:xfrm rot="6541481">
              <a:off x="5207451" y="282496"/>
              <a:ext cx="483705" cy="153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345"/>
                    <a:pt x="10800" y="21031"/>
                  </a:cubicBezTo>
                  <a:lnTo>
                    <a:pt x="10800" y="11369"/>
                  </a:lnTo>
                  <a:cubicBezTo>
                    <a:pt x="10800" y="11055"/>
                    <a:pt x="5965" y="10800"/>
                    <a:pt x="0" y="10800"/>
                  </a:cubicBezTo>
                  <a:cubicBezTo>
                    <a:pt x="5965" y="10800"/>
                    <a:pt x="10800" y="10545"/>
                    <a:pt x="10800" y="10231"/>
                  </a:cubicBezTo>
                  <a:lnTo>
                    <a:pt x="10800" y="569"/>
                  </a:lnTo>
                  <a:cubicBezTo>
                    <a:pt x="10800" y="255"/>
                    <a:pt x="15635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989898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spcBef>
                  <a:spcPts val="0"/>
                </a:spcBef>
                <a:defRPr sz="1800"/>
              </a:pPr>
            </a:p>
          </p:txBody>
        </p:sp>
        <p:sp>
          <p:nvSpPr>
            <p:cNvPr id="1089" name="Left Brace 30"/>
            <p:cNvSpPr/>
            <p:nvPr/>
          </p:nvSpPr>
          <p:spPr>
            <a:xfrm rot="60000">
              <a:off x="394250" y="783576"/>
              <a:ext cx="483705" cy="2252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427"/>
                    <a:pt x="10800" y="21214"/>
                  </a:cubicBezTo>
                  <a:lnTo>
                    <a:pt x="10800" y="11186"/>
                  </a:lnTo>
                  <a:cubicBezTo>
                    <a:pt x="10800" y="10973"/>
                    <a:pt x="5965" y="10800"/>
                    <a:pt x="0" y="10800"/>
                  </a:cubicBezTo>
                  <a:cubicBezTo>
                    <a:pt x="5965" y="10800"/>
                    <a:pt x="10800" y="10627"/>
                    <a:pt x="10800" y="10414"/>
                  </a:cubicBezTo>
                  <a:lnTo>
                    <a:pt x="10800" y="386"/>
                  </a:lnTo>
                  <a:cubicBezTo>
                    <a:pt x="10800" y="173"/>
                    <a:pt x="15635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989898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spcBef>
                  <a:spcPts val="0"/>
                </a:spcBef>
                <a:defRPr sz="1800"/>
              </a:pPr>
            </a:p>
          </p:txBody>
        </p:sp>
        <p:sp>
          <p:nvSpPr>
            <p:cNvPr id="1090" name="Straight Connector 28"/>
            <p:cNvSpPr/>
            <p:nvPr/>
          </p:nvSpPr>
          <p:spPr>
            <a:xfrm flipV="1">
              <a:off x="1199322" y="1871951"/>
              <a:ext cx="4108174" cy="130826"/>
            </a:xfrm>
            <a:prstGeom prst="line">
              <a:avLst/>
            </a:prstGeom>
            <a:noFill/>
            <a:ln w="25400" cap="flat">
              <a:solidFill>
                <a:srgbClr val="0D0D0D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1" name="Left Brace 36"/>
            <p:cNvSpPr/>
            <p:nvPr/>
          </p:nvSpPr>
          <p:spPr>
            <a:xfrm rot="16080000">
              <a:off x="3105477" y="116974"/>
              <a:ext cx="335709" cy="40882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34"/>
                    <a:pt x="10800" y="21452"/>
                  </a:cubicBezTo>
                  <a:lnTo>
                    <a:pt x="10800" y="17112"/>
                  </a:lnTo>
                  <a:cubicBezTo>
                    <a:pt x="10800" y="17030"/>
                    <a:pt x="5965" y="16964"/>
                    <a:pt x="0" y="16964"/>
                  </a:cubicBezTo>
                  <a:cubicBezTo>
                    <a:pt x="5965" y="16964"/>
                    <a:pt x="10800" y="16898"/>
                    <a:pt x="10800" y="16816"/>
                  </a:cubicBezTo>
                  <a:lnTo>
                    <a:pt x="10800" y="148"/>
                  </a:lnTo>
                  <a:cubicBezTo>
                    <a:pt x="10800" y="66"/>
                    <a:pt x="15635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989898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spcBef>
                  <a:spcPts val="0"/>
                </a:spcBef>
                <a:defRPr sz="1800"/>
              </a:pPr>
            </a:p>
          </p:txBody>
        </p:sp>
        <p:sp>
          <p:nvSpPr>
            <p:cNvPr id="1092" name="TextBox 37"/>
            <p:cNvSpPr txBox="1"/>
            <p:nvPr/>
          </p:nvSpPr>
          <p:spPr>
            <a:xfrm>
              <a:off x="4429025" y="2222556"/>
              <a:ext cx="1219201" cy="3210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2200"/>
              </a:lvl1pPr>
            </a:lstStyle>
            <a:p>
              <a:pPr/>
              <a:r>
                <a:t>l</a:t>
              </a:r>
            </a:p>
          </p:txBody>
        </p:sp>
      </p:grpSp>
      <p:sp>
        <p:nvSpPr>
          <p:cNvPr id="1094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Typical guide component with gravity, parameter-interface similar to e.g. Guide.comp </a:t>
            </a:r>
          </a:p>
          <a:p>
            <a:pPr/>
            <a:r>
              <a:t>Many additional features, channels, fermi chopper, … (see mcdoc pages for more info)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Title 4"/>
          <p:cNvSpPr txBox="1"/>
          <p:nvPr>
            <p:ph type="title"/>
          </p:nvPr>
        </p:nvSpPr>
        <p:spPr>
          <a:xfrm>
            <a:off x="1774725" y="426125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Popular guide components: Guide_gravity</a:t>
            </a:r>
          </a:p>
        </p:txBody>
      </p:sp>
      <p:sp>
        <p:nvSpPr>
          <p:cNvPr id="1097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Typical guide component with gravity</a:t>
            </a:r>
          </a:p>
        </p:txBody>
      </p:sp>
      <p:sp>
        <p:nvSpPr>
          <p:cNvPr id="1098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9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0491" y="2068416"/>
            <a:ext cx="6233931" cy="4364732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TextBox 25"/>
          <p:cNvSpPr txBox="1"/>
          <p:nvPr/>
        </p:nvSpPr>
        <p:spPr>
          <a:xfrm>
            <a:off x="6829067" y="2037144"/>
            <a:ext cx="186352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</a:t>
            </a:r>
          </a:p>
        </p:txBody>
      </p:sp>
      <p:sp>
        <p:nvSpPr>
          <p:cNvPr id="1101" name="TextBox 26"/>
          <p:cNvSpPr txBox="1"/>
          <p:nvPr/>
        </p:nvSpPr>
        <p:spPr>
          <a:xfrm>
            <a:off x="6746485" y="4230671"/>
            <a:ext cx="186352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Wavelength</a:t>
            </a:r>
          </a:p>
        </p:txBody>
      </p:sp>
      <p:sp>
        <p:nvSpPr>
          <p:cNvPr id="1102" name="TextBox 27"/>
          <p:cNvSpPr txBox="1"/>
          <p:nvPr/>
        </p:nvSpPr>
        <p:spPr>
          <a:xfrm>
            <a:off x="9920405" y="2024323"/>
            <a:ext cx="218793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Divergence</a:t>
            </a:r>
          </a:p>
        </p:txBody>
      </p:sp>
      <p:sp>
        <p:nvSpPr>
          <p:cNvPr id="1103" name="TextBox 31"/>
          <p:cNvSpPr txBox="1"/>
          <p:nvPr/>
        </p:nvSpPr>
        <p:spPr>
          <a:xfrm>
            <a:off x="9481967" y="4222955"/>
            <a:ext cx="2187936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 - Divergence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Popular guide components: Elliptical_guide_gravity</a:t>
            </a:r>
          </a:p>
        </p:txBody>
      </p:sp>
      <p:sp>
        <p:nvSpPr>
          <p:cNvPr id="1106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Useful for elliptic and parabolic guide geometries, focusing, ballistic, coating distribution, … </a:t>
            </a:r>
          </a:p>
        </p:txBody>
      </p:sp>
      <p:sp>
        <p:nvSpPr>
          <p:cNvPr id="110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08" name="Oval 1"/>
          <p:cNvSpPr/>
          <p:nvPr/>
        </p:nvSpPr>
        <p:spPr>
          <a:xfrm>
            <a:off x="1586167" y="3362961"/>
            <a:ext cx="10317354" cy="1232455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09" name="Rectangle 2"/>
          <p:cNvSpPr/>
          <p:nvPr/>
        </p:nvSpPr>
        <p:spPr>
          <a:xfrm>
            <a:off x="1347007" y="2740106"/>
            <a:ext cx="1456169" cy="2372140"/>
          </a:xfrm>
          <a:prstGeom prst="rect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10" name="Rectangle 3"/>
          <p:cNvSpPr/>
          <p:nvPr/>
        </p:nvSpPr>
        <p:spPr>
          <a:xfrm>
            <a:off x="8908188" y="2668985"/>
            <a:ext cx="3432314" cy="2478158"/>
          </a:xfrm>
          <a:prstGeom prst="rect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11" name="Straight Connector 5"/>
          <p:cNvSpPr/>
          <p:nvPr/>
        </p:nvSpPr>
        <p:spPr>
          <a:xfrm>
            <a:off x="1208313" y="3974736"/>
            <a:ext cx="10842174" cy="1"/>
          </a:xfrm>
          <a:prstGeom prst="line">
            <a:avLst/>
          </a:prstGeom>
          <a:ln w="25400">
            <a:solidFill>
              <a:srgbClr val="98989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2" name="Straight Connector 8"/>
          <p:cNvSpPr/>
          <p:nvPr/>
        </p:nvSpPr>
        <p:spPr>
          <a:xfrm>
            <a:off x="2819151" y="2930235"/>
            <a:ext cx="2" cy="1971303"/>
          </a:xfrm>
          <a:prstGeom prst="line">
            <a:avLst/>
          </a:prstGeom>
          <a:ln w="25400">
            <a:solidFill>
              <a:srgbClr val="98989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3" name="Straight Connector 12"/>
          <p:cNvSpPr/>
          <p:nvPr/>
        </p:nvSpPr>
        <p:spPr>
          <a:xfrm>
            <a:off x="8892212" y="2930235"/>
            <a:ext cx="1" cy="1971303"/>
          </a:xfrm>
          <a:prstGeom prst="line">
            <a:avLst/>
          </a:prstGeom>
          <a:ln w="25400">
            <a:solidFill>
              <a:srgbClr val="98989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4" name="Left Brace 13"/>
          <p:cNvSpPr/>
          <p:nvPr/>
        </p:nvSpPr>
        <p:spPr>
          <a:xfrm rot="16200000">
            <a:off x="5613829" y="2146617"/>
            <a:ext cx="483705" cy="60730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36"/>
                  <a:pt x="10800" y="21457"/>
                </a:cubicBezTo>
                <a:lnTo>
                  <a:pt x="10800" y="10943"/>
                </a:lnTo>
                <a:cubicBezTo>
                  <a:pt x="10800" y="10864"/>
                  <a:pt x="5965" y="10800"/>
                  <a:pt x="0" y="10800"/>
                </a:cubicBezTo>
                <a:cubicBezTo>
                  <a:pt x="5965" y="10800"/>
                  <a:pt x="10800" y="10736"/>
                  <a:pt x="10800" y="10657"/>
                </a:cubicBezTo>
                <a:lnTo>
                  <a:pt x="10800" y="143"/>
                </a:lnTo>
                <a:cubicBezTo>
                  <a:pt x="10800" y="64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15" name="Left Brace 25"/>
          <p:cNvSpPr/>
          <p:nvPr/>
        </p:nvSpPr>
        <p:spPr>
          <a:xfrm rot="16200000">
            <a:off x="10170679" y="3716614"/>
            <a:ext cx="391571" cy="2934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492"/>
                  <a:pt x="10800" y="21360"/>
                </a:cubicBezTo>
                <a:lnTo>
                  <a:pt x="10800" y="11040"/>
                </a:lnTo>
                <a:cubicBezTo>
                  <a:pt x="10800" y="10908"/>
                  <a:pt x="5965" y="10800"/>
                  <a:pt x="0" y="10800"/>
                </a:cubicBezTo>
                <a:cubicBezTo>
                  <a:pt x="5965" y="10800"/>
                  <a:pt x="10800" y="10692"/>
                  <a:pt x="10800" y="10560"/>
                </a:cubicBezTo>
                <a:lnTo>
                  <a:pt x="10800" y="240"/>
                </a:lnTo>
                <a:cubicBezTo>
                  <a:pt x="10800" y="108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16" name="Straight Connector 26"/>
          <p:cNvSpPr/>
          <p:nvPr/>
        </p:nvSpPr>
        <p:spPr>
          <a:xfrm>
            <a:off x="11837781" y="2930235"/>
            <a:ext cx="1" cy="1989416"/>
          </a:xfrm>
          <a:prstGeom prst="line">
            <a:avLst/>
          </a:prstGeom>
          <a:ln w="25400">
            <a:solidFill>
              <a:srgbClr val="989898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7" name="Straight Connector 27"/>
          <p:cNvSpPr/>
          <p:nvPr/>
        </p:nvSpPr>
        <p:spPr>
          <a:xfrm flipH="1">
            <a:off x="1635727" y="2930236"/>
            <a:ext cx="1" cy="2007526"/>
          </a:xfrm>
          <a:prstGeom prst="line">
            <a:avLst/>
          </a:prstGeom>
          <a:ln w="25400">
            <a:solidFill>
              <a:srgbClr val="989898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8" name="Left Brace 28"/>
          <p:cNvSpPr/>
          <p:nvPr/>
        </p:nvSpPr>
        <p:spPr>
          <a:xfrm rot="16200000">
            <a:off x="2009892" y="4584416"/>
            <a:ext cx="434687" cy="1191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306"/>
                  <a:pt x="10800" y="20943"/>
                </a:cubicBezTo>
                <a:lnTo>
                  <a:pt x="10800" y="11457"/>
                </a:lnTo>
                <a:cubicBezTo>
                  <a:pt x="10800" y="11094"/>
                  <a:pt x="5965" y="10800"/>
                  <a:pt x="0" y="10800"/>
                </a:cubicBezTo>
                <a:cubicBezTo>
                  <a:pt x="5965" y="10800"/>
                  <a:pt x="10800" y="10506"/>
                  <a:pt x="10800" y="10143"/>
                </a:cubicBezTo>
                <a:lnTo>
                  <a:pt x="10800" y="657"/>
                </a:lnTo>
                <a:cubicBezTo>
                  <a:pt x="10800" y="294"/>
                  <a:pt x="15635" y="0"/>
                  <a:pt x="21600" y="0"/>
                </a:cubicBezTo>
              </a:path>
            </a:pathLst>
          </a:custGeom>
          <a:ln w="381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19" name="Oval 17"/>
          <p:cNvSpPr/>
          <p:nvPr/>
        </p:nvSpPr>
        <p:spPr>
          <a:xfrm>
            <a:off x="1554215" y="3908064"/>
            <a:ext cx="142241" cy="142241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20" name="Oval 11"/>
          <p:cNvSpPr/>
          <p:nvPr/>
        </p:nvSpPr>
        <p:spPr>
          <a:xfrm>
            <a:off x="11761279" y="3908064"/>
            <a:ext cx="142241" cy="142241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21" name="TextBox 29"/>
          <p:cNvSpPr txBox="1"/>
          <p:nvPr/>
        </p:nvSpPr>
        <p:spPr>
          <a:xfrm>
            <a:off x="1625334" y="5379868"/>
            <a:ext cx="1219201" cy="651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linxw</a:t>
            </a:r>
            <a:br/>
            <a:r>
              <a:t>linyh</a:t>
            </a:r>
          </a:p>
        </p:txBody>
      </p:sp>
      <p:sp>
        <p:nvSpPr>
          <p:cNvPr id="1122" name="TextBox 30"/>
          <p:cNvSpPr txBox="1"/>
          <p:nvPr/>
        </p:nvSpPr>
        <p:spPr>
          <a:xfrm>
            <a:off x="5258772" y="5389198"/>
            <a:ext cx="12192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l</a:t>
            </a:r>
          </a:p>
        </p:txBody>
      </p:sp>
      <p:sp>
        <p:nvSpPr>
          <p:cNvPr id="1123" name="TextBox 31"/>
          <p:cNvSpPr txBox="1"/>
          <p:nvPr/>
        </p:nvSpPr>
        <p:spPr>
          <a:xfrm>
            <a:off x="9756864" y="5379868"/>
            <a:ext cx="1219201" cy="651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loutxw</a:t>
            </a:r>
            <a:br/>
            <a:r>
              <a:t>loutyh</a:t>
            </a:r>
          </a:p>
        </p:txBody>
      </p:sp>
      <p:sp>
        <p:nvSpPr>
          <p:cNvPr id="1124" name="TextBox 38"/>
          <p:cNvSpPr txBox="1"/>
          <p:nvPr/>
        </p:nvSpPr>
        <p:spPr>
          <a:xfrm>
            <a:off x="1472220" y="2134660"/>
            <a:ext cx="8284644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/>
            </a:lvl1pPr>
          </a:lstStyle>
          <a:p>
            <a:pPr/>
            <a:r>
              <a:t>xwidth and yheight at DimensionsAt = ”entrace” , ”mid” or ”exit”</a:t>
            </a:r>
          </a:p>
        </p:txBody>
      </p:sp>
      <p:sp>
        <p:nvSpPr>
          <p:cNvPr id="1125" name="Oval 40"/>
          <p:cNvSpPr/>
          <p:nvPr/>
        </p:nvSpPr>
        <p:spPr>
          <a:xfrm>
            <a:off x="2745707" y="3904600"/>
            <a:ext cx="142241" cy="142241"/>
          </a:xfrm>
          <a:prstGeom prst="ellipse">
            <a:avLst/>
          </a:prstGeom>
          <a:solidFill>
            <a:srgbClr val="989898"/>
          </a:solidFill>
          <a:ln w="25400">
            <a:solidFill>
              <a:srgbClr val="989898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26" name="Straight Arrow Connector 37"/>
          <p:cNvSpPr/>
          <p:nvPr/>
        </p:nvSpPr>
        <p:spPr>
          <a:xfrm>
            <a:off x="6744844" y="3362960"/>
            <a:ext cx="1" cy="1232454"/>
          </a:xfrm>
          <a:prstGeom prst="line">
            <a:avLst/>
          </a:prstGeom>
          <a:ln w="25400">
            <a:solidFill>
              <a:schemeClr val="accent1">
                <a:alpha val="40000"/>
              </a:schemeClr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" name="Straight Arrow Connector 44"/>
          <p:cNvSpPr/>
          <p:nvPr/>
        </p:nvSpPr>
        <p:spPr>
          <a:xfrm>
            <a:off x="8892212" y="3430613"/>
            <a:ext cx="1" cy="1089432"/>
          </a:xfrm>
          <a:prstGeom prst="line">
            <a:avLst/>
          </a:prstGeom>
          <a:ln w="25400">
            <a:solidFill>
              <a:schemeClr val="accent1">
                <a:alpha val="40000"/>
              </a:schemeClr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" name="Straight Arrow Connector 48"/>
          <p:cNvSpPr/>
          <p:nvPr/>
        </p:nvSpPr>
        <p:spPr>
          <a:xfrm>
            <a:off x="2813616" y="3564082"/>
            <a:ext cx="1" cy="799270"/>
          </a:xfrm>
          <a:prstGeom prst="line">
            <a:avLst/>
          </a:prstGeom>
          <a:ln w="25400">
            <a:solidFill>
              <a:schemeClr val="accent1">
                <a:alpha val="40000"/>
              </a:schemeClr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" name="Freeform 47"/>
          <p:cNvSpPr/>
          <p:nvPr/>
        </p:nvSpPr>
        <p:spPr>
          <a:xfrm>
            <a:off x="2872902" y="2568101"/>
            <a:ext cx="3975372" cy="946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538" y="7434"/>
                  <a:pt x="19092" y="11860"/>
                  <a:pt x="16632" y="13611"/>
                </a:cubicBezTo>
                <a:cubicBezTo>
                  <a:pt x="14171" y="15362"/>
                  <a:pt x="9179" y="10726"/>
                  <a:pt x="6836" y="10504"/>
                </a:cubicBezTo>
                <a:cubicBezTo>
                  <a:pt x="4493" y="10282"/>
                  <a:pt x="3712" y="10430"/>
                  <a:pt x="2572" y="12279"/>
                </a:cubicBezTo>
                <a:cubicBezTo>
                  <a:pt x="1433" y="14129"/>
                  <a:pt x="523" y="16631"/>
                  <a:pt x="0" y="21600"/>
                </a:cubicBezTo>
              </a:path>
            </a:pathLst>
          </a:custGeom>
          <a:ln w="25400">
            <a:solidFill>
              <a:srgbClr val="989898">
                <a:alpha val="80000"/>
              </a:srgbClr>
            </a:solidFill>
            <a:tailEnd type="triangle"/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30" name="Freeform 52"/>
          <p:cNvSpPr/>
          <p:nvPr/>
        </p:nvSpPr>
        <p:spPr>
          <a:xfrm>
            <a:off x="6736100" y="2557852"/>
            <a:ext cx="1142132" cy="758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2" h="21600" fill="norm" stroke="1" extrusionOk="0">
                <a:moveTo>
                  <a:pt x="21472" y="0"/>
                </a:moveTo>
                <a:cubicBezTo>
                  <a:pt x="21259" y="9277"/>
                  <a:pt x="17388" y="14738"/>
                  <a:pt x="14523" y="16985"/>
                </a:cubicBezTo>
                <a:cubicBezTo>
                  <a:pt x="11658" y="19231"/>
                  <a:pt x="7797" y="13446"/>
                  <a:pt x="4281" y="13477"/>
                </a:cubicBezTo>
                <a:cubicBezTo>
                  <a:pt x="766" y="13508"/>
                  <a:pt x="-128" y="12815"/>
                  <a:pt x="14" y="21600"/>
                </a:cubicBezTo>
              </a:path>
            </a:pathLst>
          </a:custGeom>
          <a:ln w="25400">
            <a:solidFill>
              <a:srgbClr val="989898">
                <a:alpha val="80000"/>
              </a:srgbClr>
            </a:solidFill>
            <a:tailEnd type="triangle"/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31" name="Freeform 53"/>
          <p:cNvSpPr/>
          <p:nvPr/>
        </p:nvSpPr>
        <p:spPr>
          <a:xfrm>
            <a:off x="8891918" y="2550857"/>
            <a:ext cx="325127" cy="8106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7" h="21600" fill="norm" stroke="1" extrusionOk="0">
                <a:moveTo>
                  <a:pt x="18" y="0"/>
                </a:moveTo>
                <a:cubicBezTo>
                  <a:pt x="-685" y="8683"/>
                  <a:pt x="19308" y="8150"/>
                  <a:pt x="20111" y="11750"/>
                </a:cubicBezTo>
                <a:cubicBezTo>
                  <a:pt x="20915" y="15350"/>
                  <a:pt x="7938" y="18936"/>
                  <a:pt x="4841" y="21600"/>
                </a:cubicBezTo>
              </a:path>
            </a:pathLst>
          </a:custGeom>
          <a:ln w="25400">
            <a:solidFill>
              <a:srgbClr val="989898">
                <a:alpha val="80000"/>
              </a:srgbClr>
            </a:solidFill>
            <a:tailEnd type="triangle"/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26" grpId="4"/>
      <p:bldP build="whole" bldLvl="1" animBg="1" rev="0" advAuto="0" spid="1131" grpId="5"/>
      <p:bldP build="whole" bldLvl="1" animBg="1" rev="0" advAuto="0" spid="1128" grpId="2"/>
      <p:bldP build="whole" bldLvl="1" animBg="1" rev="0" advAuto="0" spid="1127" grpId="6"/>
      <p:bldP build="whole" bldLvl="1" animBg="1" rev="0" advAuto="0" spid="1130" grpId="3"/>
      <p:bldP build="whole" bldLvl="1" animBg="1" rev="0" advAuto="0" spid="1129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Popular guide components: Elliptical_guide_gravity</a:t>
            </a:r>
          </a:p>
        </p:txBody>
      </p:sp>
      <p:sp>
        <p:nvSpPr>
          <p:cNvPr id="1134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Useful for elliptic and parabolic guide geometries, focusing, ballistic, coating distribution, … </a:t>
            </a:r>
          </a:p>
        </p:txBody>
      </p:sp>
      <p:sp>
        <p:nvSpPr>
          <p:cNvPr id="113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36" name="Rectangle 3"/>
          <p:cNvSpPr/>
          <p:nvPr/>
        </p:nvSpPr>
        <p:spPr>
          <a:xfrm>
            <a:off x="8908188" y="2668985"/>
            <a:ext cx="3432314" cy="2478158"/>
          </a:xfrm>
          <a:prstGeom prst="rect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113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4825" y="2111009"/>
            <a:ext cx="6362957" cy="4308774"/>
          </a:xfrm>
          <a:prstGeom prst="rect">
            <a:avLst/>
          </a:prstGeom>
          <a:ln w="12700">
            <a:miter lim="400000"/>
          </a:ln>
        </p:spPr>
      </p:pic>
      <p:sp>
        <p:nvSpPr>
          <p:cNvPr id="1138" name="TextBox 7"/>
          <p:cNvSpPr txBox="1"/>
          <p:nvPr/>
        </p:nvSpPr>
        <p:spPr>
          <a:xfrm>
            <a:off x="6609143" y="2037144"/>
            <a:ext cx="186352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</a:t>
            </a:r>
          </a:p>
        </p:txBody>
      </p:sp>
      <p:sp>
        <p:nvSpPr>
          <p:cNvPr id="1139" name="TextBox 32"/>
          <p:cNvSpPr txBox="1"/>
          <p:nvPr/>
        </p:nvSpPr>
        <p:spPr>
          <a:xfrm>
            <a:off x="6526561" y="4230671"/>
            <a:ext cx="186352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Wavelength</a:t>
            </a:r>
          </a:p>
        </p:txBody>
      </p:sp>
      <p:sp>
        <p:nvSpPr>
          <p:cNvPr id="1140" name="TextBox 33"/>
          <p:cNvSpPr txBox="1"/>
          <p:nvPr/>
        </p:nvSpPr>
        <p:spPr>
          <a:xfrm>
            <a:off x="9700479" y="2024323"/>
            <a:ext cx="218793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Divergence</a:t>
            </a:r>
          </a:p>
        </p:txBody>
      </p:sp>
      <p:sp>
        <p:nvSpPr>
          <p:cNvPr id="1141" name="TextBox 34"/>
          <p:cNvSpPr txBox="1"/>
          <p:nvPr/>
        </p:nvSpPr>
        <p:spPr>
          <a:xfrm>
            <a:off x="9262043" y="4222955"/>
            <a:ext cx="2187936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 - Divergence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Comparison: Guide_gravity and Elliptic_guide_gravity</a:t>
            </a:r>
          </a:p>
        </p:txBody>
      </p:sp>
      <p:sp>
        <p:nvSpPr>
          <p:cNvPr id="1144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4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4086" y="2407533"/>
            <a:ext cx="5314691" cy="35989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6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12266" y="2407533"/>
            <a:ext cx="5140167" cy="3598924"/>
          </a:xfrm>
          <a:prstGeom prst="rect">
            <a:avLst/>
          </a:prstGeom>
          <a:ln w="12700">
            <a:miter lim="400000"/>
          </a:ln>
        </p:spPr>
      </p:pic>
      <p:sp>
        <p:nvSpPr>
          <p:cNvPr id="1147" name="TextBox 7"/>
          <p:cNvSpPr txBox="1"/>
          <p:nvPr/>
        </p:nvSpPr>
        <p:spPr>
          <a:xfrm>
            <a:off x="2314936" y="1828800"/>
            <a:ext cx="3565004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Guide_gravity</a:t>
            </a:r>
          </a:p>
        </p:txBody>
      </p:sp>
      <p:sp>
        <p:nvSpPr>
          <p:cNvPr id="1148" name="TextBox 11"/>
          <p:cNvSpPr txBox="1"/>
          <p:nvPr/>
        </p:nvSpPr>
        <p:spPr>
          <a:xfrm>
            <a:off x="7578929" y="1828800"/>
            <a:ext cx="3565003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Elliptic_guide_gravity</a:t>
            </a:r>
          </a:p>
        </p:txBody>
      </p:sp>
      <p:sp>
        <p:nvSpPr>
          <p:cNvPr id="1149" name="TextBox 16"/>
          <p:cNvSpPr txBox="1"/>
          <p:nvPr/>
        </p:nvSpPr>
        <p:spPr>
          <a:xfrm>
            <a:off x="7581416" y="2327272"/>
            <a:ext cx="186352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</a:t>
            </a:r>
          </a:p>
        </p:txBody>
      </p:sp>
      <p:sp>
        <p:nvSpPr>
          <p:cNvPr id="1150" name="TextBox 17"/>
          <p:cNvSpPr txBox="1"/>
          <p:nvPr/>
        </p:nvSpPr>
        <p:spPr>
          <a:xfrm>
            <a:off x="7497906" y="4136502"/>
            <a:ext cx="186352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Wavelength</a:t>
            </a:r>
          </a:p>
        </p:txBody>
      </p:sp>
      <p:sp>
        <p:nvSpPr>
          <p:cNvPr id="1151" name="TextBox 18"/>
          <p:cNvSpPr txBox="1"/>
          <p:nvPr/>
        </p:nvSpPr>
        <p:spPr>
          <a:xfrm>
            <a:off x="10105594" y="2314451"/>
            <a:ext cx="218793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Divergence</a:t>
            </a:r>
          </a:p>
        </p:txBody>
      </p:sp>
      <p:sp>
        <p:nvSpPr>
          <p:cNvPr id="1152" name="TextBox 19"/>
          <p:cNvSpPr txBox="1"/>
          <p:nvPr/>
        </p:nvSpPr>
        <p:spPr>
          <a:xfrm>
            <a:off x="9690306" y="4147468"/>
            <a:ext cx="2187937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 - Divergence</a:t>
            </a:r>
          </a:p>
        </p:txBody>
      </p:sp>
      <p:sp>
        <p:nvSpPr>
          <p:cNvPr id="1153" name="TextBox 20"/>
          <p:cNvSpPr txBox="1"/>
          <p:nvPr/>
        </p:nvSpPr>
        <p:spPr>
          <a:xfrm>
            <a:off x="2314936" y="2327272"/>
            <a:ext cx="1863526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</a:t>
            </a:r>
          </a:p>
        </p:txBody>
      </p:sp>
      <p:sp>
        <p:nvSpPr>
          <p:cNvPr id="1154" name="TextBox 21"/>
          <p:cNvSpPr txBox="1"/>
          <p:nvPr/>
        </p:nvSpPr>
        <p:spPr>
          <a:xfrm>
            <a:off x="2231427" y="4136502"/>
            <a:ext cx="186352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Wavelength</a:t>
            </a:r>
          </a:p>
        </p:txBody>
      </p:sp>
      <p:sp>
        <p:nvSpPr>
          <p:cNvPr id="1155" name="TextBox 22"/>
          <p:cNvSpPr txBox="1"/>
          <p:nvPr/>
        </p:nvSpPr>
        <p:spPr>
          <a:xfrm>
            <a:off x="4839115" y="2314451"/>
            <a:ext cx="218793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Divergence</a:t>
            </a:r>
          </a:p>
        </p:txBody>
      </p:sp>
      <p:sp>
        <p:nvSpPr>
          <p:cNvPr id="1156" name="TextBox 23"/>
          <p:cNvSpPr txBox="1"/>
          <p:nvPr/>
        </p:nvSpPr>
        <p:spPr>
          <a:xfrm>
            <a:off x="4423828" y="4147468"/>
            <a:ext cx="2187936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Position - Divergence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Breaking line of sight</a:t>
            </a:r>
          </a:p>
        </p:txBody>
      </p:sp>
      <p:sp>
        <p:nvSpPr>
          <p:cNvPr id="1159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/>
            <a:r>
              <a:t>Importance of breaking line of sight, ways of doing so, …</a:t>
            </a:r>
          </a:p>
        </p:txBody>
      </p:sp>
      <p:sp>
        <p:nvSpPr>
          <p:cNvPr id="1160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4725" y="2134454"/>
            <a:ext cx="9401196" cy="2514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Breaking line of sight</a:t>
            </a:r>
          </a:p>
        </p:txBody>
      </p:sp>
      <p:sp>
        <p:nvSpPr>
          <p:cNvPr id="1164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/>
            <a:r>
              <a:t>Bender / Guide_curved component or many straight sections</a:t>
            </a:r>
          </a:p>
        </p:txBody>
      </p:sp>
      <p:sp>
        <p:nvSpPr>
          <p:cNvPr id="1165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66" name="Rectangle 1"/>
          <p:cNvSpPr/>
          <p:nvPr/>
        </p:nvSpPr>
        <p:spPr>
          <a:xfrm>
            <a:off x="2221726" y="2944017"/>
            <a:ext cx="2139887" cy="44306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67" name="Rectangle 6"/>
          <p:cNvSpPr/>
          <p:nvPr/>
        </p:nvSpPr>
        <p:spPr>
          <a:xfrm rot="300000">
            <a:off x="4426684" y="3042998"/>
            <a:ext cx="2139886" cy="44306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68" name="Rectangle 7"/>
          <p:cNvSpPr/>
          <p:nvPr/>
        </p:nvSpPr>
        <p:spPr>
          <a:xfrm rot="600000">
            <a:off x="6605844" y="3328656"/>
            <a:ext cx="2139886" cy="44306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69" name="Rectangle 8"/>
          <p:cNvSpPr/>
          <p:nvPr/>
        </p:nvSpPr>
        <p:spPr>
          <a:xfrm rot="900000">
            <a:off x="8747300" y="3803105"/>
            <a:ext cx="2139887" cy="44306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70" name="TextBox 3"/>
          <p:cNvSpPr txBox="1"/>
          <p:nvPr/>
        </p:nvSpPr>
        <p:spPr>
          <a:xfrm>
            <a:off x="5496626" y="2006362"/>
            <a:ext cx="3648174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Mind the gaps, avoid overlap</a:t>
            </a:r>
          </a:p>
        </p:txBody>
      </p:sp>
      <p:sp>
        <p:nvSpPr>
          <p:cNvPr id="1171" name="Freeform 5"/>
          <p:cNvSpPr/>
          <p:nvPr/>
        </p:nvSpPr>
        <p:spPr>
          <a:xfrm>
            <a:off x="4430598" y="2243579"/>
            <a:ext cx="999241" cy="631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5480" y="69"/>
                  <a:pt x="9360" y="138"/>
                  <a:pt x="5760" y="3738"/>
                </a:cubicBezTo>
                <a:cubicBezTo>
                  <a:pt x="2160" y="7338"/>
                  <a:pt x="1080" y="14469"/>
                  <a:pt x="0" y="21600"/>
                </a:cubicBezTo>
              </a:path>
            </a:pathLst>
          </a:custGeom>
          <a:ln w="25400">
            <a:solidFill>
              <a:schemeClr val="accent1"/>
            </a:solidFill>
            <a:tailEnd type="triangle"/>
          </a:ln>
        </p:spPr>
        <p:txBody>
          <a:bodyPr lIns="46799" tIns="46799" rIns="46799" bIns="46799" anchor="ctr"/>
          <a:lstStyle/>
          <a:p>
            <a:pPr>
              <a:spcBef>
                <a:spcPts val="0"/>
              </a:spcBef>
              <a:defRPr sz="1800"/>
            </a:pPr>
          </a:p>
        </p:txBody>
      </p:sp>
      <p:sp>
        <p:nvSpPr>
          <p:cNvPr id="1172" name="Rectangle 12"/>
          <p:cNvSpPr/>
          <p:nvPr/>
        </p:nvSpPr>
        <p:spPr>
          <a:xfrm>
            <a:off x="2221726" y="4732371"/>
            <a:ext cx="1360460" cy="10362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73" name="Rectangle 14"/>
          <p:cNvSpPr/>
          <p:nvPr/>
        </p:nvSpPr>
        <p:spPr>
          <a:xfrm rot="300000">
            <a:off x="3653101" y="4798357"/>
            <a:ext cx="1360460" cy="10362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74" name="Rectangle 15"/>
          <p:cNvSpPr/>
          <p:nvPr/>
        </p:nvSpPr>
        <p:spPr>
          <a:xfrm>
            <a:off x="5880132" y="4732373"/>
            <a:ext cx="1360460" cy="10362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1175" name="Rectangle 16"/>
          <p:cNvSpPr/>
          <p:nvPr/>
        </p:nvSpPr>
        <p:spPr>
          <a:xfrm rot="300000">
            <a:off x="7236090" y="4788932"/>
            <a:ext cx="1360460" cy="10362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117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26374" y="4248296"/>
            <a:ext cx="428435" cy="4284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06835" y="4254982"/>
            <a:ext cx="367381" cy="4127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guide design</a:t>
            </a:r>
          </a:p>
        </p:txBody>
      </p:sp>
      <p:sp>
        <p:nvSpPr>
          <p:cNvPr id="1180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be continued in Thursday guidebot talk by</a:t>
            </a:r>
            <a:br/>
            <a:r>
              <a:t>Mads Bertelsen</a:t>
            </a:r>
          </a:p>
        </p:txBody>
      </p:sp>
      <p:sp>
        <p:nvSpPr>
          <p:cNvPr id="1181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82" name="PGECCE_4Vsize1_geometry.png" descr="PGECCE_4Vsize1_geometry.png"/>
          <p:cNvPicPr>
            <a:picLocks noChangeAspect="1"/>
          </p:cNvPicPr>
          <p:nvPr/>
        </p:nvPicPr>
        <p:blipFill>
          <a:blip r:embed="rId2">
            <a:extLst/>
          </a:blip>
          <a:srcRect l="5542" t="2897" r="1953" b="2897"/>
          <a:stretch>
            <a:fillRect/>
          </a:stretch>
        </p:blipFill>
        <p:spPr>
          <a:xfrm>
            <a:off x="1856599" y="2456725"/>
            <a:ext cx="5322389" cy="3795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3" name="PGECCE_4Vsize1_overall_pure.png" descr="PGECCE_4Vsize1_overall_pure.png"/>
          <p:cNvPicPr>
            <a:picLocks noChangeAspect="1"/>
          </p:cNvPicPr>
          <p:nvPr/>
        </p:nvPicPr>
        <p:blipFill>
          <a:blip r:embed="rId3">
            <a:extLst/>
          </a:blip>
          <a:srcRect l="6180" t="5124" r="6179" b="28902"/>
          <a:stretch>
            <a:fillRect/>
          </a:stretch>
        </p:blipFill>
        <p:spPr>
          <a:xfrm>
            <a:off x="7085915" y="964294"/>
            <a:ext cx="4918439" cy="52876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Guide exercise</a:t>
            </a:r>
          </a:p>
        </p:txBody>
      </p:sp>
      <p:sp>
        <p:nvSpPr>
          <p:cNvPr id="1186" name="Content Placeholder 5"/>
          <p:cNvSpPr txBox="1"/>
          <p:nvPr>
            <p:ph type="body" idx="1"/>
          </p:nvPr>
        </p:nvSpPr>
        <p:spPr>
          <a:xfrm>
            <a:off x="1774799" y="1706398"/>
            <a:ext cx="9312376" cy="4545581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Insert a guide and use an instrument input parameter to set the length</a:t>
            </a:r>
          </a:p>
          <a:p>
            <a:pPr>
              <a:defRPr sz="2000"/>
            </a:pPr>
            <a:r>
              <a:t>Use monitors to see the resulting beam</a:t>
            </a:r>
          </a:p>
          <a:p>
            <a:pPr lvl="2">
              <a:defRPr sz="2000"/>
            </a:pPr>
            <a:r>
              <a:t>PSD_monitor (spatial distribution)</a:t>
            </a:r>
          </a:p>
          <a:p>
            <a:pPr lvl="2">
              <a:defRPr sz="2000"/>
            </a:pPr>
            <a:r>
              <a:t>Divergence_monitor (divergence distributoin)</a:t>
            </a:r>
          </a:p>
          <a:p>
            <a:pPr lvl="2">
              <a:defRPr sz="2000"/>
            </a:pPr>
            <a:r>
              <a:t>L_monitor (wavelength distribution)</a:t>
            </a:r>
          </a:p>
          <a:p>
            <a:pPr lvl="2">
              <a:defRPr sz="2000"/>
            </a:pPr>
            <a:r>
              <a:t>Posdiv_monitor (acceptance diagram)</a:t>
            </a:r>
          </a:p>
          <a:p>
            <a:pPr lvl="2">
              <a:defRPr sz="2000"/>
            </a:pPr>
          </a:p>
          <a:p>
            <a:pPr>
              <a:defRPr sz="2000"/>
            </a:pPr>
            <a:r>
              <a:t>Extra tasks: </a:t>
            </a:r>
          </a:p>
          <a:p>
            <a:pPr lvl="2">
              <a:defRPr sz="2000"/>
            </a:pPr>
            <a:r>
              <a:t>Scan guide length</a:t>
            </a:r>
          </a:p>
          <a:p>
            <a:pPr lvl="2">
              <a:defRPr sz="2000"/>
            </a:pPr>
            <a:r>
              <a:t>Introduce a gap by using two guide components</a:t>
            </a:r>
          </a:p>
          <a:p>
            <a:pPr lvl="2">
              <a:defRPr sz="2000"/>
            </a:pPr>
            <a:r>
              <a:t>Use Guide_gravity and extend to 100 m length</a:t>
            </a:r>
          </a:p>
          <a:p>
            <a:pPr lvl="2">
              <a:defRPr sz="2000"/>
            </a:pPr>
            <a:r>
              <a:t>Investigate the effect of gravity on the transport of long-wavelength neutrons</a:t>
            </a:r>
          </a:p>
        </p:txBody>
      </p:sp>
      <p:sp>
        <p:nvSpPr>
          <p:cNvPr id="1187" name="Slide Number Placeholder 3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88" name="TextBox 4"/>
          <p:cNvSpPr txBox="1"/>
          <p:nvPr/>
        </p:nvSpPr>
        <p:spPr>
          <a:xfrm rot="390092">
            <a:off x="7092108" y="371222"/>
            <a:ext cx="4812024" cy="77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Solution on github, use if you are stuck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