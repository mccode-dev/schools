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jpeg" ContentType="image/jpeg"/>
  <Override PartName="/ppt/theme/theme2.xml" ContentType="application/vnd.openxmlformats-officedocument.theme+xml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media1.mov" ContentType="video/unknown"/>
  <Override PartName="/ppt/media/media2.mov" ContentType="video/unknown"/>
  <Override PartName="/ppt/media/image6.jpeg" ContentType="image/jpeg"/>
  <Override PartName="/ppt/media/image7.jpeg" ContentType="image/jpeg"/>
  <Override PartName="/ppt/media/image8.jpeg" ContentType="image/jpeg"/>
  <Override PartName="/ppt/media/image9.jpeg" ContentType="image/jpeg"/>
  <Override PartName="/ppt/media/image10.jpeg" ContentType="image/jpeg"/>
  <Override PartName="/ppt/media/image11.jpeg" ContentType="image/jpeg"/>
  <Override PartName="/ppt/media/image12.jpeg" ContentType="image/jpeg"/>
  <Override PartName="/ppt/media/image13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DCACA"/>
          </a:solidFill>
        </a:fill>
      </a:tcStyle>
    </a:wholeTbl>
    <a:band2H>
      <a:tcTxStyle b="def" i="def"/>
      <a:tcStyle>
        <a:tcBdr/>
        <a:fill>
          <a:solidFill>
            <a:srgbClr val="EF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EED8"/>
          </a:solidFill>
        </a:fill>
      </a:tcStyle>
    </a:wholeTbl>
    <a:band2H>
      <a:tcTxStyle b="def" i="def"/>
      <a:tcStyle>
        <a:tcBdr/>
        <a:fill>
          <a:solidFill>
            <a:srgbClr val="E7F6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D5CC"/>
          </a:solidFill>
        </a:fill>
      </a:tcStyle>
    </a:wholeTbl>
    <a:band2H>
      <a:tcTxStyle b="def" i="def"/>
      <a:tcStyle>
        <a:tcBdr/>
        <a:fill>
          <a:solidFill>
            <a:srgbClr val="FEEB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Shape 315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16" name="Shape 316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n-lt"/>
        <a:ea typeface="+mn-ea"/>
        <a:cs typeface="+mn-cs"/>
        <a:sym typeface="Arial"/>
      </a:defRPr>
    </a:lvl1pPr>
    <a:lvl2pPr indent="228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2pPr>
    <a:lvl3pPr indent="457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3pPr>
    <a:lvl4pPr indent="685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4pPr>
    <a:lvl5pPr indent="9144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5pPr>
    <a:lvl6pPr indent="11430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6pPr>
    <a:lvl7pPr indent="1371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7pPr>
    <a:lvl8pPr indent="1600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8pPr>
    <a:lvl9pPr indent="1828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.tif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.tif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.tif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.tif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.tif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tif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.tif"/><Relationship Id="rId9" Type="http://schemas.openxmlformats.org/officeDocument/2006/relationships/image" Target="../media/image2.tif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4.tif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4.tif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5.tif"/><Relationship Id="rId4" Type="http://schemas.openxmlformats.org/officeDocument/2006/relationships/image" Target="../media/image1.jpe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Fro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30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" name="Title Text"/>
          <p:cNvSpPr txBox="1"/>
          <p:nvPr>
            <p:ph type="title"/>
          </p:nvPr>
        </p:nvSpPr>
        <p:spPr>
          <a:xfrm>
            <a:off x="249858" y="3545116"/>
            <a:ext cx="10840030" cy="2706459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>
              <a:lnSpc>
                <a:spcPct val="93000"/>
              </a:lnSpc>
              <a:defRPr sz="8000"/>
            </a:lvl1pPr>
          </a:lstStyle>
          <a:p>
            <a:pPr/>
            <a:r>
              <a:t>Title Text</a:t>
            </a:r>
          </a:p>
        </p:txBody>
      </p:sp>
      <p:sp>
        <p:nvSpPr>
          <p:cNvPr id="33" name="Body Level One…"/>
          <p:cNvSpPr txBox="1"/>
          <p:nvPr>
            <p:ph type="body" sz="half" idx="1"/>
          </p:nvPr>
        </p:nvSpPr>
        <p:spPr>
          <a:xfrm>
            <a:off x="247072" y="1704975"/>
            <a:ext cx="10840029" cy="1660655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SzTx/>
              <a:buNone/>
              <a:defRPr sz="3000"/>
            </a:lvl1pPr>
            <a:lvl2pPr marL="546000" indent="-329999">
              <a:lnSpc>
                <a:spcPct val="110000"/>
              </a:lnSpc>
              <a:spcBef>
                <a:spcPts val="0"/>
              </a:spcBef>
              <a:defRPr sz="3000"/>
            </a:lvl2pPr>
            <a:lvl3pPr marL="747600" indent="-330000">
              <a:lnSpc>
                <a:spcPct val="110000"/>
              </a:lnSpc>
              <a:spcBef>
                <a:spcPts val="0"/>
              </a:spcBef>
              <a:defRPr sz="3000"/>
            </a:lvl3pPr>
            <a:lvl4pPr marL="960000" indent="-330000">
              <a:lnSpc>
                <a:spcPct val="110000"/>
              </a:lnSpc>
              <a:spcBef>
                <a:spcPts val="0"/>
              </a:spcBef>
              <a:defRPr sz="3000"/>
            </a:lvl4pPr>
            <a:lvl5pPr marL="1157999" indent="-330000">
              <a:lnSpc>
                <a:spcPct val="110000"/>
              </a:lnSpc>
              <a:spcBef>
                <a:spcPts val="0"/>
              </a:spcBef>
              <a:defRPr sz="3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35" name="ESS.png" descr="E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250" y="252000"/>
            <a:ext cx="1138321" cy="612001"/>
          </a:xfrm>
          <a:prstGeom prst="rect">
            <a:avLst/>
          </a:prstGeom>
          <a:ln w="12700">
            <a:miter lim="400000"/>
          </a:ln>
        </p:spPr>
      </p:pic>
      <p:sp>
        <p:nvSpPr>
          <p:cNvPr id="36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2021 ISIS McStas school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44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" name="Title Text"/>
          <p:cNvSpPr txBox="1"/>
          <p:nvPr>
            <p:ph type="title"/>
          </p:nvPr>
        </p:nvSpPr>
        <p:spPr>
          <a:xfrm>
            <a:off x="1774725" y="426126"/>
            <a:ext cx="9312376" cy="97271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7" name="Body Level One…"/>
          <p:cNvSpPr txBox="1"/>
          <p:nvPr>
            <p:ph type="body" idx="1"/>
          </p:nvPr>
        </p:nvSpPr>
        <p:spPr>
          <a:xfrm>
            <a:off x="1774800" y="1706399"/>
            <a:ext cx="9312375" cy="4545579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49" name="ESS.png" descr="E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250" y="252000"/>
            <a:ext cx="1138321" cy="612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2" name="Group"/>
          <p:cNvGrpSpPr/>
          <p:nvPr/>
        </p:nvGrpSpPr>
        <p:grpSpPr>
          <a:xfrm>
            <a:off x="17068" y="935881"/>
            <a:ext cx="1506786" cy="5584238"/>
            <a:chOff x="0" y="0"/>
            <a:chExt cx="1506784" cy="5584236"/>
          </a:xfrm>
        </p:grpSpPr>
        <p:pic>
          <p:nvPicPr>
            <p:cNvPr id="50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1506785" cy="55842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1" name="Rectangle"/>
            <p:cNvSpPr/>
            <p:nvPr/>
          </p:nvSpPr>
          <p:spPr>
            <a:xfrm>
              <a:off x="26491" y="29555"/>
              <a:ext cx="1453952" cy="79170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grpSp>
          <p:nvGrpSpPr>
            <p:cNvPr id="60" name="Group"/>
            <p:cNvGrpSpPr/>
            <p:nvPr/>
          </p:nvGrpSpPr>
          <p:grpSpPr>
            <a:xfrm>
              <a:off x="161144" y="50051"/>
              <a:ext cx="1271028" cy="5510910"/>
              <a:chOff x="0" y="0"/>
              <a:chExt cx="1271027" cy="5510908"/>
            </a:xfrm>
          </p:grpSpPr>
          <p:sp>
            <p:nvSpPr>
              <p:cNvPr id="52" name="2025 ISIS McStas School"/>
              <p:cNvSpPr txBox="1"/>
              <p:nvPr/>
            </p:nvSpPr>
            <p:spPr>
              <a:xfrm>
                <a:off x="0" y="4478221"/>
                <a:ext cx="1184497" cy="10326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b">
                <a:normAutofit fontScale="100000" lnSpcReduction="0"/>
              </a:bodyPr>
              <a:lstStyle/>
              <a:p>
                <a:pPr algn="ctr" defTabSz="521208">
                  <a:lnSpc>
                    <a:spcPct val="110000"/>
                  </a:lnSpc>
                  <a:spcBef>
                    <a:spcPts val="0"/>
                  </a:spcBef>
                  <a:defRPr b="1" i="1" sz="2109">
                    <a:solidFill>
                      <a:srgbClr val="FFFFFF"/>
                    </a:solidFill>
                  </a:defRPr>
                </a:pPr>
                <a:r>
                  <a:t>2025 ISIS</a:t>
                </a:r>
                <a:br/>
                <a:r>
                  <a:t>McStas School</a:t>
                </a:r>
              </a:p>
            </p:txBody>
          </p:sp>
          <p:grpSp>
            <p:nvGrpSpPr>
              <p:cNvPr id="59" name="Group"/>
              <p:cNvGrpSpPr/>
              <p:nvPr/>
            </p:nvGrpSpPr>
            <p:grpSpPr>
              <a:xfrm>
                <a:off x="545266" y="-1"/>
                <a:ext cx="725762" cy="757651"/>
                <a:chOff x="0" y="0"/>
                <a:chExt cx="725761" cy="757649"/>
              </a:xfrm>
            </p:grpSpPr>
            <p:sp>
              <p:nvSpPr>
                <p:cNvPr id="53" name="Logo color"/>
                <p:cNvSpPr/>
                <p:nvPr/>
              </p:nvSpPr>
              <p:spPr>
                <a:xfrm>
                  <a:off x="2507" y="452770"/>
                  <a:ext cx="117009" cy="1706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6799" tIns="46799" rIns="46799" bIns="46799" numCol="1" anchor="t">
                  <a:noAutofit/>
                </a:bodyPr>
                <a:lstStyle/>
                <a:p>
                  <a:pPr>
                    <a:defRPr>
                      <a:latin typeface="Verdana"/>
                      <a:ea typeface="Verdana"/>
                      <a:cs typeface="Verdana"/>
                      <a:sym typeface="Verdana"/>
                    </a:defRPr>
                  </a:pPr>
                </a:p>
              </p:txBody>
            </p:sp>
            <p:pic>
              <p:nvPicPr>
                <p:cNvPr id="54" name="logoill.pdf" descr="logoill.pdf"/>
                <p:cNvPicPr>
                  <a:picLocks noChangeAspect="0"/>
                </p:cNvPicPr>
                <p:nvPr/>
              </p:nvPicPr>
              <p:blipFill>
                <a:blip r:embed="rId4">
                  <a:extLst/>
                </a:blip>
                <a:stretch>
                  <a:fillRect/>
                </a:stretch>
              </p:blipFill>
              <p:spPr>
                <a:xfrm>
                  <a:off x="486613" y="459579"/>
                  <a:ext cx="164286" cy="15703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55" name="mcstas-logo.pdf" descr="mcstas-logo.pdf"/>
                <p:cNvPicPr>
                  <a:picLocks noChangeAspect="0"/>
                </p:cNvPicPr>
                <p:nvPr/>
              </p:nvPicPr>
              <p:blipFill>
                <a:blip r:embed="rId5">
                  <a:extLst/>
                </a:blip>
                <a:srcRect l="0" t="0" r="0" b="0"/>
                <a:stretch>
                  <a:fillRect/>
                </a:stretch>
              </p:blipFill>
              <p:spPr>
                <a:xfrm>
                  <a:off x="0" y="0"/>
                  <a:ext cx="725762" cy="42645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56" name="PSI-Logo_trans.png" descr="PSI-Logo_trans.png"/>
                <p:cNvPicPr>
                  <a:picLocks noChangeAspect="0"/>
                </p:cNvPicPr>
                <p:nvPr/>
              </p:nvPicPr>
              <p:blipFill>
                <a:blip r:embed="rId6">
                  <a:extLst/>
                </a:blip>
                <a:stretch>
                  <a:fillRect/>
                </a:stretch>
              </p:blipFill>
              <p:spPr>
                <a:xfrm>
                  <a:off x="270340" y="501170"/>
                  <a:ext cx="204490" cy="7486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57" name="ku-logo.pdf" descr="ku-logo.pdf"/>
                <p:cNvPicPr>
                  <a:picLocks noChangeAspect="0"/>
                </p:cNvPicPr>
                <p:nvPr/>
              </p:nvPicPr>
              <p:blipFill>
                <a:blip r:embed="rId7">
                  <a:extLst/>
                </a:blip>
                <a:stretch>
                  <a:fillRect/>
                </a:stretch>
              </p:blipFill>
              <p:spPr>
                <a:xfrm>
                  <a:off x="131011" y="451261"/>
                  <a:ext cx="128373" cy="17441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58" name="ESS_Logo_Frugal_Blue_cmyk.png" descr="ESS_Logo_Frugal_Blue_cmyk.png"/>
                <p:cNvPicPr>
                  <a:picLocks noChangeAspect="0"/>
                </p:cNvPicPr>
                <p:nvPr/>
              </p:nvPicPr>
              <p:blipFill>
                <a:blip r:embed="rId8">
                  <a:extLst/>
                </a:blip>
                <a:stretch>
                  <a:fillRect/>
                </a:stretch>
              </p:blipFill>
              <p:spPr>
                <a:xfrm>
                  <a:off x="214914" y="607364"/>
                  <a:ext cx="279297" cy="15028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pic>
          <p:nvPicPr>
            <p:cNvPr id="61" name="Image" descr="Image"/>
            <p:cNvPicPr>
              <a:picLocks noChangeAspect="1"/>
            </p:cNvPicPr>
            <p:nvPr/>
          </p:nvPicPr>
          <p:blipFill>
            <a:blip r:embed="rId9">
              <a:extLst/>
            </a:blip>
            <a:srcRect l="0" t="0" r="77004" b="0"/>
            <a:stretch>
              <a:fillRect/>
            </a:stretch>
          </p:blipFill>
          <p:spPr>
            <a:xfrm>
              <a:off x="44293" y="62025"/>
              <a:ext cx="617630" cy="6118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63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71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" name="Title Text"/>
          <p:cNvSpPr txBox="1"/>
          <p:nvPr>
            <p:ph type="title"/>
          </p:nvPr>
        </p:nvSpPr>
        <p:spPr>
          <a:xfrm>
            <a:off x="1774725" y="426126"/>
            <a:ext cx="9312376" cy="97271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74" name="Body Level One…"/>
          <p:cNvSpPr txBox="1"/>
          <p:nvPr>
            <p:ph type="body" sz="half" idx="1"/>
          </p:nvPr>
        </p:nvSpPr>
        <p:spPr>
          <a:xfrm>
            <a:off x="1774800" y="1706398"/>
            <a:ext cx="4410177" cy="454680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76" name="ESS.png" descr="E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250" y="252000"/>
            <a:ext cx="1138321" cy="612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89" name="Group"/>
          <p:cNvGrpSpPr/>
          <p:nvPr/>
        </p:nvGrpSpPr>
        <p:grpSpPr>
          <a:xfrm>
            <a:off x="17068" y="935881"/>
            <a:ext cx="1506786" cy="5584238"/>
            <a:chOff x="0" y="0"/>
            <a:chExt cx="1506784" cy="5584236"/>
          </a:xfrm>
        </p:grpSpPr>
        <p:pic>
          <p:nvPicPr>
            <p:cNvPr id="77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1506785" cy="55842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8" name="Rectangle"/>
            <p:cNvSpPr/>
            <p:nvPr/>
          </p:nvSpPr>
          <p:spPr>
            <a:xfrm>
              <a:off x="26491" y="29555"/>
              <a:ext cx="1453952" cy="79170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grpSp>
          <p:nvGrpSpPr>
            <p:cNvPr id="87" name="Group"/>
            <p:cNvGrpSpPr/>
            <p:nvPr/>
          </p:nvGrpSpPr>
          <p:grpSpPr>
            <a:xfrm>
              <a:off x="161144" y="50051"/>
              <a:ext cx="1271028" cy="5510910"/>
              <a:chOff x="0" y="0"/>
              <a:chExt cx="1271027" cy="5510908"/>
            </a:xfrm>
          </p:grpSpPr>
          <p:sp>
            <p:nvSpPr>
              <p:cNvPr id="79" name="2025 ISIS McStas School"/>
              <p:cNvSpPr txBox="1"/>
              <p:nvPr/>
            </p:nvSpPr>
            <p:spPr>
              <a:xfrm>
                <a:off x="0" y="4478221"/>
                <a:ext cx="1184497" cy="10326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b">
                <a:normAutofit fontScale="100000" lnSpcReduction="0"/>
              </a:bodyPr>
              <a:lstStyle/>
              <a:p>
                <a:pPr algn="ctr" defTabSz="521208">
                  <a:lnSpc>
                    <a:spcPct val="110000"/>
                  </a:lnSpc>
                  <a:spcBef>
                    <a:spcPts val="0"/>
                  </a:spcBef>
                  <a:defRPr b="1" i="1" sz="2109">
                    <a:solidFill>
                      <a:srgbClr val="FFFFFF"/>
                    </a:solidFill>
                  </a:defRPr>
                </a:pPr>
                <a:r>
                  <a:t>2025 ISIS</a:t>
                </a:r>
                <a:br/>
                <a:r>
                  <a:t>McStas School</a:t>
                </a:r>
              </a:p>
            </p:txBody>
          </p:sp>
          <p:grpSp>
            <p:nvGrpSpPr>
              <p:cNvPr id="86" name="Group"/>
              <p:cNvGrpSpPr/>
              <p:nvPr/>
            </p:nvGrpSpPr>
            <p:grpSpPr>
              <a:xfrm>
                <a:off x="545266" y="-1"/>
                <a:ext cx="725762" cy="757651"/>
                <a:chOff x="0" y="0"/>
                <a:chExt cx="725761" cy="757649"/>
              </a:xfrm>
            </p:grpSpPr>
            <p:sp>
              <p:nvSpPr>
                <p:cNvPr id="80" name="Logo color"/>
                <p:cNvSpPr/>
                <p:nvPr/>
              </p:nvSpPr>
              <p:spPr>
                <a:xfrm>
                  <a:off x="2507" y="452770"/>
                  <a:ext cx="117009" cy="1706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6799" tIns="46799" rIns="46799" bIns="46799" numCol="1" anchor="t">
                  <a:noAutofit/>
                </a:bodyPr>
                <a:lstStyle/>
                <a:p>
                  <a:pPr>
                    <a:defRPr>
                      <a:latin typeface="Verdana"/>
                      <a:ea typeface="Verdana"/>
                      <a:cs typeface="Verdana"/>
                      <a:sym typeface="Verdana"/>
                    </a:defRPr>
                  </a:pPr>
                </a:p>
              </p:txBody>
            </p:sp>
            <p:pic>
              <p:nvPicPr>
                <p:cNvPr id="81" name="logoill.pdf" descr="logoill.pdf"/>
                <p:cNvPicPr>
                  <a:picLocks noChangeAspect="0"/>
                </p:cNvPicPr>
                <p:nvPr/>
              </p:nvPicPr>
              <p:blipFill>
                <a:blip r:embed="rId4">
                  <a:extLst/>
                </a:blip>
                <a:stretch>
                  <a:fillRect/>
                </a:stretch>
              </p:blipFill>
              <p:spPr>
                <a:xfrm>
                  <a:off x="486613" y="459579"/>
                  <a:ext cx="164286" cy="15703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82" name="mcstas-logo.pdf" descr="mcstas-logo.pdf"/>
                <p:cNvPicPr>
                  <a:picLocks noChangeAspect="0"/>
                </p:cNvPicPr>
                <p:nvPr/>
              </p:nvPicPr>
              <p:blipFill>
                <a:blip r:embed="rId5">
                  <a:extLst/>
                </a:blip>
                <a:srcRect l="0" t="0" r="0" b="0"/>
                <a:stretch>
                  <a:fillRect/>
                </a:stretch>
              </p:blipFill>
              <p:spPr>
                <a:xfrm>
                  <a:off x="0" y="0"/>
                  <a:ext cx="725762" cy="42645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83" name="PSI-Logo_trans.png" descr="PSI-Logo_trans.png"/>
                <p:cNvPicPr>
                  <a:picLocks noChangeAspect="0"/>
                </p:cNvPicPr>
                <p:nvPr/>
              </p:nvPicPr>
              <p:blipFill>
                <a:blip r:embed="rId6">
                  <a:extLst/>
                </a:blip>
                <a:stretch>
                  <a:fillRect/>
                </a:stretch>
              </p:blipFill>
              <p:spPr>
                <a:xfrm>
                  <a:off x="270340" y="501170"/>
                  <a:ext cx="204490" cy="7486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84" name="ku-logo.pdf" descr="ku-logo.pdf"/>
                <p:cNvPicPr>
                  <a:picLocks noChangeAspect="0"/>
                </p:cNvPicPr>
                <p:nvPr/>
              </p:nvPicPr>
              <p:blipFill>
                <a:blip r:embed="rId7">
                  <a:extLst/>
                </a:blip>
                <a:stretch>
                  <a:fillRect/>
                </a:stretch>
              </p:blipFill>
              <p:spPr>
                <a:xfrm>
                  <a:off x="131011" y="451261"/>
                  <a:ext cx="128373" cy="17441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85" name="ESS_Logo_Frugal_Blue_cmyk.png" descr="ESS_Logo_Frugal_Blue_cmyk.png"/>
                <p:cNvPicPr>
                  <a:picLocks noChangeAspect="0"/>
                </p:cNvPicPr>
                <p:nvPr/>
              </p:nvPicPr>
              <p:blipFill>
                <a:blip r:embed="rId8">
                  <a:extLst/>
                </a:blip>
                <a:stretch>
                  <a:fillRect/>
                </a:stretch>
              </p:blipFill>
              <p:spPr>
                <a:xfrm>
                  <a:off x="214914" y="607364"/>
                  <a:ext cx="279297" cy="15028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pic>
          <p:nvPicPr>
            <p:cNvPr id="88" name="Image" descr="Image"/>
            <p:cNvPicPr>
              <a:picLocks noChangeAspect="1"/>
            </p:cNvPicPr>
            <p:nvPr/>
          </p:nvPicPr>
          <p:blipFill>
            <a:blip r:embed="rId9">
              <a:extLst/>
            </a:blip>
            <a:srcRect l="0" t="0" r="77004" b="0"/>
            <a:stretch>
              <a:fillRect/>
            </a:stretch>
          </p:blipFill>
          <p:spPr>
            <a:xfrm>
              <a:off x="44293" y="62025"/>
              <a:ext cx="617630" cy="6118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0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98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" name="Title Text"/>
          <p:cNvSpPr txBox="1"/>
          <p:nvPr>
            <p:ph type="title"/>
          </p:nvPr>
        </p:nvSpPr>
        <p:spPr>
          <a:xfrm>
            <a:off x="1774725" y="426126"/>
            <a:ext cx="6048673" cy="97271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01" name="Body Level One…"/>
          <p:cNvSpPr txBox="1"/>
          <p:nvPr>
            <p:ph type="body" sz="half" idx="1"/>
          </p:nvPr>
        </p:nvSpPr>
        <p:spPr>
          <a:xfrm>
            <a:off x="1774725" y="1706328"/>
            <a:ext cx="6048673" cy="454557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2" name="Picture Placeholder 9"/>
          <p:cNvSpPr/>
          <p:nvPr>
            <p:ph type="pic" sz="quarter" idx="21"/>
          </p:nvPr>
        </p:nvSpPr>
        <p:spPr>
          <a:xfrm>
            <a:off x="8331213" y="849733"/>
            <a:ext cx="3859201" cy="2505601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103" name="Picture Placeholder 11"/>
          <p:cNvSpPr/>
          <p:nvPr>
            <p:ph type="pic" sz="quarter" idx="22"/>
          </p:nvPr>
        </p:nvSpPr>
        <p:spPr>
          <a:xfrm>
            <a:off x="8331213" y="3563718"/>
            <a:ext cx="3859201" cy="2505601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10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05" name="ESS.png" descr="E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250" y="252000"/>
            <a:ext cx="1138321" cy="612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18" name="Group"/>
          <p:cNvGrpSpPr/>
          <p:nvPr/>
        </p:nvGrpSpPr>
        <p:grpSpPr>
          <a:xfrm>
            <a:off x="17068" y="935881"/>
            <a:ext cx="1506786" cy="5584238"/>
            <a:chOff x="0" y="0"/>
            <a:chExt cx="1506784" cy="5584236"/>
          </a:xfrm>
        </p:grpSpPr>
        <p:pic>
          <p:nvPicPr>
            <p:cNvPr id="106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1506785" cy="55842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07" name="Rectangle"/>
            <p:cNvSpPr/>
            <p:nvPr/>
          </p:nvSpPr>
          <p:spPr>
            <a:xfrm>
              <a:off x="26491" y="29555"/>
              <a:ext cx="1453952" cy="79170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grpSp>
          <p:nvGrpSpPr>
            <p:cNvPr id="116" name="Group"/>
            <p:cNvGrpSpPr/>
            <p:nvPr/>
          </p:nvGrpSpPr>
          <p:grpSpPr>
            <a:xfrm>
              <a:off x="161144" y="50051"/>
              <a:ext cx="1271028" cy="5510910"/>
              <a:chOff x="0" y="0"/>
              <a:chExt cx="1271027" cy="5510908"/>
            </a:xfrm>
          </p:grpSpPr>
          <p:sp>
            <p:nvSpPr>
              <p:cNvPr id="108" name="2025 ISIS McStas School"/>
              <p:cNvSpPr txBox="1"/>
              <p:nvPr/>
            </p:nvSpPr>
            <p:spPr>
              <a:xfrm>
                <a:off x="0" y="4478221"/>
                <a:ext cx="1184497" cy="10326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b">
                <a:normAutofit fontScale="100000" lnSpcReduction="0"/>
              </a:bodyPr>
              <a:lstStyle/>
              <a:p>
                <a:pPr algn="ctr" defTabSz="521208">
                  <a:lnSpc>
                    <a:spcPct val="110000"/>
                  </a:lnSpc>
                  <a:spcBef>
                    <a:spcPts val="0"/>
                  </a:spcBef>
                  <a:defRPr b="1" i="1" sz="2109">
                    <a:solidFill>
                      <a:srgbClr val="FFFFFF"/>
                    </a:solidFill>
                  </a:defRPr>
                </a:pPr>
                <a:r>
                  <a:t>2025 ISIS</a:t>
                </a:r>
                <a:br/>
                <a:r>
                  <a:t>McStas School</a:t>
                </a:r>
              </a:p>
            </p:txBody>
          </p:sp>
          <p:grpSp>
            <p:nvGrpSpPr>
              <p:cNvPr id="115" name="Group"/>
              <p:cNvGrpSpPr/>
              <p:nvPr/>
            </p:nvGrpSpPr>
            <p:grpSpPr>
              <a:xfrm>
                <a:off x="545266" y="-1"/>
                <a:ext cx="725762" cy="757651"/>
                <a:chOff x="0" y="0"/>
                <a:chExt cx="725761" cy="757649"/>
              </a:xfrm>
            </p:grpSpPr>
            <p:sp>
              <p:nvSpPr>
                <p:cNvPr id="109" name="Logo color"/>
                <p:cNvSpPr/>
                <p:nvPr/>
              </p:nvSpPr>
              <p:spPr>
                <a:xfrm>
                  <a:off x="2507" y="452770"/>
                  <a:ext cx="117009" cy="1706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6799" tIns="46799" rIns="46799" bIns="46799" numCol="1" anchor="t">
                  <a:noAutofit/>
                </a:bodyPr>
                <a:lstStyle/>
                <a:p>
                  <a:pPr>
                    <a:defRPr>
                      <a:latin typeface="Verdana"/>
                      <a:ea typeface="Verdana"/>
                      <a:cs typeface="Verdana"/>
                      <a:sym typeface="Verdana"/>
                    </a:defRPr>
                  </a:pPr>
                </a:p>
              </p:txBody>
            </p:sp>
            <p:pic>
              <p:nvPicPr>
                <p:cNvPr id="110" name="logoill.pdf" descr="logoill.pdf"/>
                <p:cNvPicPr>
                  <a:picLocks noChangeAspect="0"/>
                </p:cNvPicPr>
                <p:nvPr/>
              </p:nvPicPr>
              <p:blipFill>
                <a:blip r:embed="rId4">
                  <a:extLst/>
                </a:blip>
                <a:stretch>
                  <a:fillRect/>
                </a:stretch>
              </p:blipFill>
              <p:spPr>
                <a:xfrm>
                  <a:off x="486613" y="459579"/>
                  <a:ext cx="164286" cy="15703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11" name="mcstas-logo.pdf" descr="mcstas-logo.pdf"/>
                <p:cNvPicPr>
                  <a:picLocks noChangeAspect="0"/>
                </p:cNvPicPr>
                <p:nvPr/>
              </p:nvPicPr>
              <p:blipFill>
                <a:blip r:embed="rId5">
                  <a:extLst/>
                </a:blip>
                <a:srcRect l="0" t="0" r="0" b="0"/>
                <a:stretch>
                  <a:fillRect/>
                </a:stretch>
              </p:blipFill>
              <p:spPr>
                <a:xfrm>
                  <a:off x="0" y="0"/>
                  <a:ext cx="725762" cy="42645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12" name="PSI-Logo_trans.png" descr="PSI-Logo_trans.png"/>
                <p:cNvPicPr>
                  <a:picLocks noChangeAspect="0"/>
                </p:cNvPicPr>
                <p:nvPr/>
              </p:nvPicPr>
              <p:blipFill>
                <a:blip r:embed="rId6">
                  <a:extLst/>
                </a:blip>
                <a:stretch>
                  <a:fillRect/>
                </a:stretch>
              </p:blipFill>
              <p:spPr>
                <a:xfrm>
                  <a:off x="270340" y="501170"/>
                  <a:ext cx="204490" cy="7486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13" name="ku-logo.pdf" descr="ku-logo.pdf"/>
                <p:cNvPicPr>
                  <a:picLocks noChangeAspect="0"/>
                </p:cNvPicPr>
                <p:nvPr/>
              </p:nvPicPr>
              <p:blipFill>
                <a:blip r:embed="rId7">
                  <a:extLst/>
                </a:blip>
                <a:stretch>
                  <a:fillRect/>
                </a:stretch>
              </p:blipFill>
              <p:spPr>
                <a:xfrm>
                  <a:off x="131011" y="451261"/>
                  <a:ext cx="128373" cy="17441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14" name="ESS_Logo_Frugal_Blue_cmyk.png" descr="ESS_Logo_Frugal_Blue_cmyk.png"/>
                <p:cNvPicPr>
                  <a:picLocks noChangeAspect="0"/>
                </p:cNvPicPr>
                <p:nvPr/>
              </p:nvPicPr>
              <p:blipFill>
                <a:blip r:embed="rId8">
                  <a:extLst/>
                </a:blip>
                <a:stretch>
                  <a:fillRect/>
                </a:stretch>
              </p:blipFill>
              <p:spPr>
                <a:xfrm>
                  <a:off x="214914" y="607364"/>
                  <a:ext cx="279297" cy="15028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pic>
          <p:nvPicPr>
            <p:cNvPr id="117" name="Image" descr="Image"/>
            <p:cNvPicPr>
              <a:picLocks noChangeAspect="1"/>
            </p:cNvPicPr>
            <p:nvPr/>
          </p:nvPicPr>
          <p:blipFill>
            <a:blip r:embed="rId9">
              <a:extLst/>
            </a:blip>
            <a:srcRect l="0" t="0" r="77004" b="0"/>
            <a:stretch>
              <a:fillRect/>
            </a:stretch>
          </p:blipFill>
          <p:spPr>
            <a:xfrm>
              <a:off x="44293" y="62025"/>
              <a:ext cx="617630" cy="6118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19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127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" name="Title Text"/>
          <p:cNvSpPr txBox="1"/>
          <p:nvPr>
            <p:ph type="title"/>
          </p:nvPr>
        </p:nvSpPr>
        <p:spPr>
          <a:xfrm>
            <a:off x="4221360" y="426126"/>
            <a:ext cx="6865740" cy="97271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30" name="Body Level One…"/>
          <p:cNvSpPr txBox="1"/>
          <p:nvPr>
            <p:ph type="body" sz="half" idx="1"/>
          </p:nvPr>
        </p:nvSpPr>
        <p:spPr>
          <a:xfrm>
            <a:off x="4221360" y="1706328"/>
            <a:ext cx="6865740" cy="454557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1" name="Picture Placeholder 9"/>
          <p:cNvSpPr/>
          <p:nvPr>
            <p:ph type="pic" sz="quarter" idx="21"/>
          </p:nvPr>
        </p:nvSpPr>
        <p:spPr>
          <a:xfrm>
            <a:off x="-2" y="1314522"/>
            <a:ext cx="3708002" cy="2455201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132" name="Picture Placeholder 11"/>
          <p:cNvSpPr/>
          <p:nvPr>
            <p:ph type="pic" sz="quarter" idx="22"/>
          </p:nvPr>
        </p:nvSpPr>
        <p:spPr>
          <a:xfrm>
            <a:off x="-2" y="3968153"/>
            <a:ext cx="3708002" cy="2455201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13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34" name="ESS.png" descr="E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250" y="252000"/>
            <a:ext cx="1138321" cy="612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47" name="Group"/>
          <p:cNvGrpSpPr/>
          <p:nvPr/>
        </p:nvGrpSpPr>
        <p:grpSpPr>
          <a:xfrm>
            <a:off x="10644799" y="935881"/>
            <a:ext cx="1506786" cy="5584238"/>
            <a:chOff x="0" y="0"/>
            <a:chExt cx="1506784" cy="5584236"/>
          </a:xfrm>
        </p:grpSpPr>
        <p:pic>
          <p:nvPicPr>
            <p:cNvPr id="135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1506785" cy="55842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6" name="Rectangle"/>
            <p:cNvSpPr/>
            <p:nvPr/>
          </p:nvSpPr>
          <p:spPr>
            <a:xfrm>
              <a:off x="26491" y="29555"/>
              <a:ext cx="1453952" cy="79170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grpSp>
          <p:nvGrpSpPr>
            <p:cNvPr id="145" name="Group"/>
            <p:cNvGrpSpPr/>
            <p:nvPr/>
          </p:nvGrpSpPr>
          <p:grpSpPr>
            <a:xfrm>
              <a:off x="161144" y="50051"/>
              <a:ext cx="1271028" cy="5510910"/>
              <a:chOff x="0" y="0"/>
              <a:chExt cx="1271027" cy="5510908"/>
            </a:xfrm>
          </p:grpSpPr>
          <p:sp>
            <p:nvSpPr>
              <p:cNvPr id="137" name="2021 Virtual ISIS McStas School"/>
              <p:cNvSpPr txBox="1"/>
              <p:nvPr/>
            </p:nvSpPr>
            <p:spPr>
              <a:xfrm>
                <a:off x="0" y="4478221"/>
                <a:ext cx="1184497" cy="10326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b">
                <a:normAutofit fontScale="100000" lnSpcReduction="0"/>
              </a:bodyPr>
              <a:lstStyle/>
              <a:p>
                <a:pPr algn="ctr" defTabSz="393192">
                  <a:lnSpc>
                    <a:spcPct val="110000"/>
                  </a:lnSpc>
                  <a:spcBef>
                    <a:spcPts val="0"/>
                  </a:spcBef>
                  <a:defRPr b="1" i="1" sz="1591">
                    <a:solidFill>
                      <a:srgbClr val="FFFFFF"/>
                    </a:solidFill>
                  </a:defRPr>
                </a:pPr>
                <a:r>
                  <a:t>2021 Virtual ISIS</a:t>
                </a:r>
                <a:br/>
                <a:r>
                  <a:t>McStas School</a:t>
                </a:r>
              </a:p>
            </p:txBody>
          </p:sp>
          <p:grpSp>
            <p:nvGrpSpPr>
              <p:cNvPr id="144" name="Group"/>
              <p:cNvGrpSpPr/>
              <p:nvPr/>
            </p:nvGrpSpPr>
            <p:grpSpPr>
              <a:xfrm>
                <a:off x="545266" y="-1"/>
                <a:ext cx="725762" cy="757651"/>
                <a:chOff x="0" y="0"/>
                <a:chExt cx="725761" cy="757649"/>
              </a:xfrm>
            </p:grpSpPr>
            <p:sp>
              <p:nvSpPr>
                <p:cNvPr id="138" name="Logo color"/>
                <p:cNvSpPr/>
                <p:nvPr/>
              </p:nvSpPr>
              <p:spPr>
                <a:xfrm>
                  <a:off x="2507" y="452770"/>
                  <a:ext cx="117009" cy="1706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6799" tIns="46799" rIns="46799" bIns="46799" numCol="1" anchor="t">
                  <a:noAutofit/>
                </a:bodyPr>
                <a:lstStyle/>
                <a:p>
                  <a:pPr>
                    <a:defRPr>
                      <a:latin typeface="Verdana"/>
                      <a:ea typeface="Verdana"/>
                      <a:cs typeface="Verdana"/>
                      <a:sym typeface="Verdana"/>
                    </a:defRPr>
                  </a:pPr>
                </a:p>
              </p:txBody>
            </p:sp>
            <p:pic>
              <p:nvPicPr>
                <p:cNvPr id="139" name="logoill.pdf" descr="logoill.pdf"/>
                <p:cNvPicPr>
                  <a:picLocks noChangeAspect="0"/>
                </p:cNvPicPr>
                <p:nvPr/>
              </p:nvPicPr>
              <p:blipFill>
                <a:blip r:embed="rId4">
                  <a:extLst/>
                </a:blip>
                <a:stretch>
                  <a:fillRect/>
                </a:stretch>
              </p:blipFill>
              <p:spPr>
                <a:xfrm>
                  <a:off x="486613" y="459579"/>
                  <a:ext cx="164286" cy="15703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40" name="mcstas-logo.pdf" descr="mcstas-logo.pdf"/>
                <p:cNvPicPr>
                  <a:picLocks noChangeAspect="0"/>
                </p:cNvPicPr>
                <p:nvPr/>
              </p:nvPicPr>
              <p:blipFill>
                <a:blip r:embed="rId5">
                  <a:extLst/>
                </a:blip>
                <a:srcRect l="0" t="0" r="0" b="0"/>
                <a:stretch>
                  <a:fillRect/>
                </a:stretch>
              </p:blipFill>
              <p:spPr>
                <a:xfrm>
                  <a:off x="0" y="0"/>
                  <a:ext cx="725762" cy="42645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41" name="PSI-Logo_trans.png" descr="PSI-Logo_trans.png"/>
                <p:cNvPicPr>
                  <a:picLocks noChangeAspect="0"/>
                </p:cNvPicPr>
                <p:nvPr/>
              </p:nvPicPr>
              <p:blipFill>
                <a:blip r:embed="rId6">
                  <a:extLst/>
                </a:blip>
                <a:stretch>
                  <a:fillRect/>
                </a:stretch>
              </p:blipFill>
              <p:spPr>
                <a:xfrm>
                  <a:off x="270340" y="501170"/>
                  <a:ext cx="204490" cy="7486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42" name="ku-logo.pdf" descr="ku-logo.pdf"/>
                <p:cNvPicPr>
                  <a:picLocks noChangeAspect="0"/>
                </p:cNvPicPr>
                <p:nvPr/>
              </p:nvPicPr>
              <p:blipFill>
                <a:blip r:embed="rId7">
                  <a:extLst/>
                </a:blip>
                <a:stretch>
                  <a:fillRect/>
                </a:stretch>
              </p:blipFill>
              <p:spPr>
                <a:xfrm>
                  <a:off x="131011" y="451261"/>
                  <a:ext cx="128373" cy="17441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43" name="ESS_Logo_Frugal_Blue_cmyk.png" descr="ESS_Logo_Frugal_Blue_cmyk.png"/>
                <p:cNvPicPr>
                  <a:picLocks noChangeAspect="0"/>
                </p:cNvPicPr>
                <p:nvPr/>
              </p:nvPicPr>
              <p:blipFill>
                <a:blip r:embed="rId8">
                  <a:extLst/>
                </a:blip>
                <a:stretch>
                  <a:fillRect/>
                </a:stretch>
              </p:blipFill>
              <p:spPr>
                <a:xfrm>
                  <a:off x="214914" y="607364"/>
                  <a:ext cx="279297" cy="15028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pic>
          <p:nvPicPr>
            <p:cNvPr id="146" name="Image" descr="Image"/>
            <p:cNvPicPr>
              <a:picLocks noChangeAspect="1"/>
            </p:cNvPicPr>
            <p:nvPr/>
          </p:nvPicPr>
          <p:blipFill>
            <a:blip r:embed="rId9">
              <a:extLst/>
            </a:blip>
            <a:srcRect l="0" t="0" r="77004" b="0"/>
            <a:stretch>
              <a:fillRect/>
            </a:stretch>
          </p:blipFill>
          <p:spPr>
            <a:xfrm>
              <a:off x="44293" y="62025"/>
              <a:ext cx="617630" cy="6118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48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156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" name="Title Text"/>
          <p:cNvSpPr txBox="1"/>
          <p:nvPr>
            <p:ph type="title"/>
          </p:nvPr>
        </p:nvSpPr>
        <p:spPr>
          <a:xfrm>
            <a:off x="247650" y="980726"/>
            <a:ext cx="3740400" cy="418116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 sz="2400"/>
            </a:lvl1pPr>
          </a:lstStyle>
          <a:p>
            <a:pPr/>
            <a:r>
              <a:t>Title Text</a:t>
            </a:r>
          </a:p>
        </p:txBody>
      </p:sp>
      <p:sp>
        <p:nvSpPr>
          <p:cNvPr id="159" name="Body Level One…"/>
          <p:cNvSpPr txBox="1"/>
          <p:nvPr>
            <p:ph type="body" sz="quarter" idx="1"/>
          </p:nvPr>
        </p:nvSpPr>
        <p:spPr>
          <a:xfrm>
            <a:off x="247650" y="4407149"/>
            <a:ext cx="3740400" cy="1844426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200"/>
              </a:spcBef>
              <a:defRPr sz="1200"/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200"/>
              </a:spcBef>
              <a:defRPr sz="1200"/>
            </a:lvl3pPr>
            <a:lvl4pPr>
              <a:spcBef>
                <a:spcPts val="200"/>
              </a:spcBef>
              <a:defRPr sz="1200"/>
            </a:lvl4pPr>
            <a:lvl5pPr>
              <a:spcBef>
                <a:spcPts val="200"/>
              </a:spcBef>
              <a:defRPr sz="1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0" name="Text Placeholder 18"/>
          <p:cNvSpPr/>
          <p:nvPr>
            <p:ph type="body" sz="quarter" idx="21"/>
          </p:nvPr>
        </p:nvSpPr>
        <p:spPr>
          <a:xfrm>
            <a:off x="4222750" y="979200"/>
            <a:ext cx="3740400" cy="417768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/>
          <a:p>
            <a:pPr marL="0" indent="0">
              <a:spcBef>
                <a:spcPts val="500"/>
              </a:spcBef>
              <a:buSzTx/>
              <a:buNone/>
              <a:defRPr b="1" sz="2400"/>
            </a:pPr>
          </a:p>
        </p:txBody>
      </p:sp>
      <p:sp>
        <p:nvSpPr>
          <p:cNvPr id="161" name="Text Placeholder 22"/>
          <p:cNvSpPr/>
          <p:nvPr>
            <p:ph type="body" sz="quarter" idx="22"/>
          </p:nvPr>
        </p:nvSpPr>
        <p:spPr>
          <a:xfrm>
            <a:off x="8197850" y="979200"/>
            <a:ext cx="3740400" cy="417768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/>
          <a:p>
            <a:pPr marL="0" indent="0">
              <a:spcBef>
                <a:spcPts val="500"/>
              </a:spcBef>
              <a:buSzTx/>
              <a:buNone/>
              <a:defRPr b="1" sz="2400"/>
            </a:pPr>
          </a:p>
        </p:txBody>
      </p:sp>
      <p:sp>
        <p:nvSpPr>
          <p:cNvPr id="162" name="Picture Placeholder 8"/>
          <p:cNvSpPr/>
          <p:nvPr>
            <p:ph type="pic" sz="quarter" idx="23"/>
          </p:nvPr>
        </p:nvSpPr>
        <p:spPr>
          <a:xfrm>
            <a:off x="247650" y="1546281"/>
            <a:ext cx="3740400" cy="2664001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163" name="Picture Placeholder 8"/>
          <p:cNvSpPr/>
          <p:nvPr>
            <p:ph type="pic" sz="quarter" idx="24"/>
          </p:nvPr>
        </p:nvSpPr>
        <p:spPr>
          <a:xfrm>
            <a:off x="4223148" y="1548580"/>
            <a:ext cx="3740401" cy="2664001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164" name="Picture Placeholder 8"/>
          <p:cNvSpPr/>
          <p:nvPr>
            <p:ph type="pic" sz="quarter" idx="25"/>
          </p:nvPr>
        </p:nvSpPr>
        <p:spPr>
          <a:xfrm>
            <a:off x="8198647" y="1546281"/>
            <a:ext cx="3740401" cy="2664001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1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66" name="ESS.png" descr="E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250" y="252000"/>
            <a:ext cx="1138321" cy="612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3" name="Group"/>
          <p:cNvGrpSpPr/>
          <p:nvPr/>
        </p:nvGrpSpPr>
        <p:grpSpPr>
          <a:xfrm>
            <a:off x="3113296" y="251999"/>
            <a:ext cx="690137" cy="720460"/>
            <a:chOff x="0" y="0"/>
            <a:chExt cx="690135" cy="720458"/>
          </a:xfrm>
        </p:grpSpPr>
        <p:sp>
          <p:nvSpPr>
            <p:cNvPr id="167" name="Logo color"/>
            <p:cNvSpPr/>
            <p:nvPr/>
          </p:nvSpPr>
          <p:spPr>
            <a:xfrm>
              <a:off x="2384" y="430544"/>
              <a:ext cx="111265" cy="1622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597" y="18293"/>
                  </a:moveTo>
                  <a:cubicBezTo>
                    <a:pt x="10549" y="19881"/>
                    <a:pt x="11051" y="19881"/>
                    <a:pt x="17003" y="18293"/>
                  </a:cubicBezTo>
                  <a:cubicBezTo>
                    <a:pt x="17003" y="18293"/>
                    <a:pt x="17003" y="18293"/>
                    <a:pt x="21600" y="19949"/>
                  </a:cubicBezTo>
                  <a:cubicBezTo>
                    <a:pt x="21600" y="19949"/>
                    <a:pt x="21600" y="19949"/>
                    <a:pt x="17003" y="21600"/>
                  </a:cubicBezTo>
                  <a:cubicBezTo>
                    <a:pt x="11051" y="20016"/>
                    <a:pt x="10549" y="20016"/>
                    <a:pt x="4597" y="21600"/>
                  </a:cubicBezTo>
                  <a:cubicBezTo>
                    <a:pt x="4597" y="21600"/>
                    <a:pt x="4597" y="21600"/>
                    <a:pt x="0" y="19949"/>
                  </a:cubicBezTo>
                  <a:cubicBezTo>
                    <a:pt x="0" y="19949"/>
                    <a:pt x="0" y="19949"/>
                    <a:pt x="4597" y="18293"/>
                  </a:cubicBezTo>
                  <a:close/>
                  <a:moveTo>
                    <a:pt x="4597" y="14200"/>
                  </a:moveTo>
                  <a:cubicBezTo>
                    <a:pt x="10549" y="15790"/>
                    <a:pt x="11051" y="15790"/>
                    <a:pt x="17003" y="14200"/>
                  </a:cubicBezTo>
                  <a:cubicBezTo>
                    <a:pt x="17003" y="14200"/>
                    <a:pt x="17003" y="14200"/>
                    <a:pt x="21600" y="15858"/>
                  </a:cubicBezTo>
                  <a:cubicBezTo>
                    <a:pt x="21600" y="15858"/>
                    <a:pt x="21600" y="15858"/>
                    <a:pt x="17003" y="17512"/>
                  </a:cubicBezTo>
                  <a:cubicBezTo>
                    <a:pt x="11051" y="15925"/>
                    <a:pt x="10549" y="15925"/>
                    <a:pt x="4597" y="17512"/>
                  </a:cubicBezTo>
                  <a:cubicBezTo>
                    <a:pt x="4597" y="17512"/>
                    <a:pt x="4597" y="17512"/>
                    <a:pt x="0" y="15858"/>
                  </a:cubicBezTo>
                  <a:cubicBezTo>
                    <a:pt x="0" y="15858"/>
                    <a:pt x="0" y="15858"/>
                    <a:pt x="4597" y="14200"/>
                  </a:cubicBezTo>
                  <a:close/>
                  <a:moveTo>
                    <a:pt x="4597" y="10111"/>
                  </a:moveTo>
                  <a:cubicBezTo>
                    <a:pt x="10549" y="11702"/>
                    <a:pt x="11051" y="11702"/>
                    <a:pt x="17003" y="10111"/>
                  </a:cubicBezTo>
                  <a:cubicBezTo>
                    <a:pt x="17003" y="10111"/>
                    <a:pt x="17003" y="10111"/>
                    <a:pt x="21600" y="11769"/>
                  </a:cubicBezTo>
                  <a:cubicBezTo>
                    <a:pt x="21600" y="11769"/>
                    <a:pt x="21600" y="11769"/>
                    <a:pt x="17003" y="13423"/>
                  </a:cubicBezTo>
                  <a:cubicBezTo>
                    <a:pt x="11051" y="11837"/>
                    <a:pt x="10549" y="11837"/>
                    <a:pt x="4597" y="13423"/>
                  </a:cubicBezTo>
                  <a:cubicBezTo>
                    <a:pt x="4597" y="13423"/>
                    <a:pt x="4597" y="13423"/>
                    <a:pt x="0" y="11769"/>
                  </a:cubicBezTo>
                  <a:cubicBezTo>
                    <a:pt x="0" y="11769"/>
                    <a:pt x="0" y="11769"/>
                    <a:pt x="4597" y="10111"/>
                  </a:cubicBezTo>
                  <a:close/>
                  <a:moveTo>
                    <a:pt x="2971" y="918"/>
                  </a:moveTo>
                  <a:lnTo>
                    <a:pt x="2971" y="6926"/>
                  </a:lnTo>
                  <a:cubicBezTo>
                    <a:pt x="2971" y="6926"/>
                    <a:pt x="2971" y="6926"/>
                    <a:pt x="3980" y="6926"/>
                  </a:cubicBezTo>
                  <a:cubicBezTo>
                    <a:pt x="4430" y="6926"/>
                    <a:pt x="4695" y="6878"/>
                    <a:pt x="4903" y="6708"/>
                  </a:cubicBezTo>
                  <a:cubicBezTo>
                    <a:pt x="5220" y="6447"/>
                    <a:pt x="5249" y="5917"/>
                    <a:pt x="5249" y="4849"/>
                  </a:cubicBezTo>
                  <a:cubicBezTo>
                    <a:pt x="5249" y="4849"/>
                    <a:pt x="5249" y="4849"/>
                    <a:pt x="5249" y="2990"/>
                  </a:cubicBezTo>
                  <a:cubicBezTo>
                    <a:pt x="5249" y="1926"/>
                    <a:pt x="5220" y="1396"/>
                    <a:pt x="4903" y="1135"/>
                  </a:cubicBezTo>
                  <a:cubicBezTo>
                    <a:pt x="4695" y="965"/>
                    <a:pt x="4430" y="918"/>
                    <a:pt x="3980" y="918"/>
                  </a:cubicBezTo>
                  <a:cubicBezTo>
                    <a:pt x="3980" y="918"/>
                    <a:pt x="3980" y="918"/>
                    <a:pt x="2971" y="918"/>
                  </a:cubicBezTo>
                  <a:close/>
                  <a:moveTo>
                    <a:pt x="8068" y="0"/>
                  </a:moveTo>
                  <a:cubicBezTo>
                    <a:pt x="8068" y="0"/>
                    <a:pt x="8068" y="0"/>
                    <a:pt x="13456" y="0"/>
                  </a:cubicBezTo>
                  <a:cubicBezTo>
                    <a:pt x="13542" y="0"/>
                    <a:pt x="13594" y="16"/>
                    <a:pt x="13635" y="44"/>
                  </a:cubicBezTo>
                  <a:cubicBezTo>
                    <a:pt x="13669" y="67"/>
                    <a:pt x="13698" y="103"/>
                    <a:pt x="13698" y="162"/>
                  </a:cubicBezTo>
                  <a:cubicBezTo>
                    <a:pt x="13698" y="162"/>
                    <a:pt x="13698" y="162"/>
                    <a:pt x="13698" y="827"/>
                  </a:cubicBezTo>
                  <a:cubicBezTo>
                    <a:pt x="13698" y="886"/>
                    <a:pt x="13669" y="922"/>
                    <a:pt x="13635" y="945"/>
                  </a:cubicBezTo>
                  <a:cubicBezTo>
                    <a:pt x="13594" y="973"/>
                    <a:pt x="13542" y="989"/>
                    <a:pt x="13456" y="989"/>
                  </a:cubicBezTo>
                  <a:cubicBezTo>
                    <a:pt x="13456" y="989"/>
                    <a:pt x="13456" y="989"/>
                    <a:pt x="11731" y="989"/>
                  </a:cubicBezTo>
                  <a:cubicBezTo>
                    <a:pt x="11731" y="989"/>
                    <a:pt x="11731" y="989"/>
                    <a:pt x="11731" y="7681"/>
                  </a:cubicBezTo>
                  <a:cubicBezTo>
                    <a:pt x="11731" y="7740"/>
                    <a:pt x="11708" y="7776"/>
                    <a:pt x="11667" y="7800"/>
                  </a:cubicBezTo>
                  <a:cubicBezTo>
                    <a:pt x="11633" y="7827"/>
                    <a:pt x="11581" y="7843"/>
                    <a:pt x="11494" y="7843"/>
                  </a:cubicBezTo>
                  <a:cubicBezTo>
                    <a:pt x="11494" y="7843"/>
                    <a:pt x="11494" y="7843"/>
                    <a:pt x="10029" y="7843"/>
                  </a:cubicBezTo>
                  <a:cubicBezTo>
                    <a:pt x="9943" y="7843"/>
                    <a:pt x="9891" y="7827"/>
                    <a:pt x="9850" y="7800"/>
                  </a:cubicBezTo>
                  <a:cubicBezTo>
                    <a:pt x="9810" y="7776"/>
                    <a:pt x="9787" y="7740"/>
                    <a:pt x="9787" y="7681"/>
                  </a:cubicBezTo>
                  <a:cubicBezTo>
                    <a:pt x="9787" y="7681"/>
                    <a:pt x="9787" y="7681"/>
                    <a:pt x="9787" y="989"/>
                  </a:cubicBezTo>
                  <a:cubicBezTo>
                    <a:pt x="9787" y="989"/>
                    <a:pt x="9787" y="989"/>
                    <a:pt x="8068" y="989"/>
                  </a:cubicBezTo>
                  <a:cubicBezTo>
                    <a:pt x="7981" y="989"/>
                    <a:pt x="7929" y="973"/>
                    <a:pt x="7889" y="945"/>
                  </a:cubicBezTo>
                  <a:cubicBezTo>
                    <a:pt x="7849" y="922"/>
                    <a:pt x="7825" y="886"/>
                    <a:pt x="7825" y="827"/>
                  </a:cubicBezTo>
                  <a:cubicBezTo>
                    <a:pt x="7825" y="827"/>
                    <a:pt x="7825" y="827"/>
                    <a:pt x="7825" y="162"/>
                  </a:cubicBezTo>
                  <a:cubicBezTo>
                    <a:pt x="7825" y="103"/>
                    <a:pt x="7849" y="67"/>
                    <a:pt x="7889" y="44"/>
                  </a:cubicBezTo>
                  <a:cubicBezTo>
                    <a:pt x="7929" y="16"/>
                    <a:pt x="7981" y="0"/>
                    <a:pt x="8068" y="0"/>
                  </a:cubicBezTo>
                  <a:close/>
                  <a:moveTo>
                    <a:pt x="1390" y="0"/>
                  </a:moveTo>
                  <a:cubicBezTo>
                    <a:pt x="1390" y="0"/>
                    <a:pt x="1390" y="0"/>
                    <a:pt x="4257" y="0"/>
                  </a:cubicBezTo>
                  <a:cubicBezTo>
                    <a:pt x="5370" y="0"/>
                    <a:pt x="6051" y="174"/>
                    <a:pt x="6466" y="538"/>
                  </a:cubicBezTo>
                  <a:cubicBezTo>
                    <a:pt x="7072" y="1036"/>
                    <a:pt x="7089" y="1843"/>
                    <a:pt x="7089" y="3077"/>
                  </a:cubicBezTo>
                  <a:cubicBezTo>
                    <a:pt x="7089" y="3077"/>
                    <a:pt x="7089" y="3077"/>
                    <a:pt x="7089" y="4766"/>
                  </a:cubicBezTo>
                  <a:cubicBezTo>
                    <a:pt x="7089" y="6000"/>
                    <a:pt x="7072" y="6807"/>
                    <a:pt x="6466" y="7305"/>
                  </a:cubicBezTo>
                  <a:cubicBezTo>
                    <a:pt x="6051" y="7669"/>
                    <a:pt x="5370" y="7843"/>
                    <a:pt x="4257" y="7843"/>
                  </a:cubicBezTo>
                  <a:cubicBezTo>
                    <a:pt x="4257" y="7843"/>
                    <a:pt x="4257" y="7843"/>
                    <a:pt x="1390" y="7843"/>
                  </a:cubicBezTo>
                  <a:cubicBezTo>
                    <a:pt x="1304" y="7843"/>
                    <a:pt x="1252" y="7827"/>
                    <a:pt x="1217" y="7800"/>
                  </a:cubicBezTo>
                  <a:cubicBezTo>
                    <a:pt x="1177" y="7776"/>
                    <a:pt x="1154" y="7740"/>
                    <a:pt x="1154" y="7681"/>
                  </a:cubicBezTo>
                  <a:cubicBezTo>
                    <a:pt x="1154" y="7681"/>
                    <a:pt x="1154" y="7681"/>
                    <a:pt x="1154" y="162"/>
                  </a:cubicBezTo>
                  <a:cubicBezTo>
                    <a:pt x="1154" y="103"/>
                    <a:pt x="1177" y="67"/>
                    <a:pt x="1217" y="44"/>
                  </a:cubicBezTo>
                  <a:cubicBezTo>
                    <a:pt x="1252" y="16"/>
                    <a:pt x="1304" y="0"/>
                    <a:pt x="1390" y="0"/>
                  </a:cubicBezTo>
                  <a:close/>
                  <a:moveTo>
                    <a:pt x="14706" y="0"/>
                  </a:moveTo>
                  <a:cubicBezTo>
                    <a:pt x="14706" y="0"/>
                    <a:pt x="14706" y="0"/>
                    <a:pt x="16045" y="0"/>
                  </a:cubicBezTo>
                  <a:cubicBezTo>
                    <a:pt x="16131" y="0"/>
                    <a:pt x="16183" y="16"/>
                    <a:pt x="16224" y="44"/>
                  </a:cubicBezTo>
                  <a:cubicBezTo>
                    <a:pt x="16264" y="67"/>
                    <a:pt x="16287" y="103"/>
                    <a:pt x="16287" y="162"/>
                  </a:cubicBezTo>
                  <a:cubicBezTo>
                    <a:pt x="16287" y="162"/>
                    <a:pt x="16287" y="162"/>
                    <a:pt x="16287" y="5712"/>
                  </a:cubicBezTo>
                  <a:cubicBezTo>
                    <a:pt x="16287" y="6314"/>
                    <a:pt x="16368" y="6646"/>
                    <a:pt x="16627" y="6844"/>
                  </a:cubicBezTo>
                  <a:cubicBezTo>
                    <a:pt x="16818" y="6990"/>
                    <a:pt x="17072" y="7053"/>
                    <a:pt x="17406" y="7053"/>
                  </a:cubicBezTo>
                  <a:cubicBezTo>
                    <a:pt x="17776" y="7053"/>
                    <a:pt x="18041" y="6982"/>
                    <a:pt x="18226" y="6844"/>
                  </a:cubicBezTo>
                  <a:cubicBezTo>
                    <a:pt x="18503" y="6638"/>
                    <a:pt x="18566" y="6294"/>
                    <a:pt x="18566" y="5712"/>
                  </a:cubicBezTo>
                  <a:cubicBezTo>
                    <a:pt x="18566" y="5712"/>
                    <a:pt x="18566" y="5712"/>
                    <a:pt x="18566" y="162"/>
                  </a:cubicBezTo>
                  <a:cubicBezTo>
                    <a:pt x="18566" y="103"/>
                    <a:pt x="18589" y="67"/>
                    <a:pt x="18630" y="44"/>
                  </a:cubicBezTo>
                  <a:cubicBezTo>
                    <a:pt x="18664" y="16"/>
                    <a:pt x="18722" y="0"/>
                    <a:pt x="18803" y="0"/>
                  </a:cubicBezTo>
                  <a:cubicBezTo>
                    <a:pt x="18803" y="0"/>
                    <a:pt x="18803" y="0"/>
                    <a:pt x="20147" y="0"/>
                  </a:cubicBezTo>
                  <a:cubicBezTo>
                    <a:pt x="20234" y="0"/>
                    <a:pt x="20286" y="16"/>
                    <a:pt x="20320" y="44"/>
                  </a:cubicBezTo>
                  <a:cubicBezTo>
                    <a:pt x="20361" y="67"/>
                    <a:pt x="20384" y="103"/>
                    <a:pt x="20384" y="162"/>
                  </a:cubicBezTo>
                  <a:cubicBezTo>
                    <a:pt x="20384" y="162"/>
                    <a:pt x="20384" y="162"/>
                    <a:pt x="20384" y="5716"/>
                  </a:cubicBezTo>
                  <a:cubicBezTo>
                    <a:pt x="20384" y="6464"/>
                    <a:pt x="20257" y="6962"/>
                    <a:pt x="19732" y="7382"/>
                  </a:cubicBezTo>
                  <a:cubicBezTo>
                    <a:pt x="19287" y="7738"/>
                    <a:pt x="18560" y="7943"/>
                    <a:pt x="17430" y="7943"/>
                  </a:cubicBezTo>
                  <a:cubicBezTo>
                    <a:pt x="16316" y="7943"/>
                    <a:pt x="15583" y="7750"/>
                    <a:pt x="15093" y="7382"/>
                  </a:cubicBezTo>
                  <a:cubicBezTo>
                    <a:pt x="14625" y="7030"/>
                    <a:pt x="14469" y="6523"/>
                    <a:pt x="14469" y="5716"/>
                  </a:cubicBezTo>
                  <a:cubicBezTo>
                    <a:pt x="14469" y="5716"/>
                    <a:pt x="14469" y="5716"/>
                    <a:pt x="14469" y="162"/>
                  </a:cubicBezTo>
                  <a:cubicBezTo>
                    <a:pt x="14469" y="103"/>
                    <a:pt x="14493" y="67"/>
                    <a:pt x="14527" y="44"/>
                  </a:cubicBezTo>
                  <a:cubicBezTo>
                    <a:pt x="14568" y="16"/>
                    <a:pt x="14620" y="0"/>
                    <a:pt x="14706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t">
              <a:noAutofit/>
            </a:bodyPr>
            <a:lstStyle/>
            <a:p>
              <a:pPr>
                <a:defRPr>
                  <a:latin typeface="Verdana"/>
                  <a:ea typeface="Verdana"/>
                  <a:cs typeface="Verdana"/>
                  <a:sym typeface="Verdana"/>
                </a:defRPr>
              </a:pPr>
            </a:p>
          </p:txBody>
        </p:sp>
        <p:pic>
          <p:nvPicPr>
            <p:cNvPr id="168" name="logoill.pdf" descr="logoill.pdf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462727" y="437019"/>
              <a:ext cx="156220" cy="14932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9" name="mcstas-logo.pdf" descr="mcstas-logo.pdf"/>
            <p:cNvPicPr>
              <a:picLocks noChangeAspect="0"/>
            </p:cNvPicPr>
            <p:nvPr/>
          </p:nvPicPr>
          <p:blipFill>
            <a:blip r:embed="rId4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690136" cy="4055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0" name="PSI-Logo_trans.png" descr="PSI-Logo_trans.png"/>
            <p:cNvPicPr>
              <a:picLocks noChangeAspect="0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257070" y="476569"/>
              <a:ext cx="194452" cy="711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1" name="ku-logo.pdf" descr="ku-logo.pdf"/>
            <p:cNvPicPr>
              <a:picLocks noChangeAspect="0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124580" y="429109"/>
              <a:ext cx="122071" cy="16585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2" name="ESS_Logo_Frugal_Blue_cmyk.png" descr="ESS_Logo_Frugal_Blue_cmyk.png"/>
            <p:cNvPicPr>
              <a:picLocks noChangeAspect="0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204365" y="577550"/>
              <a:ext cx="265586" cy="14290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74" name="2025 ISIS McStas School"/>
          <p:cNvSpPr txBox="1"/>
          <p:nvPr/>
        </p:nvSpPr>
        <p:spPr>
          <a:xfrm>
            <a:off x="1925741" y="155334"/>
            <a:ext cx="1002693" cy="720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normAutofit fontScale="100000" lnSpcReduction="0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defRPr b="1" i="1" sz="1400"/>
            </a:pPr>
            <a:r>
              <a:t>2025 ISIS</a:t>
            </a:r>
            <a:br/>
            <a:r>
              <a:t>McStas School</a:t>
            </a:r>
          </a:p>
        </p:txBody>
      </p:sp>
      <p:sp>
        <p:nvSpPr>
          <p:cNvPr id="175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183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" name="Title Text"/>
          <p:cNvSpPr txBox="1"/>
          <p:nvPr>
            <p:ph type="title"/>
          </p:nvPr>
        </p:nvSpPr>
        <p:spPr>
          <a:xfrm>
            <a:off x="1774725" y="426126"/>
            <a:ext cx="9312376" cy="97271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87" name="ESS.png" descr="E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250" y="252000"/>
            <a:ext cx="1138321" cy="612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00" name="Group"/>
          <p:cNvGrpSpPr/>
          <p:nvPr/>
        </p:nvGrpSpPr>
        <p:grpSpPr>
          <a:xfrm>
            <a:off x="17068" y="935881"/>
            <a:ext cx="1506786" cy="5584238"/>
            <a:chOff x="0" y="0"/>
            <a:chExt cx="1506784" cy="5584236"/>
          </a:xfrm>
        </p:grpSpPr>
        <p:pic>
          <p:nvPicPr>
            <p:cNvPr id="188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1506785" cy="55842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89" name="Rectangle"/>
            <p:cNvSpPr/>
            <p:nvPr/>
          </p:nvSpPr>
          <p:spPr>
            <a:xfrm>
              <a:off x="26491" y="29555"/>
              <a:ext cx="1453952" cy="79170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grpSp>
          <p:nvGrpSpPr>
            <p:cNvPr id="198" name="Group"/>
            <p:cNvGrpSpPr/>
            <p:nvPr/>
          </p:nvGrpSpPr>
          <p:grpSpPr>
            <a:xfrm>
              <a:off x="161144" y="50051"/>
              <a:ext cx="1271028" cy="5510910"/>
              <a:chOff x="0" y="0"/>
              <a:chExt cx="1271027" cy="5510908"/>
            </a:xfrm>
          </p:grpSpPr>
          <p:sp>
            <p:nvSpPr>
              <p:cNvPr id="190" name="2025 ISIS McStas School"/>
              <p:cNvSpPr txBox="1"/>
              <p:nvPr/>
            </p:nvSpPr>
            <p:spPr>
              <a:xfrm>
                <a:off x="0" y="4478221"/>
                <a:ext cx="1184497" cy="10326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b">
                <a:normAutofit fontScale="100000" lnSpcReduction="0"/>
              </a:bodyPr>
              <a:lstStyle/>
              <a:p>
                <a:pPr algn="ctr" defTabSz="521208">
                  <a:lnSpc>
                    <a:spcPct val="110000"/>
                  </a:lnSpc>
                  <a:spcBef>
                    <a:spcPts val="0"/>
                  </a:spcBef>
                  <a:defRPr b="1" i="1" sz="2109">
                    <a:solidFill>
                      <a:srgbClr val="FFFFFF"/>
                    </a:solidFill>
                  </a:defRPr>
                </a:pPr>
                <a:r>
                  <a:t>2025 ISIS</a:t>
                </a:r>
                <a:br/>
                <a:r>
                  <a:t>McStas School</a:t>
                </a:r>
              </a:p>
            </p:txBody>
          </p:sp>
          <p:grpSp>
            <p:nvGrpSpPr>
              <p:cNvPr id="197" name="Group"/>
              <p:cNvGrpSpPr/>
              <p:nvPr/>
            </p:nvGrpSpPr>
            <p:grpSpPr>
              <a:xfrm>
                <a:off x="545266" y="-1"/>
                <a:ext cx="725762" cy="757651"/>
                <a:chOff x="0" y="0"/>
                <a:chExt cx="725761" cy="757649"/>
              </a:xfrm>
            </p:grpSpPr>
            <p:sp>
              <p:nvSpPr>
                <p:cNvPr id="191" name="Logo color"/>
                <p:cNvSpPr/>
                <p:nvPr/>
              </p:nvSpPr>
              <p:spPr>
                <a:xfrm>
                  <a:off x="2507" y="452770"/>
                  <a:ext cx="117009" cy="1706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6799" tIns="46799" rIns="46799" bIns="46799" numCol="1" anchor="t">
                  <a:noAutofit/>
                </a:bodyPr>
                <a:lstStyle/>
                <a:p>
                  <a:pPr>
                    <a:defRPr>
                      <a:latin typeface="Verdana"/>
                      <a:ea typeface="Verdana"/>
                      <a:cs typeface="Verdana"/>
                      <a:sym typeface="Verdana"/>
                    </a:defRPr>
                  </a:pPr>
                </a:p>
              </p:txBody>
            </p:sp>
            <p:pic>
              <p:nvPicPr>
                <p:cNvPr id="192" name="logoill.pdf" descr="logoill.pdf"/>
                <p:cNvPicPr>
                  <a:picLocks noChangeAspect="0"/>
                </p:cNvPicPr>
                <p:nvPr/>
              </p:nvPicPr>
              <p:blipFill>
                <a:blip r:embed="rId4">
                  <a:extLst/>
                </a:blip>
                <a:stretch>
                  <a:fillRect/>
                </a:stretch>
              </p:blipFill>
              <p:spPr>
                <a:xfrm>
                  <a:off x="486613" y="459579"/>
                  <a:ext cx="164286" cy="15703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93" name="mcstas-logo.pdf" descr="mcstas-logo.pdf"/>
                <p:cNvPicPr>
                  <a:picLocks noChangeAspect="0"/>
                </p:cNvPicPr>
                <p:nvPr/>
              </p:nvPicPr>
              <p:blipFill>
                <a:blip r:embed="rId5">
                  <a:extLst/>
                </a:blip>
                <a:srcRect l="0" t="0" r="0" b="0"/>
                <a:stretch>
                  <a:fillRect/>
                </a:stretch>
              </p:blipFill>
              <p:spPr>
                <a:xfrm>
                  <a:off x="0" y="0"/>
                  <a:ext cx="725762" cy="42645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94" name="PSI-Logo_trans.png" descr="PSI-Logo_trans.png"/>
                <p:cNvPicPr>
                  <a:picLocks noChangeAspect="0"/>
                </p:cNvPicPr>
                <p:nvPr/>
              </p:nvPicPr>
              <p:blipFill>
                <a:blip r:embed="rId6">
                  <a:extLst/>
                </a:blip>
                <a:stretch>
                  <a:fillRect/>
                </a:stretch>
              </p:blipFill>
              <p:spPr>
                <a:xfrm>
                  <a:off x="270340" y="501170"/>
                  <a:ext cx="204490" cy="7486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95" name="ku-logo.pdf" descr="ku-logo.pdf"/>
                <p:cNvPicPr>
                  <a:picLocks noChangeAspect="0"/>
                </p:cNvPicPr>
                <p:nvPr/>
              </p:nvPicPr>
              <p:blipFill>
                <a:blip r:embed="rId7">
                  <a:extLst/>
                </a:blip>
                <a:stretch>
                  <a:fillRect/>
                </a:stretch>
              </p:blipFill>
              <p:spPr>
                <a:xfrm>
                  <a:off x="131011" y="451261"/>
                  <a:ext cx="128373" cy="17441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96" name="ESS_Logo_Frugal_Blue_cmyk.png" descr="ESS_Logo_Frugal_Blue_cmyk.png"/>
                <p:cNvPicPr>
                  <a:picLocks noChangeAspect="0"/>
                </p:cNvPicPr>
                <p:nvPr/>
              </p:nvPicPr>
              <p:blipFill>
                <a:blip r:embed="rId8">
                  <a:extLst/>
                </a:blip>
                <a:stretch>
                  <a:fillRect/>
                </a:stretch>
              </p:blipFill>
              <p:spPr>
                <a:xfrm>
                  <a:off x="214914" y="607364"/>
                  <a:ext cx="279297" cy="15028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pic>
          <p:nvPicPr>
            <p:cNvPr id="199" name="Image" descr="Image"/>
            <p:cNvPicPr>
              <a:picLocks noChangeAspect="1"/>
            </p:cNvPicPr>
            <p:nvPr/>
          </p:nvPicPr>
          <p:blipFill>
            <a:blip r:embed="rId9">
              <a:extLst/>
            </a:blip>
            <a:srcRect l="0" t="0" r="77004" b="0"/>
            <a:stretch>
              <a:fillRect/>
            </a:stretch>
          </p:blipFill>
          <p:spPr>
            <a:xfrm>
              <a:off x="44293" y="62025"/>
              <a:ext cx="617630" cy="6118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01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Front/Paus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216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DTU Fysik</a:t>
            </a:r>
          </a:p>
        </p:txBody>
      </p:sp>
      <p:sp>
        <p:nvSpPr>
          <p:cNvPr id="218" name="Form.Datedate"/>
          <p:cNvSpPr txBox="1"/>
          <p:nvPr/>
        </p:nvSpPr>
        <p:spPr>
          <a:xfrm>
            <a:off x="251362" y="6636099"/>
            <a:ext cx="110401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spcBef>
                <a:spcPts val="40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6. marts 2021</a:t>
            </a:r>
          </a:p>
        </p:txBody>
      </p:sp>
      <p:sp>
        <p:nvSpPr>
          <p:cNvPr id="219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" name="Background"/>
          <p:cNvSpPr/>
          <p:nvPr/>
        </p:nvSpPr>
        <p:spPr>
          <a:xfrm>
            <a:off x="-6950" y="-37750"/>
            <a:ext cx="12193200" cy="68616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6799" tIns="46799" rIns="46799" bIns="46799"/>
          <a:lstStyle/>
          <a:p>
            <a:pPr/>
          </a:p>
        </p:txBody>
      </p:sp>
      <p:sp>
        <p:nvSpPr>
          <p:cNvPr id="221" name="Logo color"/>
          <p:cNvSpPr/>
          <p:nvPr/>
        </p:nvSpPr>
        <p:spPr>
          <a:xfrm>
            <a:off x="4870539" y="1651373"/>
            <a:ext cx="2388324" cy="34833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222" name="Slide Number"/>
          <p:cNvSpPr txBox="1"/>
          <p:nvPr>
            <p:ph type="sldNum" sz="quarter" idx="2"/>
          </p:nvPr>
        </p:nvSpPr>
        <p:spPr>
          <a:xfrm flipV="1">
            <a:off x="0" y="6849134"/>
            <a:ext cx="127000" cy="127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223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4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25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4697" y="2381250"/>
            <a:ext cx="3886201" cy="20955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32" name="Group"/>
          <p:cNvGrpSpPr/>
          <p:nvPr/>
        </p:nvGrpSpPr>
        <p:grpSpPr>
          <a:xfrm>
            <a:off x="3041104" y="4876362"/>
            <a:ext cx="1302881" cy="1360126"/>
            <a:chOff x="0" y="0"/>
            <a:chExt cx="1302880" cy="1360125"/>
          </a:xfrm>
        </p:grpSpPr>
        <p:sp>
          <p:nvSpPr>
            <p:cNvPr id="226" name="Logo color"/>
            <p:cNvSpPr/>
            <p:nvPr/>
          </p:nvSpPr>
          <p:spPr>
            <a:xfrm>
              <a:off x="4501" y="812808"/>
              <a:ext cx="210053" cy="30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597" y="18293"/>
                  </a:moveTo>
                  <a:cubicBezTo>
                    <a:pt x="10549" y="19881"/>
                    <a:pt x="11051" y="19881"/>
                    <a:pt x="17003" y="18293"/>
                  </a:cubicBezTo>
                  <a:cubicBezTo>
                    <a:pt x="17003" y="18293"/>
                    <a:pt x="17003" y="18293"/>
                    <a:pt x="21600" y="19949"/>
                  </a:cubicBezTo>
                  <a:cubicBezTo>
                    <a:pt x="21600" y="19949"/>
                    <a:pt x="21600" y="19949"/>
                    <a:pt x="17003" y="21600"/>
                  </a:cubicBezTo>
                  <a:cubicBezTo>
                    <a:pt x="11051" y="20016"/>
                    <a:pt x="10549" y="20016"/>
                    <a:pt x="4597" y="21600"/>
                  </a:cubicBezTo>
                  <a:cubicBezTo>
                    <a:pt x="4597" y="21600"/>
                    <a:pt x="4597" y="21600"/>
                    <a:pt x="0" y="19949"/>
                  </a:cubicBezTo>
                  <a:cubicBezTo>
                    <a:pt x="0" y="19949"/>
                    <a:pt x="0" y="19949"/>
                    <a:pt x="4597" y="18293"/>
                  </a:cubicBezTo>
                  <a:close/>
                  <a:moveTo>
                    <a:pt x="4597" y="14200"/>
                  </a:moveTo>
                  <a:cubicBezTo>
                    <a:pt x="10549" y="15790"/>
                    <a:pt x="11051" y="15790"/>
                    <a:pt x="17003" y="14200"/>
                  </a:cubicBezTo>
                  <a:cubicBezTo>
                    <a:pt x="17003" y="14200"/>
                    <a:pt x="17003" y="14200"/>
                    <a:pt x="21600" y="15858"/>
                  </a:cubicBezTo>
                  <a:cubicBezTo>
                    <a:pt x="21600" y="15858"/>
                    <a:pt x="21600" y="15858"/>
                    <a:pt x="17003" y="17512"/>
                  </a:cubicBezTo>
                  <a:cubicBezTo>
                    <a:pt x="11051" y="15925"/>
                    <a:pt x="10549" y="15925"/>
                    <a:pt x="4597" y="17512"/>
                  </a:cubicBezTo>
                  <a:cubicBezTo>
                    <a:pt x="4597" y="17512"/>
                    <a:pt x="4597" y="17512"/>
                    <a:pt x="0" y="15858"/>
                  </a:cubicBezTo>
                  <a:cubicBezTo>
                    <a:pt x="0" y="15858"/>
                    <a:pt x="0" y="15858"/>
                    <a:pt x="4597" y="14200"/>
                  </a:cubicBezTo>
                  <a:close/>
                  <a:moveTo>
                    <a:pt x="4597" y="10111"/>
                  </a:moveTo>
                  <a:cubicBezTo>
                    <a:pt x="10549" y="11702"/>
                    <a:pt x="11051" y="11702"/>
                    <a:pt x="17003" y="10111"/>
                  </a:cubicBezTo>
                  <a:cubicBezTo>
                    <a:pt x="17003" y="10111"/>
                    <a:pt x="17003" y="10111"/>
                    <a:pt x="21600" y="11769"/>
                  </a:cubicBezTo>
                  <a:cubicBezTo>
                    <a:pt x="21600" y="11769"/>
                    <a:pt x="21600" y="11769"/>
                    <a:pt x="17003" y="13423"/>
                  </a:cubicBezTo>
                  <a:cubicBezTo>
                    <a:pt x="11051" y="11837"/>
                    <a:pt x="10549" y="11837"/>
                    <a:pt x="4597" y="13423"/>
                  </a:cubicBezTo>
                  <a:cubicBezTo>
                    <a:pt x="4597" y="13423"/>
                    <a:pt x="4597" y="13423"/>
                    <a:pt x="0" y="11769"/>
                  </a:cubicBezTo>
                  <a:cubicBezTo>
                    <a:pt x="0" y="11769"/>
                    <a:pt x="0" y="11769"/>
                    <a:pt x="4597" y="10111"/>
                  </a:cubicBezTo>
                  <a:close/>
                  <a:moveTo>
                    <a:pt x="2971" y="918"/>
                  </a:moveTo>
                  <a:lnTo>
                    <a:pt x="2971" y="6926"/>
                  </a:lnTo>
                  <a:cubicBezTo>
                    <a:pt x="2971" y="6926"/>
                    <a:pt x="2971" y="6926"/>
                    <a:pt x="3980" y="6926"/>
                  </a:cubicBezTo>
                  <a:cubicBezTo>
                    <a:pt x="4430" y="6926"/>
                    <a:pt x="4695" y="6878"/>
                    <a:pt x="4903" y="6708"/>
                  </a:cubicBezTo>
                  <a:cubicBezTo>
                    <a:pt x="5220" y="6447"/>
                    <a:pt x="5249" y="5917"/>
                    <a:pt x="5249" y="4849"/>
                  </a:cubicBezTo>
                  <a:cubicBezTo>
                    <a:pt x="5249" y="4849"/>
                    <a:pt x="5249" y="4849"/>
                    <a:pt x="5249" y="2990"/>
                  </a:cubicBezTo>
                  <a:cubicBezTo>
                    <a:pt x="5249" y="1926"/>
                    <a:pt x="5220" y="1396"/>
                    <a:pt x="4903" y="1135"/>
                  </a:cubicBezTo>
                  <a:cubicBezTo>
                    <a:pt x="4695" y="965"/>
                    <a:pt x="4430" y="918"/>
                    <a:pt x="3980" y="918"/>
                  </a:cubicBezTo>
                  <a:cubicBezTo>
                    <a:pt x="3980" y="918"/>
                    <a:pt x="3980" y="918"/>
                    <a:pt x="2971" y="918"/>
                  </a:cubicBezTo>
                  <a:close/>
                  <a:moveTo>
                    <a:pt x="8068" y="0"/>
                  </a:moveTo>
                  <a:cubicBezTo>
                    <a:pt x="8068" y="0"/>
                    <a:pt x="8068" y="0"/>
                    <a:pt x="13456" y="0"/>
                  </a:cubicBezTo>
                  <a:cubicBezTo>
                    <a:pt x="13542" y="0"/>
                    <a:pt x="13594" y="16"/>
                    <a:pt x="13635" y="44"/>
                  </a:cubicBezTo>
                  <a:cubicBezTo>
                    <a:pt x="13669" y="67"/>
                    <a:pt x="13698" y="103"/>
                    <a:pt x="13698" y="162"/>
                  </a:cubicBezTo>
                  <a:cubicBezTo>
                    <a:pt x="13698" y="162"/>
                    <a:pt x="13698" y="162"/>
                    <a:pt x="13698" y="827"/>
                  </a:cubicBezTo>
                  <a:cubicBezTo>
                    <a:pt x="13698" y="886"/>
                    <a:pt x="13669" y="922"/>
                    <a:pt x="13635" y="945"/>
                  </a:cubicBezTo>
                  <a:cubicBezTo>
                    <a:pt x="13594" y="973"/>
                    <a:pt x="13542" y="989"/>
                    <a:pt x="13456" y="989"/>
                  </a:cubicBezTo>
                  <a:cubicBezTo>
                    <a:pt x="13456" y="989"/>
                    <a:pt x="13456" y="989"/>
                    <a:pt x="11731" y="989"/>
                  </a:cubicBezTo>
                  <a:cubicBezTo>
                    <a:pt x="11731" y="989"/>
                    <a:pt x="11731" y="989"/>
                    <a:pt x="11731" y="7681"/>
                  </a:cubicBezTo>
                  <a:cubicBezTo>
                    <a:pt x="11731" y="7740"/>
                    <a:pt x="11708" y="7776"/>
                    <a:pt x="11667" y="7800"/>
                  </a:cubicBezTo>
                  <a:cubicBezTo>
                    <a:pt x="11633" y="7827"/>
                    <a:pt x="11581" y="7843"/>
                    <a:pt x="11494" y="7843"/>
                  </a:cubicBezTo>
                  <a:cubicBezTo>
                    <a:pt x="11494" y="7843"/>
                    <a:pt x="11494" y="7843"/>
                    <a:pt x="10029" y="7843"/>
                  </a:cubicBezTo>
                  <a:cubicBezTo>
                    <a:pt x="9943" y="7843"/>
                    <a:pt x="9891" y="7827"/>
                    <a:pt x="9850" y="7800"/>
                  </a:cubicBezTo>
                  <a:cubicBezTo>
                    <a:pt x="9810" y="7776"/>
                    <a:pt x="9787" y="7740"/>
                    <a:pt x="9787" y="7681"/>
                  </a:cubicBezTo>
                  <a:cubicBezTo>
                    <a:pt x="9787" y="7681"/>
                    <a:pt x="9787" y="7681"/>
                    <a:pt x="9787" y="989"/>
                  </a:cubicBezTo>
                  <a:cubicBezTo>
                    <a:pt x="9787" y="989"/>
                    <a:pt x="9787" y="989"/>
                    <a:pt x="8068" y="989"/>
                  </a:cubicBezTo>
                  <a:cubicBezTo>
                    <a:pt x="7981" y="989"/>
                    <a:pt x="7929" y="973"/>
                    <a:pt x="7889" y="945"/>
                  </a:cubicBezTo>
                  <a:cubicBezTo>
                    <a:pt x="7849" y="922"/>
                    <a:pt x="7825" y="886"/>
                    <a:pt x="7825" y="827"/>
                  </a:cubicBezTo>
                  <a:cubicBezTo>
                    <a:pt x="7825" y="827"/>
                    <a:pt x="7825" y="827"/>
                    <a:pt x="7825" y="162"/>
                  </a:cubicBezTo>
                  <a:cubicBezTo>
                    <a:pt x="7825" y="103"/>
                    <a:pt x="7849" y="67"/>
                    <a:pt x="7889" y="44"/>
                  </a:cubicBezTo>
                  <a:cubicBezTo>
                    <a:pt x="7929" y="16"/>
                    <a:pt x="7981" y="0"/>
                    <a:pt x="8068" y="0"/>
                  </a:cubicBezTo>
                  <a:close/>
                  <a:moveTo>
                    <a:pt x="1390" y="0"/>
                  </a:moveTo>
                  <a:cubicBezTo>
                    <a:pt x="1390" y="0"/>
                    <a:pt x="1390" y="0"/>
                    <a:pt x="4257" y="0"/>
                  </a:cubicBezTo>
                  <a:cubicBezTo>
                    <a:pt x="5370" y="0"/>
                    <a:pt x="6051" y="174"/>
                    <a:pt x="6466" y="538"/>
                  </a:cubicBezTo>
                  <a:cubicBezTo>
                    <a:pt x="7072" y="1036"/>
                    <a:pt x="7089" y="1843"/>
                    <a:pt x="7089" y="3077"/>
                  </a:cubicBezTo>
                  <a:cubicBezTo>
                    <a:pt x="7089" y="3077"/>
                    <a:pt x="7089" y="3077"/>
                    <a:pt x="7089" y="4766"/>
                  </a:cubicBezTo>
                  <a:cubicBezTo>
                    <a:pt x="7089" y="6000"/>
                    <a:pt x="7072" y="6807"/>
                    <a:pt x="6466" y="7305"/>
                  </a:cubicBezTo>
                  <a:cubicBezTo>
                    <a:pt x="6051" y="7669"/>
                    <a:pt x="5370" y="7843"/>
                    <a:pt x="4257" y="7843"/>
                  </a:cubicBezTo>
                  <a:cubicBezTo>
                    <a:pt x="4257" y="7843"/>
                    <a:pt x="4257" y="7843"/>
                    <a:pt x="1390" y="7843"/>
                  </a:cubicBezTo>
                  <a:cubicBezTo>
                    <a:pt x="1304" y="7843"/>
                    <a:pt x="1252" y="7827"/>
                    <a:pt x="1217" y="7800"/>
                  </a:cubicBezTo>
                  <a:cubicBezTo>
                    <a:pt x="1177" y="7776"/>
                    <a:pt x="1154" y="7740"/>
                    <a:pt x="1154" y="7681"/>
                  </a:cubicBezTo>
                  <a:cubicBezTo>
                    <a:pt x="1154" y="7681"/>
                    <a:pt x="1154" y="7681"/>
                    <a:pt x="1154" y="162"/>
                  </a:cubicBezTo>
                  <a:cubicBezTo>
                    <a:pt x="1154" y="103"/>
                    <a:pt x="1177" y="67"/>
                    <a:pt x="1217" y="44"/>
                  </a:cubicBezTo>
                  <a:cubicBezTo>
                    <a:pt x="1252" y="16"/>
                    <a:pt x="1304" y="0"/>
                    <a:pt x="1390" y="0"/>
                  </a:cubicBezTo>
                  <a:close/>
                  <a:moveTo>
                    <a:pt x="14706" y="0"/>
                  </a:moveTo>
                  <a:cubicBezTo>
                    <a:pt x="14706" y="0"/>
                    <a:pt x="14706" y="0"/>
                    <a:pt x="16045" y="0"/>
                  </a:cubicBezTo>
                  <a:cubicBezTo>
                    <a:pt x="16131" y="0"/>
                    <a:pt x="16183" y="16"/>
                    <a:pt x="16224" y="44"/>
                  </a:cubicBezTo>
                  <a:cubicBezTo>
                    <a:pt x="16264" y="67"/>
                    <a:pt x="16287" y="103"/>
                    <a:pt x="16287" y="162"/>
                  </a:cubicBezTo>
                  <a:cubicBezTo>
                    <a:pt x="16287" y="162"/>
                    <a:pt x="16287" y="162"/>
                    <a:pt x="16287" y="5712"/>
                  </a:cubicBezTo>
                  <a:cubicBezTo>
                    <a:pt x="16287" y="6314"/>
                    <a:pt x="16368" y="6646"/>
                    <a:pt x="16627" y="6844"/>
                  </a:cubicBezTo>
                  <a:cubicBezTo>
                    <a:pt x="16818" y="6990"/>
                    <a:pt x="17072" y="7053"/>
                    <a:pt x="17406" y="7053"/>
                  </a:cubicBezTo>
                  <a:cubicBezTo>
                    <a:pt x="17776" y="7053"/>
                    <a:pt x="18041" y="6982"/>
                    <a:pt x="18226" y="6844"/>
                  </a:cubicBezTo>
                  <a:cubicBezTo>
                    <a:pt x="18503" y="6638"/>
                    <a:pt x="18566" y="6294"/>
                    <a:pt x="18566" y="5712"/>
                  </a:cubicBezTo>
                  <a:cubicBezTo>
                    <a:pt x="18566" y="5712"/>
                    <a:pt x="18566" y="5712"/>
                    <a:pt x="18566" y="162"/>
                  </a:cubicBezTo>
                  <a:cubicBezTo>
                    <a:pt x="18566" y="103"/>
                    <a:pt x="18589" y="67"/>
                    <a:pt x="18630" y="44"/>
                  </a:cubicBezTo>
                  <a:cubicBezTo>
                    <a:pt x="18664" y="16"/>
                    <a:pt x="18722" y="0"/>
                    <a:pt x="18803" y="0"/>
                  </a:cubicBezTo>
                  <a:cubicBezTo>
                    <a:pt x="18803" y="0"/>
                    <a:pt x="18803" y="0"/>
                    <a:pt x="20147" y="0"/>
                  </a:cubicBezTo>
                  <a:cubicBezTo>
                    <a:pt x="20234" y="0"/>
                    <a:pt x="20286" y="16"/>
                    <a:pt x="20320" y="44"/>
                  </a:cubicBezTo>
                  <a:cubicBezTo>
                    <a:pt x="20361" y="67"/>
                    <a:pt x="20384" y="103"/>
                    <a:pt x="20384" y="162"/>
                  </a:cubicBezTo>
                  <a:cubicBezTo>
                    <a:pt x="20384" y="162"/>
                    <a:pt x="20384" y="162"/>
                    <a:pt x="20384" y="5716"/>
                  </a:cubicBezTo>
                  <a:cubicBezTo>
                    <a:pt x="20384" y="6464"/>
                    <a:pt x="20257" y="6962"/>
                    <a:pt x="19732" y="7382"/>
                  </a:cubicBezTo>
                  <a:cubicBezTo>
                    <a:pt x="19287" y="7738"/>
                    <a:pt x="18560" y="7943"/>
                    <a:pt x="17430" y="7943"/>
                  </a:cubicBezTo>
                  <a:cubicBezTo>
                    <a:pt x="16316" y="7943"/>
                    <a:pt x="15583" y="7750"/>
                    <a:pt x="15093" y="7382"/>
                  </a:cubicBezTo>
                  <a:cubicBezTo>
                    <a:pt x="14625" y="7030"/>
                    <a:pt x="14469" y="6523"/>
                    <a:pt x="14469" y="5716"/>
                  </a:cubicBezTo>
                  <a:cubicBezTo>
                    <a:pt x="14469" y="5716"/>
                    <a:pt x="14469" y="5716"/>
                    <a:pt x="14469" y="162"/>
                  </a:cubicBezTo>
                  <a:cubicBezTo>
                    <a:pt x="14469" y="103"/>
                    <a:pt x="14493" y="67"/>
                    <a:pt x="14527" y="44"/>
                  </a:cubicBezTo>
                  <a:cubicBezTo>
                    <a:pt x="14568" y="16"/>
                    <a:pt x="14620" y="0"/>
                    <a:pt x="14706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t">
              <a:noAutofit/>
            </a:bodyPr>
            <a:lstStyle/>
            <a:p>
              <a:pPr>
                <a:defRPr>
                  <a:latin typeface="Verdana"/>
                  <a:ea typeface="Verdana"/>
                  <a:cs typeface="Verdana"/>
                  <a:sym typeface="Verdana"/>
                </a:defRPr>
              </a:pPr>
            </a:p>
          </p:txBody>
        </p:sp>
        <p:pic>
          <p:nvPicPr>
            <p:cNvPr id="227" name="logoill.pdf" descr="logoill.pdf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873564" y="825033"/>
              <a:ext cx="294923" cy="2819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28" name="mcstas-logo.pdf" descr="mcstas-logo.pdf"/>
            <p:cNvPicPr>
              <a:picLocks noChangeAspect="0"/>
            </p:cNvPicPr>
            <p:nvPr/>
          </p:nvPicPr>
          <p:blipFill>
            <a:blip r:embed="rId4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1302881" cy="7655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29" name="PSI-Logo_trans.png" descr="PSI-Logo_trans.png"/>
            <p:cNvPicPr>
              <a:picLocks noChangeAspect="0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485313" y="899696"/>
              <a:ext cx="367097" cy="13439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30" name="ku-logo.pdf" descr="ku-logo.pdf"/>
            <p:cNvPicPr>
              <a:picLocks noChangeAspect="0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235190" y="810100"/>
              <a:ext cx="230453" cy="31311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31" name="ESS_Logo_Frugal_Blue_cmyk.png" descr="ESS_Logo_Frugal_Blue_cmyk.png"/>
            <p:cNvPicPr>
              <a:picLocks noChangeAspect="0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385812" y="1090335"/>
              <a:ext cx="501390" cy="26979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233" name="Image" descr="Image"/>
          <p:cNvPicPr>
            <a:picLocks noChangeAspect="1"/>
          </p:cNvPicPr>
          <p:nvPr/>
        </p:nvPicPr>
        <p:blipFill>
          <a:blip r:embed="rId8">
            <a:extLst/>
          </a:blip>
          <a:srcRect l="0" t="22257" r="0" b="16155"/>
          <a:stretch>
            <a:fillRect/>
          </a:stretch>
        </p:blipFill>
        <p:spPr>
          <a:xfrm>
            <a:off x="8273504" y="423664"/>
            <a:ext cx="2633470" cy="6010750"/>
          </a:xfrm>
          <a:prstGeom prst="rect">
            <a:avLst/>
          </a:prstGeom>
          <a:ln w="12700">
            <a:miter lim="400000"/>
          </a:ln>
        </p:spPr>
      </p:pic>
      <p:sp>
        <p:nvSpPr>
          <p:cNvPr id="234" name="Rectangle"/>
          <p:cNvSpPr/>
          <p:nvPr/>
        </p:nvSpPr>
        <p:spPr>
          <a:xfrm>
            <a:off x="8841323" y="661468"/>
            <a:ext cx="1498025" cy="81570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/>
          </a:p>
        </p:txBody>
      </p:sp>
      <p:grpSp>
        <p:nvGrpSpPr>
          <p:cNvPr id="243" name="Group"/>
          <p:cNvGrpSpPr/>
          <p:nvPr/>
        </p:nvGrpSpPr>
        <p:grpSpPr>
          <a:xfrm>
            <a:off x="9015165" y="667543"/>
            <a:ext cx="1309558" cy="5677965"/>
            <a:chOff x="0" y="0"/>
            <a:chExt cx="1309557" cy="5677963"/>
          </a:xfrm>
        </p:grpSpPr>
        <p:sp>
          <p:nvSpPr>
            <p:cNvPr id="235" name="2025 ISIS McStas School"/>
            <p:cNvSpPr txBox="1"/>
            <p:nvPr/>
          </p:nvSpPr>
          <p:spPr>
            <a:xfrm>
              <a:off x="0" y="4613972"/>
              <a:ext cx="1220404" cy="10639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b">
              <a:normAutofit fontScale="100000" lnSpcReduction="0"/>
            </a:bodyPr>
            <a:lstStyle/>
            <a:p>
              <a:pPr algn="ctr" defTabSz="539495">
                <a:lnSpc>
                  <a:spcPct val="110000"/>
                </a:lnSpc>
                <a:spcBef>
                  <a:spcPts val="0"/>
                </a:spcBef>
                <a:defRPr b="1" i="1" sz="2183">
                  <a:solidFill>
                    <a:srgbClr val="FFFFFF"/>
                  </a:solidFill>
                </a:defRPr>
              </a:pPr>
              <a:r>
                <a:t>2025 ISIS</a:t>
              </a:r>
              <a:br/>
              <a:r>
                <a:t>McStas School</a:t>
              </a:r>
            </a:p>
          </p:txBody>
        </p:sp>
        <p:grpSp>
          <p:nvGrpSpPr>
            <p:cNvPr id="242" name="Group"/>
            <p:cNvGrpSpPr/>
            <p:nvPr/>
          </p:nvGrpSpPr>
          <p:grpSpPr>
            <a:xfrm>
              <a:off x="561795" y="0"/>
              <a:ext cx="747763" cy="780617"/>
              <a:chOff x="0" y="0"/>
              <a:chExt cx="747761" cy="780616"/>
            </a:xfrm>
          </p:grpSpPr>
          <p:sp>
            <p:nvSpPr>
              <p:cNvPr id="236" name="Logo color"/>
              <p:cNvSpPr/>
              <p:nvPr/>
            </p:nvSpPr>
            <p:spPr>
              <a:xfrm>
                <a:off x="2583" y="466495"/>
                <a:ext cx="120556" cy="1758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4597" y="18293"/>
                    </a:moveTo>
                    <a:cubicBezTo>
                      <a:pt x="10549" y="19881"/>
                      <a:pt x="11051" y="19881"/>
                      <a:pt x="17003" y="18293"/>
                    </a:cubicBezTo>
                    <a:cubicBezTo>
                      <a:pt x="17003" y="18293"/>
                      <a:pt x="17003" y="18293"/>
                      <a:pt x="21600" y="19949"/>
                    </a:cubicBezTo>
                    <a:cubicBezTo>
                      <a:pt x="21600" y="19949"/>
                      <a:pt x="21600" y="19949"/>
                      <a:pt x="17003" y="21600"/>
                    </a:cubicBezTo>
                    <a:cubicBezTo>
                      <a:pt x="11051" y="20016"/>
                      <a:pt x="10549" y="20016"/>
                      <a:pt x="4597" y="21600"/>
                    </a:cubicBezTo>
                    <a:cubicBezTo>
                      <a:pt x="4597" y="21600"/>
                      <a:pt x="4597" y="21600"/>
                      <a:pt x="0" y="19949"/>
                    </a:cubicBezTo>
                    <a:cubicBezTo>
                      <a:pt x="0" y="19949"/>
                      <a:pt x="0" y="19949"/>
                      <a:pt x="4597" y="18293"/>
                    </a:cubicBezTo>
                    <a:close/>
                    <a:moveTo>
                      <a:pt x="4597" y="14200"/>
                    </a:moveTo>
                    <a:cubicBezTo>
                      <a:pt x="10549" y="15790"/>
                      <a:pt x="11051" y="15790"/>
                      <a:pt x="17003" y="14200"/>
                    </a:cubicBezTo>
                    <a:cubicBezTo>
                      <a:pt x="17003" y="14200"/>
                      <a:pt x="17003" y="14200"/>
                      <a:pt x="21600" y="15858"/>
                    </a:cubicBezTo>
                    <a:cubicBezTo>
                      <a:pt x="21600" y="15858"/>
                      <a:pt x="21600" y="15858"/>
                      <a:pt x="17003" y="17512"/>
                    </a:cubicBezTo>
                    <a:cubicBezTo>
                      <a:pt x="11051" y="15925"/>
                      <a:pt x="10549" y="15925"/>
                      <a:pt x="4597" y="17512"/>
                    </a:cubicBezTo>
                    <a:cubicBezTo>
                      <a:pt x="4597" y="17512"/>
                      <a:pt x="4597" y="17512"/>
                      <a:pt x="0" y="15858"/>
                    </a:cubicBezTo>
                    <a:cubicBezTo>
                      <a:pt x="0" y="15858"/>
                      <a:pt x="0" y="15858"/>
                      <a:pt x="4597" y="14200"/>
                    </a:cubicBezTo>
                    <a:close/>
                    <a:moveTo>
                      <a:pt x="4597" y="10111"/>
                    </a:moveTo>
                    <a:cubicBezTo>
                      <a:pt x="10549" y="11702"/>
                      <a:pt x="11051" y="11702"/>
                      <a:pt x="17003" y="10111"/>
                    </a:cubicBezTo>
                    <a:cubicBezTo>
                      <a:pt x="17003" y="10111"/>
                      <a:pt x="17003" y="10111"/>
                      <a:pt x="21600" y="11769"/>
                    </a:cubicBezTo>
                    <a:cubicBezTo>
                      <a:pt x="21600" y="11769"/>
                      <a:pt x="21600" y="11769"/>
                      <a:pt x="17003" y="13423"/>
                    </a:cubicBezTo>
                    <a:cubicBezTo>
                      <a:pt x="11051" y="11837"/>
                      <a:pt x="10549" y="11837"/>
                      <a:pt x="4597" y="13423"/>
                    </a:cubicBezTo>
                    <a:cubicBezTo>
                      <a:pt x="4597" y="13423"/>
                      <a:pt x="4597" y="13423"/>
                      <a:pt x="0" y="11769"/>
                    </a:cubicBezTo>
                    <a:cubicBezTo>
                      <a:pt x="0" y="11769"/>
                      <a:pt x="0" y="11769"/>
                      <a:pt x="4597" y="10111"/>
                    </a:cubicBezTo>
                    <a:close/>
                    <a:moveTo>
                      <a:pt x="2971" y="918"/>
                    </a:moveTo>
                    <a:lnTo>
                      <a:pt x="2971" y="6926"/>
                    </a:lnTo>
                    <a:cubicBezTo>
                      <a:pt x="2971" y="6926"/>
                      <a:pt x="2971" y="6926"/>
                      <a:pt x="3980" y="6926"/>
                    </a:cubicBezTo>
                    <a:cubicBezTo>
                      <a:pt x="4430" y="6926"/>
                      <a:pt x="4695" y="6878"/>
                      <a:pt x="4903" y="6708"/>
                    </a:cubicBezTo>
                    <a:cubicBezTo>
                      <a:pt x="5220" y="6447"/>
                      <a:pt x="5249" y="5917"/>
                      <a:pt x="5249" y="4849"/>
                    </a:cubicBezTo>
                    <a:cubicBezTo>
                      <a:pt x="5249" y="4849"/>
                      <a:pt x="5249" y="4849"/>
                      <a:pt x="5249" y="2990"/>
                    </a:cubicBezTo>
                    <a:cubicBezTo>
                      <a:pt x="5249" y="1926"/>
                      <a:pt x="5220" y="1396"/>
                      <a:pt x="4903" y="1135"/>
                    </a:cubicBezTo>
                    <a:cubicBezTo>
                      <a:pt x="4695" y="965"/>
                      <a:pt x="4430" y="918"/>
                      <a:pt x="3980" y="918"/>
                    </a:cubicBezTo>
                    <a:cubicBezTo>
                      <a:pt x="3980" y="918"/>
                      <a:pt x="3980" y="918"/>
                      <a:pt x="2971" y="918"/>
                    </a:cubicBezTo>
                    <a:close/>
                    <a:moveTo>
                      <a:pt x="8068" y="0"/>
                    </a:moveTo>
                    <a:cubicBezTo>
                      <a:pt x="8068" y="0"/>
                      <a:pt x="8068" y="0"/>
                      <a:pt x="13456" y="0"/>
                    </a:cubicBezTo>
                    <a:cubicBezTo>
                      <a:pt x="13542" y="0"/>
                      <a:pt x="13594" y="16"/>
                      <a:pt x="13635" y="44"/>
                    </a:cubicBezTo>
                    <a:cubicBezTo>
                      <a:pt x="13669" y="67"/>
                      <a:pt x="13698" y="103"/>
                      <a:pt x="13698" y="162"/>
                    </a:cubicBezTo>
                    <a:cubicBezTo>
                      <a:pt x="13698" y="162"/>
                      <a:pt x="13698" y="162"/>
                      <a:pt x="13698" y="827"/>
                    </a:cubicBezTo>
                    <a:cubicBezTo>
                      <a:pt x="13698" y="886"/>
                      <a:pt x="13669" y="922"/>
                      <a:pt x="13635" y="945"/>
                    </a:cubicBezTo>
                    <a:cubicBezTo>
                      <a:pt x="13594" y="973"/>
                      <a:pt x="13542" y="989"/>
                      <a:pt x="13456" y="989"/>
                    </a:cubicBezTo>
                    <a:cubicBezTo>
                      <a:pt x="13456" y="989"/>
                      <a:pt x="13456" y="989"/>
                      <a:pt x="11731" y="989"/>
                    </a:cubicBezTo>
                    <a:cubicBezTo>
                      <a:pt x="11731" y="989"/>
                      <a:pt x="11731" y="989"/>
                      <a:pt x="11731" y="7681"/>
                    </a:cubicBezTo>
                    <a:cubicBezTo>
                      <a:pt x="11731" y="7740"/>
                      <a:pt x="11708" y="7776"/>
                      <a:pt x="11667" y="7800"/>
                    </a:cubicBezTo>
                    <a:cubicBezTo>
                      <a:pt x="11633" y="7827"/>
                      <a:pt x="11581" y="7843"/>
                      <a:pt x="11494" y="7843"/>
                    </a:cubicBezTo>
                    <a:cubicBezTo>
                      <a:pt x="11494" y="7843"/>
                      <a:pt x="11494" y="7843"/>
                      <a:pt x="10029" y="7843"/>
                    </a:cubicBezTo>
                    <a:cubicBezTo>
                      <a:pt x="9943" y="7843"/>
                      <a:pt x="9891" y="7827"/>
                      <a:pt x="9850" y="7800"/>
                    </a:cubicBezTo>
                    <a:cubicBezTo>
                      <a:pt x="9810" y="7776"/>
                      <a:pt x="9787" y="7740"/>
                      <a:pt x="9787" y="7681"/>
                    </a:cubicBezTo>
                    <a:cubicBezTo>
                      <a:pt x="9787" y="7681"/>
                      <a:pt x="9787" y="7681"/>
                      <a:pt x="9787" y="989"/>
                    </a:cubicBezTo>
                    <a:cubicBezTo>
                      <a:pt x="9787" y="989"/>
                      <a:pt x="9787" y="989"/>
                      <a:pt x="8068" y="989"/>
                    </a:cubicBezTo>
                    <a:cubicBezTo>
                      <a:pt x="7981" y="989"/>
                      <a:pt x="7929" y="973"/>
                      <a:pt x="7889" y="945"/>
                    </a:cubicBezTo>
                    <a:cubicBezTo>
                      <a:pt x="7849" y="922"/>
                      <a:pt x="7825" y="886"/>
                      <a:pt x="7825" y="827"/>
                    </a:cubicBezTo>
                    <a:cubicBezTo>
                      <a:pt x="7825" y="827"/>
                      <a:pt x="7825" y="827"/>
                      <a:pt x="7825" y="162"/>
                    </a:cubicBezTo>
                    <a:cubicBezTo>
                      <a:pt x="7825" y="103"/>
                      <a:pt x="7849" y="67"/>
                      <a:pt x="7889" y="44"/>
                    </a:cubicBezTo>
                    <a:cubicBezTo>
                      <a:pt x="7929" y="16"/>
                      <a:pt x="7981" y="0"/>
                      <a:pt x="8068" y="0"/>
                    </a:cubicBezTo>
                    <a:close/>
                    <a:moveTo>
                      <a:pt x="1390" y="0"/>
                    </a:moveTo>
                    <a:cubicBezTo>
                      <a:pt x="1390" y="0"/>
                      <a:pt x="1390" y="0"/>
                      <a:pt x="4257" y="0"/>
                    </a:cubicBezTo>
                    <a:cubicBezTo>
                      <a:pt x="5370" y="0"/>
                      <a:pt x="6051" y="174"/>
                      <a:pt x="6466" y="538"/>
                    </a:cubicBezTo>
                    <a:cubicBezTo>
                      <a:pt x="7072" y="1036"/>
                      <a:pt x="7089" y="1843"/>
                      <a:pt x="7089" y="3077"/>
                    </a:cubicBezTo>
                    <a:cubicBezTo>
                      <a:pt x="7089" y="3077"/>
                      <a:pt x="7089" y="3077"/>
                      <a:pt x="7089" y="4766"/>
                    </a:cubicBezTo>
                    <a:cubicBezTo>
                      <a:pt x="7089" y="6000"/>
                      <a:pt x="7072" y="6807"/>
                      <a:pt x="6466" y="7305"/>
                    </a:cubicBezTo>
                    <a:cubicBezTo>
                      <a:pt x="6051" y="7669"/>
                      <a:pt x="5370" y="7843"/>
                      <a:pt x="4257" y="7843"/>
                    </a:cubicBezTo>
                    <a:cubicBezTo>
                      <a:pt x="4257" y="7843"/>
                      <a:pt x="4257" y="7843"/>
                      <a:pt x="1390" y="7843"/>
                    </a:cubicBezTo>
                    <a:cubicBezTo>
                      <a:pt x="1304" y="7843"/>
                      <a:pt x="1252" y="7827"/>
                      <a:pt x="1217" y="7800"/>
                    </a:cubicBezTo>
                    <a:cubicBezTo>
                      <a:pt x="1177" y="7776"/>
                      <a:pt x="1154" y="7740"/>
                      <a:pt x="1154" y="7681"/>
                    </a:cubicBezTo>
                    <a:cubicBezTo>
                      <a:pt x="1154" y="7681"/>
                      <a:pt x="1154" y="7681"/>
                      <a:pt x="1154" y="162"/>
                    </a:cubicBezTo>
                    <a:cubicBezTo>
                      <a:pt x="1154" y="103"/>
                      <a:pt x="1177" y="67"/>
                      <a:pt x="1217" y="44"/>
                    </a:cubicBezTo>
                    <a:cubicBezTo>
                      <a:pt x="1252" y="16"/>
                      <a:pt x="1304" y="0"/>
                      <a:pt x="1390" y="0"/>
                    </a:cubicBezTo>
                    <a:close/>
                    <a:moveTo>
                      <a:pt x="14706" y="0"/>
                    </a:moveTo>
                    <a:cubicBezTo>
                      <a:pt x="14706" y="0"/>
                      <a:pt x="14706" y="0"/>
                      <a:pt x="16045" y="0"/>
                    </a:cubicBezTo>
                    <a:cubicBezTo>
                      <a:pt x="16131" y="0"/>
                      <a:pt x="16183" y="16"/>
                      <a:pt x="16224" y="44"/>
                    </a:cubicBezTo>
                    <a:cubicBezTo>
                      <a:pt x="16264" y="67"/>
                      <a:pt x="16287" y="103"/>
                      <a:pt x="16287" y="162"/>
                    </a:cubicBezTo>
                    <a:cubicBezTo>
                      <a:pt x="16287" y="162"/>
                      <a:pt x="16287" y="162"/>
                      <a:pt x="16287" y="5712"/>
                    </a:cubicBezTo>
                    <a:cubicBezTo>
                      <a:pt x="16287" y="6314"/>
                      <a:pt x="16368" y="6646"/>
                      <a:pt x="16627" y="6844"/>
                    </a:cubicBezTo>
                    <a:cubicBezTo>
                      <a:pt x="16818" y="6990"/>
                      <a:pt x="17072" y="7053"/>
                      <a:pt x="17406" y="7053"/>
                    </a:cubicBezTo>
                    <a:cubicBezTo>
                      <a:pt x="17776" y="7053"/>
                      <a:pt x="18041" y="6982"/>
                      <a:pt x="18226" y="6844"/>
                    </a:cubicBezTo>
                    <a:cubicBezTo>
                      <a:pt x="18503" y="6638"/>
                      <a:pt x="18566" y="6294"/>
                      <a:pt x="18566" y="5712"/>
                    </a:cubicBezTo>
                    <a:cubicBezTo>
                      <a:pt x="18566" y="5712"/>
                      <a:pt x="18566" y="5712"/>
                      <a:pt x="18566" y="162"/>
                    </a:cubicBezTo>
                    <a:cubicBezTo>
                      <a:pt x="18566" y="103"/>
                      <a:pt x="18589" y="67"/>
                      <a:pt x="18630" y="44"/>
                    </a:cubicBezTo>
                    <a:cubicBezTo>
                      <a:pt x="18664" y="16"/>
                      <a:pt x="18722" y="0"/>
                      <a:pt x="18803" y="0"/>
                    </a:cubicBezTo>
                    <a:cubicBezTo>
                      <a:pt x="18803" y="0"/>
                      <a:pt x="18803" y="0"/>
                      <a:pt x="20147" y="0"/>
                    </a:cubicBezTo>
                    <a:cubicBezTo>
                      <a:pt x="20234" y="0"/>
                      <a:pt x="20286" y="16"/>
                      <a:pt x="20320" y="44"/>
                    </a:cubicBezTo>
                    <a:cubicBezTo>
                      <a:pt x="20361" y="67"/>
                      <a:pt x="20384" y="103"/>
                      <a:pt x="20384" y="162"/>
                    </a:cubicBezTo>
                    <a:cubicBezTo>
                      <a:pt x="20384" y="162"/>
                      <a:pt x="20384" y="162"/>
                      <a:pt x="20384" y="5716"/>
                    </a:cubicBezTo>
                    <a:cubicBezTo>
                      <a:pt x="20384" y="6464"/>
                      <a:pt x="20257" y="6962"/>
                      <a:pt x="19732" y="7382"/>
                    </a:cubicBezTo>
                    <a:cubicBezTo>
                      <a:pt x="19287" y="7738"/>
                      <a:pt x="18560" y="7943"/>
                      <a:pt x="17430" y="7943"/>
                    </a:cubicBezTo>
                    <a:cubicBezTo>
                      <a:pt x="16316" y="7943"/>
                      <a:pt x="15583" y="7750"/>
                      <a:pt x="15093" y="7382"/>
                    </a:cubicBezTo>
                    <a:cubicBezTo>
                      <a:pt x="14625" y="7030"/>
                      <a:pt x="14469" y="6523"/>
                      <a:pt x="14469" y="5716"/>
                    </a:cubicBezTo>
                    <a:cubicBezTo>
                      <a:pt x="14469" y="5716"/>
                      <a:pt x="14469" y="5716"/>
                      <a:pt x="14469" y="162"/>
                    </a:cubicBezTo>
                    <a:cubicBezTo>
                      <a:pt x="14469" y="103"/>
                      <a:pt x="14493" y="67"/>
                      <a:pt x="14527" y="44"/>
                    </a:cubicBezTo>
                    <a:cubicBezTo>
                      <a:pt x="14568" y="16"/>
                      <a:pt x="14620" y="0"/>
                      <a:pt x="147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6799" tIns="46799" rIns="46799" bIns="46799" numCol="1" anchor="t">
                <a:noAutofit/>
              </a:bodyPr>
              <a:lstStyle/>
              <a:p>
                <a:pPr>
                  <a:defRPr>
                    <a:latin typeface="Verdana"/>
                    <a:ea typeface="Verdana"/>
                    <a:cs typeface="Verdana"/>
                    <a:sym typeface="Verdana"/>
                  </a:defRPr>
                </a:pPr>
              </a:p>
            </p:txBody>
          </p:sp>
          <p:pic>
            <p:nvPicPr>
              <p:cNvPr id="237" name="logoill.pdf" descr="logoill.pdf"/>
              <p:cNvPicPr>
                <a:picLocks noChangeAspect="0"/>
              </p:cNvPicPr>
              <p:nvPr/>
            </p:nvPicPr>
            <p:blipFill>
              <a:blip r:embed="rId3">
                <a:extLst/>
              </a:blip>
              <a:stretch>
                <a:fillRect/>
              </a:stretch>
            </p:blipFill>
            <p:spPr>
              <a:xfrm>
                <a:off x="501364" y="473511"/>
                <a:ext cx="169266" cy="16179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38" name="mcstas-logo.pdf" descr="mcstas-logo.pdf"/>
              <p:cNvPicPr>
                <a:picLocks noChangeAspect="0"/>
              </p:cNvPicPr>
              <p:nvPr/>
            </p:nvPicPr>
            <p:blipFill>
              <a:blip r:embed="rId4">
                <a:extLst/>
              </a:blip>
              <a:srcRect l="0" t="0" r="0" b="0"/>
              <a:stretch>
                <a:fillRect/>
              </a:stretch>
            </p:blipFill>
            <p:spPr>
              <a:xfrm>
                <a:off x="0" y="0"/>
                <a:ext cx="747762" cy="439386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39" name="PSI-Logo_trans.png" descr="PSI-Logo_trans.png"/>
              <p:cNvPicPr>
                <a:picLocks noChangeAspect="0"/>
              </p:cNvPicPr>
              <p:nvPr/>
            </p:nvPicPr>
            <p:blipFill>
              <a:blip r:embed="rId5">
                <a:extLst/>
              </a:blip>
              <a:stretch>
                <a:fillRect/>
              </a:stretch>
            </p:blipFill>
            <p:spPr>
              <a:xfrm>
                <a:off x="278535" y="516362"/>
                <a:ext cx="210689" cy="7713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40" name="ku-logo.pdf" descr="ku-logo.pdf"/>
              <p:cNvPicPr>
                <a:picLocks noChangeAspect="0"/>
              </p:cNvPicPr>
              <p:nvPr/>
            </p:nvPicPr>
            <p:blipFill>
              <a:blip r:embed="rId6">
                <a:extLst/>
              </a:blip>
              <a:stretch>
                <a:fillRect/>
              </a:stretch>
            </p:blipFill>
            <p:spPr>
              <a:xfrm>
                <a:off x="134982" y="464940"/>
                <a:ext cx="132265" cy="17970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41" name="ESS_Logo_Frugal_Blue_cmyk.png" descr="ESS_Logo_Frugal_Blue_cmyk.png"/>
              <p:cNvPicPr>
                <a:picLocks noChangeAspect="0"/>
              </p:cNvPicPr>
              <p:nvPr/>
            </p:nvPicPr>
            <p:blipFill>
              <a:blip r:embed="rId7">
                <a:extLst/>
              </a:blip>
              <a:stretch>
                <a:fillRect/>
              </a:stretch>
            </p:blipFill>
            <p:spPr>
              <a:xfrm>
                <a:off x="221429" y="625775"/>
                <a:ext cx="287763" cy="15484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</p:grpSp>
      <p:pic>
        <p:nvPicPr>
          <p:cNvPr id="244" name="Image" descr="Image"/>
          <p:cNvPicPr>
            <a:picLocks noChangeAspect="1"/>
          </p:cNvPicPr>
          <p:nvPr/>
        </p:nvPicPr>
        <p:blipFill>
          <a:blip r:embed="rId9">
            <a:extLst/>
          </a:blip>
          <a:srcRect l="0" t="0" r="77004" b="0"/>
          <a:stretch>
            <a:fillRect/>
          </a:stretch>
        </p:blipFill>
        <p:spPr>
          <a:xfrm>
            <a:off x="8859663" y="694923"/>
            <a:ext cx="636353" cy="630392"/>
          </a:xfrm>
          <a:prstGeom prst="rect">
            <a:avLst/>
          </a:prstGeom>
          <a:ln w="12700">
            <a:miter lim="400000"/>
          </a:ln>
        </p:spPr>
      </p:pic>
      <p:sp>
        <p:nvSpPr>
          <p:cNvPr id="245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Rectangle"/>
          <p:cNvSpPr/>
          <p:nvPr/>
        </p:nvSpPr>
        <p:spPr>
          <a:xfrm>
            <a:off x="9270840" y="6282179"/>
            <a:ext cx="1336620" cy="558533"/>
          </a:xfrm>
          <a:prstGeom prst="rect">
            <a:avLst/>
          </a:prstGeom>
          <a:solidFill>
            <a:srgbClr val="FFFFFF"/>
          </a:solidFill>
          <a:ln w="12700">
            <a:solidFill>
              <a:srgbClr val="2A85D1"/>
            </a:solidFill>
          </a:ln>
          <a:effectLst>
            <a:outerShdw sx="100000" sy="100000" kx="0" ky="0" algn="b" rotWithShape="0" blurRad="25400" dist="12700" dir="5400000">
              <a:srgbClr val="000000">
                <a:alpha val="35000"/>
              </a:srgbClr>
            </a:outerShdw>
          </a:effectLst>
        </p:spPr>
        <p:txBody>
          <a:bodyPr lIns="41493" tIns="41493" rIns="41493" bIns="41493" anchor="ctr"/>
          <a:lstStyle/>
          <a:p>
            <a:pPr defTabSz="829875">
              <a:spcBef>
                <a:spcPts val="0"/>
              </a:spcBef>
              <a:defRPr i="1"/>
            </a:pPr>
          </a:p>
        </p:txBody>
      </p:sp>
      <p:sp>
        <p:nvSpPr>
          <p:cNvPr id="253" name="Line"/>
          <p:cNvSpPr/>
          <p:nvPr/>
        </p:nvSpPr>
        <p:spPr>
          <a:xfrm>
            <a:off x="1688813" y="1023622"/>
            <a:ext cx="8049795" cy="1"/>
          </a:xfrm>
          <a:prstGeom prst="line">
            <a:avLst/>
          </a:prstGeom>
          <a:ln w="38100">
            <a:solidFill>
              <a:srgbClr val="2A85D1"/>
            </a:solidFill>
            <a:tailEnd type="triangle"/>
          </a:ln>
        </p:spPr>
        <p:txBody>
          <a:bodyPr lIns="41493" tIns="41493" rIns="41493" bIns="41493"/>
          <a:lstStyle/>
          <a:p>
            <a:pPr defTabSz="829875">
              <a:spcBef>
                <a:spcPts val="0"/>
              </a:spcBef>
              <a:defRPr i="1"/>
            </a:pPr>
          </a:p>
        </p:txBody>
      </p:sp>
      <p:sp>
        <p:nvSpPr>
          <p:cNvPr id="254" name="Title Text"/>
          <p:cNvSpPr txBox="1"/>
          <p:nvPr>
            <p:ph type="title"/>
          </p:nvPr>
        </p:nvSpPr>
        <p:spPr>
          <a:xfrm>
            <a:off x="1617587" y="175450"/>
            <a:ext cx="8232759" cy="722711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defTabSz="829875">
              <a:lnSpc>
                <a:spcPct val="90000"/>
              </a:lnSpc>
              <a:defRPr b="0" i="1" sz="3800"/>
            </a:lvl1pPr>
          </a:lstStyle>
          <a:p>
            <a:pPr/>
            <a:r>
              <a:t>Title Text</a:t>
            </a:r>
          </a:p>
        </p:txBody>
      </p:sp>
      <p:sp>
        <p:nvSpPr>
          <p:cNvPr id="255" name="Body Level One…"/>
          <p:cNvSpPr txBox="1"/>
          <p:nvPr>
            <p:ph type="body" idx="1"/>
          </p:nvPr>
        </p:nvSpPr>
        <p:spPr>
          <a:xfrm>
            <a:off x="1667576" y="1307600"/>
            <a:ext cx="8132782" cy="506224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200025" indent="-200025" defTabSz="829875">
              <a:lnSpc>
                <a:spcPct val="90000"/>
              </a:lnSpc>
              <a:spcBef>
                <a:spcPts val="900"/>
              </a:spcBef>
              <a:buSzPct val="45000"/>
              <a:buFont typeface="Helvetica Neue"/>
              <a:buChar char="l"/>
              <a:defRPr i="1" sz="2800"/>
            </a:lvl1pPr>
            <a:lvl2pPr marL="685800" indent="-228600" defTabSz="829875">
              <a:lnSpc>
                <a:spcPct val="90000"/>
              </a:lnSpc>
              <a:spcBef>
                <a:spcPts val="900"/>
              </a:spcBef>
              <a:buSzPct val="75000"/>
              <a:buFont typeface="Helvetica Neue"/>
              <a:buChar char="-"/>
              <a:defRPr i="1" sz="2800"/>
            </a:lvl2pPr>
            <a:lvl3pPr marL="1181100" indent="-266700" defTabSz="829875">
              <a:lnSpc>
                <a:spcPct val="90000"/>
              </a:lnSpc>
              <a:spcBef>
                <a:spcPts val="900"/>
              </a:spcBef>
              <a:buSzPct val="45000"/>
              <a:buFont typeface="Helvetica Neue"/>
              <a:buChar char="l"/>
              <a:defRPr i="1" sz="2800"/>
            </a:lvl3pPr>
            <a:lvl4pPr marL="1691639" indent="-320039" defTabSz="829875">
              <a:lnSpc>
                <a:spcPct val="90000"/>
              </a:lnSpc>
              <a:spcBef>
                <a:spcPts val="900"/>
              </a:spcBef>
              <a:buSzPct val="75000"/>
              <a:buFont typeface="Helvetica Neue"/>
              <a:buChar char="-"/>
              <a:defRPr i="1" sz="2800"/>
            </a:lvl4pPr>
            <a:lvl5pPr marL="2148839" indent="-320039" defTabSz="829875">
              <a:lnSpc>
                <a:spcPct val="90000"/>
              </a:lnSpc>
              <a:spcBef>
                <a:spcPts val="900"/>
              </a:spcBef>
              <a:buSzPct val="45000"/>
              <a:buFont typeface="Helvetica Neue"/>
              <a:buChar char="l"/>
              <a:defRPr i="1"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256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prstGeom prst="rect">
            <a:avLst/>
          </a:prstGeom>
          <a:ln w="12700">
            <a:miter lim="400000"/>
          </a:ln>
        </p:spPr>
      </p:pic>
      <p:sp>
        <p:nvSpPr>
          <p:cNvPr id="257" name="Slide Number"/>
          <p:cNvSpPr txBox="1"/>
          <p:nvPr>
            <p:ph type="sldNum" sz="quarter" idx="2"/>
          </p:nvPr>
        </p:nvSpPr>
        <p:spPr>
          <a:xfrm>
            <a:off x="1581648" y="6544836"/>
            <a:ext cx="320402" cy="303634"/>
          </a:xfrm>
          <a:prstGeom prst="rect">
            <a:avLst/>
          </a:prstGeom>
        </p:spPr>
        <p:txBody>
          <a:bodyPr lIns="40840" tIns="40840" rIns="40840" bIns="40840" anchor="t"/>
          <a:lstStyle>
            <a:lvl1pPr defTabSz="829875">
              <a:spcBef>
                <a:spcPts val="0"/>
              </a:spcBef>
              <a:defRPr b="0" i="1" sz="16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260" name="Group"/>
          <p:cNvGrpSpPr/>
          <p:nvPr/>
        </p:nvGrpSpPr>
        <p:grpSpPr>
          <a:xfrm>
            <a:off x="9395812" y="6356991"/>
            <a:ext cx="1086676" cy="408908"/>
            <a:chOff x="0" y="0"/>
            <a:chExt cx="1086674" cy="408906"/>
          </a:xfrm>
        </p:grpSpPr>
        <p:pic>
          <p:nvPicPr>
            <p:cNvPr id="258" name="image5.png" descr="image5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277607" cy="40890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59" name="Image" descr="Image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326746" y="0"/>
              <a:ext cx="759929" cy="40890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61" name="ORNL McStas workshop, October 18th-19th 2018"/>
          <p:cNvSpPr txBox="1"/>
          <p:nvPr/>
        </p:nvSpPr>
        <p:spPr>
          <a:xfrm>
            <a:off x="1863307" y="6579844"/>
            <a:ext cx="2895828" cy="218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1493" tIns="41493" rIns="41493" bIns="41493">
            <a:spAutoFit/>
          </a:bodyPr>
          <a:lstStyle>
            <a:lvl1pPr defTabSz="829875">
              <a:spcBef>
                <a:spcPts val="0"/>
              </a:spcBef>
              <a:defRPr i="1" sz="1000"/>
            </a:lvl1pPr>
          </a:lstStyle>
          <a:p>
            <a:pPr/>
            <a:r>
              <a:t>ORNL McStas workshop, October 18th-19th 2018</a:t>
            </a:r>
          </a:p>
        </p:txBody>
      </p:sp>
      <p:grpSp>
        <p:nvGrpSpPr>
          <p:cNvPr id="266" name="Group"/>
          <p:cNvGrpSpPr/>
          <p:nvPr/>
        </p:nvGrpSpPr>
        <p:grpSpPr>
          <a:xfrm>
            <a:off x="9580504" y="34578"/>
            <a:ext cx="1066356" cy="879922"/>
            <a:chOff x="0" y="0"/>
            <a:chExt cx="1066355" cy="879921"/>
          </a:xfrm>
        </p:grpSpPr>
        <p:grpSp>
          <p:nvGrpSpPr>
            <p:cNvPr id="264" name="Group"/>
            <p:cNvGrpSpPr/>
            <p:nvPr/>
          </p:nvGrpSpPr>
          <p:grpSpPr>
            <a:xfrm>
              <a:off x="5958" y="0"/>
              <a:ext cx="1060398" cy="610881"/>
              <a:chOff x="0" y="0"/>
              <a:chExt cx="1060396" cy="610880"/>
            </a:xfrm>
          </p:grpSpPr>
          <p:pic>
            <p:nvPicPr>
              <p:cNvPr id="262" name="Image" descr="Image"/>
              <p:cNvPicPr>
                <a:picLocks noChangeAspect="1"/>
              </p:cNvPicPr>
              <p:nvPr/>
            </p:nvPicPr>
            <p:blipFill>
              <a:blip r:embed="rId5">
                <a:extLst/>
              </a:blip>
              <a:stretch>
                <a:fillRect/>
              </a:stretch>
            </p:blipFill>
            <p:spPr>
              <a:xfrm>
                <a:off x="0" y="0"/>
                <a:ext cx="1060397" cy="2881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63" name="Image" descr="Image"/>
              <p:cNvPicPr>
                <a:picLocks noChangeAspect="1"/>
              </p:cNvPicPr>
              <p:nvPr/>
            </p:nvPicPr>
            <p:blipFill>
              <a:blip r:embed="rId6">
                <a:extLst/>
              </a:blip>
              <a:stretch>
                <a:fillRect/>
              </a:stretch>
            </p:blipFill>
            <p:spPr>
              <a:xfrm>
                <a:off x="5763" y="322729"/>
                <a:ext cx="1048871" cy="2881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265" name="October 2018"/>
            <p:cNvSpPr txBox="1"/>
            <p:nvPr/>
          </p:nvSpPr>
          <p:spPr>
            <a:xfrm>
              <a:off x="0" y="624119"/>
              <a:ext cx="1019167" cy="2558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1493" tIns="41493" rIns="41493" bIns="41493" numCol="1" anchor="t">
              <a:spAutoFit/>
            </a:bodyPr>
            <a:lstStyle>
              <a:lvl1pPr defTabSz="829875">
                <a:spcBef>
                  <a:spcPts val="0"/>
                </a:spcBef>
                <a:defRPr i="1" sz="1200"/>
              </a:lvl1pPr>
            </a:lstStyle>
            <a:p>
              <a:pPr/>
              <a:r>
                <a:t>October 2018</a:t>
              </a:r>
            </a:p>
          </p:txBody>
        </p:sp>
      </p:grpSp>
      <p:pic>
        <p:nvPicPr>
          <p:cNvPr id="267" name="Image" descr="Image"/>
          <p:cNvPicPr>
            <a:picLocks noChangeAspect="1"/>
          </p:cNvPicPr>
          <p:nvPr/>
        </p:nvPicPr>
        <p:blipFill>
          <a:blip r:embed="rId7">
            <a:extLst/>
          </a:blip>
          <a:srcRect l="39855" t="5205" r="39855" b="0"/>
          <a:stretch>
            <a:fillRect/>
          </a:stretch>
        </p:blipFill>
        <p:spPr>
          <a:xfrm>
            <a:off x="9141915" y="1240311"/>
            <a:ext cx="1517937" cy="472332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fault - Title and Content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Body Level One…"/>
          <p:cNvSpPr txBox="1"/>
          <p:nvPr>
            <p:ph type="body" idx="1"/>
          </p:nvPr>
        </p:nvSpPr>
        <p:spPr>
          <a:xfrm>
            <a:off x="2373775" y="1632793"/>
            <a:ext cx="7290001" cy="5257354"/>
          </a:xfrm>
          <a:prstGeom prst="rect">
            <a:avLst/>
          </a:prstGeom>
          <a:ln w="3175">
            <a:round/>
          </a:ln>
        </p:spPr>
        <p:txBody>
          <a:bodyPr/>
          <a:lstStyle>
            <a:lvl1pPr marL="90487" indent="-90487" defTabSz="910828">
              <a:spcBef>
                <a:spcPts val="300"/>
              </a:spcBef>
              <a:buClr>
                <a:srgbClr val="AD4642"/>
              </a:buClr>
              <a:defRPr i="1" sz="1400">
                <a:uFill>
                  <a:solidFill>
                    <a:srgbClr val="000000"/>
                  </a:solidFill>
                </a:uFill>
                <a:latin typeface="Verdana"/>
                <a:ea typeface="Verdana"/>
                <a:cs typeface="Verdana"/>
                <a:sym typeface="Verdana"/>
              </a:defRPr>
            </a:lvl1pPr>
            <a:lvl2pPr marL="271462" indent="-90487" defTabSz="910828">
              <a:spcBef>
                <a:spcPts val="300"/>
              </a:spcBef>
              <a:buClr>
                <a:srgbClr val="AD4642"/>
              </a:buClr>
              <a:buChar char="•"/>
              <a:defRPr i="1" sz="1400">
                <a:uFill>
                  <a:solidFill>
                    <a:srgbClr val="000000"/>
                  </a:solidFill>
                </a:uFill>
                <a:latin typeface="Verdana"/>
                <a:ea typeface="Verdana"/>
                <a:cs typeface="Verdana"/>
                <a:sym typeface="Verdana"/>
              </a:defRPr>
            </a:lvl2pPr>
            <a:lvl3pPr marL="452437" indent="-90487" defTabSz="910828">
              <a:spcBef>
                <a:spcPts val="300"/>
              </a:spcBef>
              <a:buClr>
                <a:srgbClr val="AD4642"/>
              </a:buClr>
              <a:defRPr i="1" sz="1400">
                <a:uFill>
                  <a:solidFill>
                    <a:srgbClr val="000000"/>
                  </a:solidFill>
                </a:uFill>
                <a:latin typeface="Verdana"/>
                <a:ea typeface="Verdana"/>
                <a:cs typeface="Verdana"/>
                <a:sym typeface="Verdana"/>
              </a:defRPr>
            </a:lvl3pPr>
            <a:lvl4pPr marL="628650" indent="-85725" defTabSz="910828">
              <a:spcBef>
                <a:spcPts val="300"/>
              </a:spcBef>
              <a:buClr>
                <a:srgbClr val="AD4642"/>
              </a:buClr>
              <a:buChar char="•"/>
              <a:defRPr i="1" sz="1400">
                <a:uFill>
                  <a:solidFill>
                    <a:srgbClr val="000000"/>
                  </a:solidFill>
                </a:uFill>
                <a:latin typeface="Verdana"/>
                <a:ea typeface="Verdana"/>
                <a:cs typeface="Verdana"/>
                <a:sym typeface="Verdana"/>
              </a:defRPr>
            </a:lvl4pPr>
            <a:lvl5pPr marL="804862" indent="-90487" defTabSz="910828">
              <a:spcBef>
                <a:spcPts val="300"/>
              </a:spcBef>
              <a:buClr>
                <a:srgbClr val="AD4642"/>
              </a:buClr>
              <a:buChar char="•"/>
              <a:defRPr i="1" sz="1400">
                <a:uFill>
                  <a:solidFill>
                    <a:srgbClr val="000000"/>
                  </a:solidFill>
                </a:uFill>
                <a:latin typeface="Verdana"/>
                <a:ea typeface="Verdana"/>
                <a:cs typeface="Verdana"/>
                <a:sym typeface="Verdana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5" name="Title Text"/>
          <p:cNvSpPr txBox="1"/>
          <p:nvPr>
            <p:ph type="title"/>
          </p:nvPr>
        </p:nvSpPr>
        <p:spPr>
          <a:xfrm>
            <a:off x="2373775" y="-1"/>
            <a:ext cx="7290001" cy="1449002"/>
          </a:xfrm>
          <a:prstGeom prst="rect">
            <a:avLst/>
          </a:prstGeom>
          <a:ln w="3175">
            <a:round/>
          </a:ln>
        </p:spPr>
        <p:txBody>
          <a:bodyPr/>
          <a:lstStyle>
            <a:lvl1pPr defTabSz="910828">
              <a:defRPr i="1" sz="2000">
                <a:uFill>
                  <a:solidFill>
                    <a:srgbClr val="000000"/>
                  </a:solidFill>
                </a:u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76" name="Slide Number"/>
          <p:cNvSpPr txBox="1"/>
          <p:nvPr>
            <p:ph type="sldNum" sz="quarter" idx="2"/>
          </p:nvPr>
        </p:nvSpPr>
        <p:spPr>
          <a:xfrm>
            <a:off x="1682212" y="6661926"/>
            <a:ext cx="141883" cy="127001"/>
          </a:xfrm>
          <a:prstGeom prst="rect">
            <a:avLst/>
          </a:prstGeom>
          <a:ln w="3175">
            <a:round/>
          </a:ln>
        </p:spPr>
        <p:txBody>
          <a:bodyPr anchor="t"/>
          <a:lstStyle>
            <a:lvl1pPr defTabSz="455414">
              <a:spcBef>
                <a:spcPts val="0"/>
              </a:spcBef>
              <a:buClr>
                <a:srgbClr val="9A9A9A"/>
              </a:buClr>
              <a:defRPr b="0" i="1" sz="800">
                <a:solidFill>
                  <a:srgbClr val="9A9A9A"/>
                </a:solidFill>
                <a:uFill>
                  <a:solidFill>
                    <a:srgbClr val="9A9A9A"/>
                  </a:solidFill>
                </a:u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284" name="Group"/>
          <p:cNvGrpSpPr/>
          <p:nvPr/>
        </p:nvGrpSpPr>
        <p:grpSpPr>
          <a:xfrm>
            <a:off x="7296794" y="6365985"/>
            <a:ext cx="3005437" cy="421929"/>
            <a:chOff x="0" y="0"/>
            <a:chExt cx="3005435" cy="421927"/>
          </a:xfrm>
        </p:grpSpPr>
        <p:pic>
          <p:nvPicPr>
            <p:cNvPr id="277" name="mcstas-logo.pdf" descr="mcstas-logo.pdf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2503140" y="63389"/>
              <a:ext cx="502296" cy="295150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sx="100000" sy="100000" kx="0" ky="0" algn="b" rotWithShape="0" blurRad="25400" dist="12700" dir="5400000">
                <a:srgbClr val="000000">
                  <a:alpha val="45000"/>
                </a:srgbClr>
              </a:outerShdw>
            </a:effectLst>
          </p:spPr>
        </p:pic>
        <p:pic>
          <p:nvPicPr>
            <p:cNvPr id="278" name="logoill.pdf" descr="logoill.pdf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2186593" y="43327"/>
              <a:ext cx="352138" cy="336604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sx="100000" sy="100000" kx="0" ky="0" algn="b" rotWithShape="0" blurRad="25400" dist="12700" dir="5400000">
                <a:srgbClr val="000000">
                  <a:alpha val="45000"/>
                </a:srgbClr>
              </a:outerShdw>
            </a:effectLst>
          </p:spPr>
        </p:pic>
        <p:pic>
          <p:nvPicPr>
            <p:cNvPr id="279" name="PSI-Logo_trans.png" descr="PSI-Logo_trans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1723783" y="130523"/>
              <a:ext cx="439708" cy="160979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sx="100000" sy="100000" kx="0" ky="0" algn="b" rotWithShape="0" blurRad="25400" dist="12700" dir="5400000">
                <a:srgbClr val="000000">
                  <a:alpha val="45000"/>
                </a:srgbClr>
              </a:outerShdw>
            </a:effectLst>
          </p:spPr>
        </p:pic>
        <p:pic>
          <p:nvPicPr>
            <p:cNvPr id="280" name="ku-logo.pdf" descr="ku-logo.pdf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1425305" y="23205"/>
              <a:ext cx="276035" cy="37504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81" name="DTU_logo.png" descr="DTU_logo.png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496885" y="23673"/>
              <a:ext cx="257978" cy="37458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82" name="droppedImage.png" descr="droppedImage.png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0" y="0"/>
              <a:ext cx="421928" cy="42192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83" name="Image" descr="Image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777306" y="42662"/>
              <a:ext cx="625556" cy="33660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85" name="ORNL McStas workshop, October 18th-19th 2018"/>
          <p:cNvSpPr txBox="1"/>
          <p:nvPr/>
        </p:nvSpPr>
        <p:spPr>
          <a:xfrm>
            <a:off x="1863307" y="6579844"/>
            <a:ext cx="2895828" cy="218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1493" tIns="41493" rIns="41493" bIns="41493">
            <a:spAutoFit/>
          </a:bodyPr>
          <a:lstStyle>
            <a:lvl1pPr defTabSz="829875">
              <a:spcBef>
                <a:spcPts val="0"/>
              </a:spcBef>
              <a:defRPr i="1" sz="1000"/>
            </a:lvl1pPr>
          </a:lstStyle>
          <a:p>
            <a:pPr/>
            <a:r>
              <a:t>ORNL McStas workshop, October 18th-19th 2018</a:t>
            </a:r>
          </a:p>
        </p:txBody>
      </p:sp>
      <p:grpSp>
        <p:nvGrpSpPr>
          <p:cNvPr id="290" name="Group"/>
          <p:cNvGrpSpPr/>
          <p:nvPr/>
        </p:nvGrpSpPr>
        <p:grpSpPr>
          <a:xfrm>
            <a:off x="9580504" y="34578"/>
            <a:ext cx="1066356" cy="879922"/>
            <a:chOff x="0" y="0"/>
            <a:chExt cx="1066355" cy="879921"/>
          </a:xfrm>
        </p:grpSpPr>
        <p:grpSp>
          <p:nvGrpSpPr>
            <p:cNvPr id="288" name="Group"/>
            <p:cNvGrpSpPr/>
            <p:nvPr/>
          </p:nvGrpSpPr>
          <p:grpSpPr>
            <a:xfrm>
              <a:off x="5958" y="0"/>
              <a:ext cx="1060398" cy="610881"/>
              <a:chOff x="0" y="0"/>
              <a:chExt cx="1060396" cy="610880"/>
            </a:xfrm>
          </p:grpSpPr>
          <p:pic>
            <p:nvPicPr>
              <p:cNvPr id="286" name="Image" descr="Image"/>
              <p:cNvPicPr>
                <a:picLocks noChangeAspect="1"/>
              </p:cNvPicPr>
              <p:nvPr/>
            </p:nvPicPr>
            <p:blipFill>
              <a:blip r:embed="rId9">
                <a:extLst/>
              </a:blip>
              <a:stretch>
                <a:fillRect/>
              </a:stretch>
            </p:blipFill>
            <p:spPr>
              <a:xfrm>
                <a:off x="0" y="0"/>
                <a:ext cx="1060397" cy="2881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87" name="Image" descr="Image"/>
              <p:cNvPicPr>
                <a:picLocks noChangeAspect="1"/>
              </p:cNvPicPr>
              <p:nvPr/>
            </p:nvPicPr>
            <p:blipFill>
              <a:blip r:embed="rId10">
                <a:extLst/>
              </a:blip>
              <a:stretch>
                <a:fillRect/>
              </a:stretch>
            </p:blipFill>
            <p:spPr>
              <a:xfrm>
                <a:off x="5763" y="322729"/>
                <a:ext cx="1048871" cy="2881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289" name="October 2018"/>
            <p:cNvSpPr txBox="1"/>
            <p:nvPr/>
          </p:nvSpPr>
          <p:spPr>
            <a:xfrm>
              <a:off x="0" y="624119"/>
              <a:ext cx="1019167" cy="2558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1493" tIns="41493" rIns="41493" bIns="41493" numCol="1" anchor="t">
              <a:spAutoFit/>
            </a:bodyPr>
            <a:lstStyle>
              <a:lvl1pPr defTabSz="829875">
                <a:spcBef>
                  <a:spcPts val="0"/>
                </a:spcBef>
                <a:defRPr i="1" sz="1200"/>
              </a:lvl1pPr>
            </a:lstStyle>
            <a:p>
              <a:pPr/>
              <a:r>
                <a:t>October 2018</a:t>
              </a:r>
            </a:p>
          </p:txBody>
        </p:sp>
      </p:grpSp>
      <p:pic>
        <p:nvPicPr>
          <p:cNvPr id="291" name="Image" descr="Image"/>
          <p:cNvPicPr>
            <a:picLocks noChangeAspect="1"/>
          </p:cNvPicPr>
          <p:nvPr/>
        </p:nvPicPr>
        <p:blipFill>
          <a:blip r:embed="rId11">
            <a:extLst/>
          </a:blip>
          <a:srcRect l="39855" t="5205" r="39855" b="0"/>
          <a:stretch>
            <a:fillRect/>
          </a:stretch>
        </p:blipFill>
        <p:spPr>
          <a:xfrm>
            <a:off x="9141915" y="1240311"/>
            <a:ext cx="1517937" cy="472332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roup"/>
          <p:cNvGrpSpPr/>
          <p:nvPr/>
        </p:nvGrpSpPr>
        <p:grpSpPr>
          <a:xfrm>
            <a:off x="6350" y="-1"/>
            <a:ext cx="12193200" cy="6876383"/>
            <a:chOff x="0" y="0"/>
            <a:chExt cx="12193199" cy="6876381"/>
          </a:xfrm>
        </p:grpSpPr>
        <p:grpSp>
          <p:nvGrpSpPr>
            <p:cNvPr id="301" name="Group"/>
            <p:cNvGrpSpPr/>
            <p:nvPr/>
          </p:nvGrpSpPr>
          <p:grpSpPr>
            <a:xfrm>
              <a:off x="0" y="-1"/>
              <a:ext cx="12193200" cy="6876383"/>
              <a:chOff x="0" y="0"/>
              <a:chExt cx="12193199" cy="6876381"/>
            </a:xfrm>
          </p:grpSpPr>
          <p:sp>
            <p:nvSpPr>
              <p:cNvPr id="298" name="Bottom bar"/>
              <p:cNvSpPr/>
              <p:nvPr/>
            </p:nvSpPr>
            <p:spPr>
              <a:xfrm>
                <a:off x="0" y="6559534"/>
                <a:ext cx="12193200" cy="316801"/>
              </a:xfrm>
              <a:prstGeom prst="rect">
                <a:avLst/>
              </a:prstGeom>
              <a:solidFill>
                <a:srgbClr val="44A9E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6799" tIns="46799" rIns="46799" bIns="46799" numCol="1" anchor="ctr">
                <a:noAutofit/>
              </a:bodyPr>
              <a:lstStyle/>
              <a:p>
                <a:pPr algn="ctr">
                  <a:spcBef>
                    <a:spcPts val="4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99" name="Top bar"/>
              <p:cNvSpPr/>
              <p:nvPr/>
            </p:nvSpPr>
            <p:spPr>
              <a:xfrm>
                <a:off x="0" y="0"/>
                <a:ext cx="12193200" cy="50401"/>
              </a:xfrm>
              <a:prstGeom prst="rect">
                <a:avLst/>
              </a:prstGeom>
              <a:solidFill>
                <a:srgbClr val="44A9E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6799" tIns="46799" rIns="46799" bIns="46799" numCol="1" anchor="ctr">
                <a:noAutofit/>
              </a:bodyPr>
              <a:lstStyle/>
              <a:p>
                <a:pPr algn="ctr">
                  <a:spcBef>
                    <a:spcPts val="4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pic>
            <p:nvPicPr>
              <p:cNvPr id="300" name="pasted-movie.png" descr="pasted-movie.png"/>
              <p:cNvPicPr>
                <a:picLocks noChangeAspect="1"/>
              </p:cNvPicPr>
              <p:nvPr/>
            </p:nvPicPr>
            <p:blipFill>
              <a:blip r:embed="rId2">
                <a:extLst/>
              </a:blip>
              <a:srcRect l="0" t="0" r="0" b="0"/>
              <a:stretch>
                <a:fillRect/>
              </a:stretch>
            </p:blipFill>
            <p:spPr>
              <a:xfrm>
                <a:off x="4913605" y="6559581"/>
                <a:ext cx="6349482" cy="316801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302" name="UserProfile.Offices.Workarea_{{DocumentLanguage}}text"/>
            <p:cNvSpPr txBox="1"/>
            <p:nvPr/>
          </p:nvSpPr>
          <p:spPr>
            <a:xfrm>
              <a:off x="1348199" y="6636099"/>
              <a:ext cx="3397072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spcBef>
                  <a:spcPts val="0"/>
                </a:spcBef>
                <a:defRPr b="1" sz="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Peter Willendrup, DTU Physics and ESS DMSC</a:t>
              </a:r>
            </a:p>
          </p:txBody>
        </p:sp>
      </p:grpSp>
      <p:sp>
        <p:nvSpPr>
          <p:cNvPr id="304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305" name="Title Text"/>
          <p:cNvSpPr txBox="1"/>
          <p:nvPr>
            <p:ph type="title"/>
          </p:nvPr>
        </p:nvSpPr>
        <p:spPr>
          <a:xfrm>
            <a:off x="1774725" y="426126"/>
            <a:ext cx="9312376" cy="97271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06" name="Body Level One…"/>
          <p:cNvSpPr txBox="1"/>
          <p:nvPr>
            <p:ph type="body" idx="1"/>
          </p:nvPr>
        </p:nvSpPr>
        <p:spPr>
          <a:xfrm>
            <a:off x="1774800" y="1706399"/>
            <a:ext cx="9312375" cy="4545579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308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76580" y="251999"/>
            <a:ext cx="1142204" cy="61128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9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352365" y="141061"/>
            <a:ext cx="749128" cy="7344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.tif"/><Relationship Id="rId10" Type="http://schemas.openxmlformats.org/officeDocument/2006/relationships/slideLayout" Target="../slideLayouts/slideLayout1.xml"/><Relationship Id="rId11" Type="http://schemas.openxmlformats.org/officeDocument/2006/relationships/slideLayout" Target="../slideLayouts/slideLayout2.xml"/><Relationship Id="rId12" Type="http://schemas.openxmlformats.org/officeDocument/2006/relationships/slideLayout" Target="../slideLayouts/slideLayout3.xml"/><Relationship Id="rId13" Type="http://schemas.openxmlformats.org/officeDocument/2006/relationships/slideLayout" Target="../slideLayouts/slideLayout4.xml"/><Relationship Id="rId14" Type="http://schemas.openxmlformats.org/officeDocument/2006/relationships/slideLayout" Target="../slideLayouts/slideLayout5.xml"/><Relationship Id="rId15" Type="http://schemas.openxmlformats.org/officeDocument/2006/relationships/slideLayout" Target="../slideLayouts/slideLayout6.xml"/><Relationship Id="rId16" Type="http://schemas.openxmlformats.org/officeDocument/2006/relationships/slideLayout" Target="../slideLayouts/slideLayout7.xml"/><Relationship Id="rId17" Type="http://schemas.openxmlformats.org/officeDocument/2006/relationships/slideLayout" Target="../slideLayouts/slideLayout8.xml"/><Relationship Id="rId18" Type="http://schemas.openxmlformats.org/officeDocument/2006/relationships/slideLayout" Target="../slideLayouts/slideLayout9.xml"/><Relationship Id="rId19" Type="http://schemas.openxmlformats.org/officeDocument/2006/relationships/slideLayout" Target="../slideLayouts/slideLayout10.xml"/><Relationship Id="rId20" Type="http://schemas.openxmlformats.org/officeDocument/2006/relationships/slideLayout" Target="../slideLayouts/slideLayout11.xml"/><Relationship Id="rId21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3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  <p:sp>
        <p:nvSpPr>
          <p:cNvPr id="5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" name="Slide Number"/>
          <p:cNvSpPr txBox="1"/>
          <p:nvPr>
            <p:ph type="sldNum" sz="quarter" idx="2"/>
          </p:nvPr>
        </p:nvSpPr>
        <p:spPr>
          <a:xfrm>
            <a:off x="11506450" y="6636099"/>
            <a:ext cx="127001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>
              <a:spcBef>
                <a:spcPts val="40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pic>
        <p:nvPicPr>
          <p:cNvPr id="7" name="ESS.png" descr="E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250" y="252000"/>
            <a:ext cx="1138321" cy="612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0" name="Group"/>
          <p:cNvGrpSpPr/>
          <p:nvPr/>
        </p:nvGrpSpPr>
        <p:grpSpPr>
          <a:xfrm>
            <a:off x="17068" y="935881"/>
            <a:ext cx="1506786" cy="5584238"/>
            <a:chOff x="0" y="0"/>
            <a:chExt cx="1506784" cy="5584236"/>
          </a:xfrm>
        </p:grpSpPr>
        <p:pic>
          <p:nvPicPr>
            <p:cNvPr id="8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1506785" cy="55842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" name="Rectangle"/>
            <p:cNvSpPr/>
            <p:nvPr/>
          </p:nvSpPr>
          <p:spPr>
            <a:xfrm>
              <a:off x="26491" y="29555"/>
              <a:ext cx="1453952" cy="79170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grpSp>
          <p:nvGrpSpPr>
            <p:cNvPr id="18" name="Group"/>
            <p:cNvGrpSpPr/>
            <p:nvPr/>
          </p:nvGrpSpPr>
          <p:grpSpPr>
            <a:xfrm>
              <a:off x="161144" y="50051"/>
              <a:ext cx="1271028" cy="5510910"/>
              <a:chOff x="0" y="0"/>
              <a:chExt cx="1271027" cy="5510908"/>
            </a:xfrm>
          </p:grpSpPr>
          <p:sp>
            <p:nvSpPr>
              <p:cNvPr id="10" name="2025 ISIS McStas School"/>
              <p:cNvSpPr txBox="1"/>
              <p:nvPr/>
            </p:nvSpPr>
            <p:spPr>
              <a:xfrm>
                <a:off x="0" y="4478221"/>
                <a:ext cx="1184497" cy="10326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b">
                <a:normAutofit fontScale="100000" lnSpcReduction="0"/>
              </a:bodyPr>
              <a:lstStyle/>
              <a:p>
                <a:pPr algn="ctr" defTabSz="521208">
                  <a:lnSpc>
                    <a:spcPct val="110000"/>
                  </a:lnSpc>
                  <a:spcBef>
                    <a:spcPts val="0"/>
                  </a:spcBef>
                  <a:defRPr b="1" i="1" sz="2109">
                    <a:solidFill>
                      <a:srgbClr val="FFFFFF"/>
                    </a:solidFill>
                  </a:defRPr>
                </a:pPr>
                <a:r>
                  <a:t>2025 ISIS</a:t>
                </a:r>
                <a:br/>
                <a:r>
                  <a:t>McStas School</a:t>
                </a:r>
              </a:p>
            </p:txBody>
          </p:sp>
          <p:grpSp>
            <p:nvGrpSpPr>
              <p:cNvPr id="17" name="Group"/>
              <p:cNvGrpSpPr/>
              <p:nvPr/>
            </p:nvGrpSpPr>
            <p:grpSpPr>
              <a:xfrm>
                <a:off x="545266" y="-1"/>
                <a:ext cx="725762" cy="757651"/>
                <a:chOff x="0" y="0"/>
                <a:chExt cx="725761" cy="757649"/>
              </a:xfrm>
            </p:grpSpPr>
            <p:sp>
              <p:nvSpPr>
                <p:cNvPr id="11" name="Logo color"/>
                <p:cNvSpPr/>
                <p:nvPr/>
              </p:nvSpPr>
              <p:spPr>
                <a:xfrm>
                  <a:off x="2507" y="452770"/>
                  <a:ext cx="117009" cy="1706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6799" tIns="46799" rIns="46799" bIns="46799" numCol="1" anchor="t">
                  <a:noAutofit/>
                </a:bodyPr>
                <a:lstStyle/>
                <a:p>
                  <a:pPr>
                    <a:defRPr>
                      <a:latin typeface="Verdana"/>
                      <a:ea typeface="Verdana"/>
                      <a:cs typeface="Verdana"/>
                      <a:sym typeface="Verdana"/>
                    </a:defRPr>
                  </a:pPr>
                </a:p>
              </p:txBody>
            </p:sp>
            <p:pic>
              <p:nvPicPr>
                <p:cNvPr id="12" name="logoill.pdf" descr="logoill.pdf"/>
                <p:cNvPicPr>
                  <a:picLocks noChangeAspect="0"/>
                </p:cNvPicPr>
                <p:nvPr/>
              </p:nvPicPr>
              <p:blipFill>
                <a:blip r:embed="rId4">
                  <a:extLst/>
                </a:blip>
                <a:stretch>
                  <a:fillRect/>
                </a:stretch>
              </p:blipFill>
              <p:spPr>
                <a:xfrm>
                  <a:off x="486613" y="459579"/>
                  <a:ext cx="164286" cy="15703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3" name="mcstas-logo.pdf" descr="mcstas-logo.pdf"/>
                <p:cNvPicPr>
                  <a:picLocks noChangeAspect="0"/>
                </p:cNvPicPr>
                <p:nvPr/>
              </p:nvPicPr>
              <p:blipFill>
                <a:blip r:embed="rId5">
                  <a:extLst/>
                </a:blip>
                <a:srcRect l="0" t="0" r="0" b="0"/>
                <a:stretch>
                  <a:fillRect/>
                </a:stretch>
              </p:blipFill>
              <p:spPr>
                <a:xfrm>
                  <a:off x="0" y="0"/>
                  <a:ext cx="725762" cy="42645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4" name="PSI-Logo_trans.png" descr="PSI-Logo_trans.png"/>
                <p:cNvPicPr>
                  <a:picLocks noChangeAspect="0"/>
                </p:cNvPicPr>
                <p:nvPr/>
              </p:nvPicPr>
              <p:blipFill>
                <a:blip r:embed="rId6">
                  <a:extLst/>
                </a:blip>
                <a:stretch>
                  <a:fillRect/>
                </a:stretch>
              </p:blipFill>
              <p:spPr>
                <a:xfrm>
                  <a:off x="270340" y="501170"/>
                  <a:ext cx="204490" cy="7486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5" name="ku-logo.pdf" descr="ku-logo.pdf"/>
                <p:cNvPicPr>
                  <a:picLocks noChangeAspect="0"/>
                </p:cNvPicPr>
                <p:nvPr/>
              </p:nvPicPr>
              <p:blipFill>
                <a:blip r:embed="rId7">
                  <a:extLst/>
                </a:blip>
                <a:stretch>
                  <a:fillRect/>
                </a:stretch>
              </p:blipFill>
              <p:spPr>
                <a:xfrm>
                  <a:off x="131011" y="451261"/>
                  <a:ext cx="128373" cy="17441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6" name="ESS_Logo_Frugal_Blue_cmyk.png" descr="ESS_Logo_Frugal_Blue_cmyk.png"/>
                <p:cNvPicPr>
                  <a:picLocks noChangeAspect="0"/>
                </p:cNvPicPr>
                <p:nvPr/>
              </p:nvPicPr>
              <p:blipFill>
                <a:blip r:embed="rId8">
                  <a:extLst/>
                </a:blip>
                <a:stretch>
                  <a:fillRect/>
                </a:stretch>
              </p:blipFill>
              <p:spPr>
                <a:xfrm>
                  <a:off x="214914" y="607364"/>
                  <a:ext cx="279297" cy="15028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pic>
          <p:nvPicPr>
            <p:cNvPr id="19" name="Image" descr="Image"/>
            <p:cNvPicPr>
              <a:picLocks noChangeAspect="1"/>
            </p:cNvPicPr>
            <p:nvPr/>
          </p:nvPicPr>
          <p:blipFill>
            <a:blip r:embed="rId9">
              <a:extLst/>
            </a:blip>
            <a:srcRect l="0" t="0" r="77004" b="0"/>
            <a:stretch>
              <a:fillRect/>
            </a:stretch>
          </p:blipFill>
          <p:spPr>
            <a:xfrm>
              <a:off x="44293" y="62025"/>
              <a:ext cx="617630" cy="6118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1" name="Title Text"/>
          <p:cNvSpPr txBox="1"/>
          <p:nvPr>
            <p:ph type="title"/>
          </p:nvPr>
        </p:nvSpPr>
        <p:spPr>
          <a:xfrm>
            <a:off x="608965" y="0"/>
            <a:ext cx="10961370" cy="14176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0"/>
    <p:sldLayoutId id="2147483650" r:id="rId11"/>
    <p:sldLayoutId id="2147483651" r:id="rId12"/>
    <p:sldLayoutId id="2147483652" r:id="rId13"/>
    <p:sldLayoutId id="2147483653" r:id="rId14"/>
    <p:sldLayoutId id="2147483654" r:id="rId15"/>
    <p:sldLayoutId id="2147483655" r:id="rId16"/>
    <p:sldLayoutId id="2147483656" r:id="rId17"/>
    <p:sldLayoutId id="2147483657" r:id="rId18"/>
    <p:sldLayoutId id="2147483658" r:id="rId19"/>
    <p:sldLayoutId id="2147483659" r:id="rId20"/>
    <p:sldLayoutId id="2147483660" r:id="rId21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198000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414000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–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615600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828000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–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1025999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1025999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1025999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1025999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1025999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2.jpeg"/><Relationship Id="rId4" Type="http://schemas.openxmlformats.org/officeDocument/2006/relationships/image" Target="../media/image17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20.png"/><Relationship Id="rId5" Type="http://schemas.openxmlformats.org/officeDocument/2006/relationships/image" Target="../media/image5.jpeg"/><Relationship Id="rId6" Type="http://schemas.openxmlformats.org/officeDocument/2006/relationships/image" Target="../media/image21.png"/><Relationship Id="rId7" Type="http://schemas.openxmlformats.org/officeDocument/2006/relationships/video" Target="../media/media1.mov"/><Relationship Id="rId8" Type="http://schemas.microsoft.com/office/2007/relationships/media" Target="../media/media1.mov"/><Relationship Id="rId9" Type="http://schemas.openxmlformats.org/officeDocument/2006/relationships/image" Target="../media/image22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3" Type="http://schemas.openxmlformats.org/officeDocument/2006/relationships/image" Target="../media/image23.png"/><Relationship Id="rId4" Type="http://schemas.openxmlformats.org/officeDocument/2006/relationships/image" Target="../media/image4.jpeg"/><Relationship Id="rId5" Type="http://schemas.openxmlformats.org/officeDocument/2006/relationships/image" Target="../media/image20.png"/><Relationship Id="rId6" Type="http://schemas.openxmlformats.org/officeDocument/2006/relationships/image" Target="../media/image5.jpeg"/><Relationship Id="rId7" Type="http://schemas.openxmlformats.org/officeDocument/2006/relationships/image" Target="../media/image21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video" Target="../media/media2.mov"/><Relationship Id="rId11" Type="http://schemas.microsoft.com/office/2007/relationships/media" Target="../media/media2.mov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3.jpeg"/><Relationship Id="rId4" Type="http://schemas.openxmlformats.org/officeDocument/2006/relationships/image" Target="../media/image23.png"/><Relationship Id="rId5" Type="http://schemas.openxmlformats.org/officeDocument/2006/relationships/image" Target="../media/image4.jpeg"/><Relationship Id="rId6" Type="http://schemas.openxmlformats.org/officeDocument/2006/relationships/image" Target="../media/image20.png"/><Relationship Id="rId7" Type="http://schemas.openxmlformats.org/officeDocument/2006/relationships/image" Target="../media/image5.jpeg"/><Relationship Id="rId8" Type="http://schemas.openxmlformats.org/officeDocument/2006/relationships/image" Target="../media/image21.png"/><Relationship Id="rId9" Type="http://schemas.openxmlformats.org/officeDocument/2006/relationships/video" Target="../media/media1.mov"/><Relationship Id="rId10" Type="http://schemas.microsoft.com/office/2007/relationships/media" Target="../media/media1.mov"/><Relationship Id="rId11" Type="http://schemas.openxmlformats.org/officeDocument/2006/relationships/image" Target="../media/image22.png"/><Relationship Id="rId12" Type="http://schemas.openxmlformats.org/officeDocument/2006/relationships/image" Target="../media/image24.png"/><Relationship Id="rId13" Type="http://schemas.openxmlformats.org/officeDocument/2006/relationships/image" Target="../media/image25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hyperlink" Target="mailto:neutron-mc@risoe.dk" TargetMode="External"/><Relationship Id="rId4" Type="http://schemas.openxmlformats.org/officeDocument/2006/relationships/hyperlink" Target="http://www.mcstas.org/" TargetMode="External"/><Relationship Id="rId5" Type="http://schemas.openxmlformats.org/officeDocument/2006/relationships/image" Target="../media/image32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neutron-mc@risoe.dk" TargetMode="External"/><Relationship Id="rId3" Type="http://schemas.openxmlformats.org/officeDocument/2006/relationships/hyperlink" Target="http://www.mcstas.org/" TargetMode="External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Relationship Id="rId11" Type="http://schemas.openxmlformats.org/officeDocument/2006/relationships/image" Target="../media/image40.png"/><Relationship Id="rId12" Type="http://schemas.openxmlformats.org/officeDocument/2006/relationships/image" Target="../media/image41.png"/><Relationship Id="rId13" Type="http://schemas.openxmlformats.org/officeDocument/2006/relationships/image" Target="../media/image42.png"/><Relationship Id="rId14" Type="http://schemas.openxmlformats.org/officeDocument/2006/relationships/image" Target="../media/image43.png"/><Relationship Id="rId15" Type="http://schemas.openxmlformats.org/officeDocument/2006/relationships/image" Target="../media/image44.png"/><Relationship Id="rId16" Type="http://schemas.openxmlformats.org/officeDocument/2006/relationships/image" Target="../media/image45.png"/><Relationship Id="rId17" Type="http://schemas.openxmlformats.org/officeDocument/2006/relationships/image" Target="../media/image46.png"/><Relationship Id="rId18" Type="http://schemas.openxmlformats.org/officeDocument/2006/relationships/image" Target="../media/image47.png"/><Relationship Id="rId19" Type="http://schemas.openxmlformats.org/officeDocument/2006/relationships/image" Target="../media/image48.png"/><Relationship Id="rId20" Type="http://schemas.openxmlformats.org/officeDocument/2006/relationships/image" Target="../media/image49.png"/><Relationship Id="rId21" Type="http://schemas.openxmlformats.org/officeDocument/2006/relationships/image" Target="../media/image50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6.jpeg"/><Relationship Id="rId8" Type="http://schemas.openxmlformats.org/officeDocument/2006/relationships/image" Target="../media/image7.jpeg"/><Relationship Id="rId9" Type="http://schemas.openxmlformats.org/officeDocument/2006/relationships/image" Target="../media/image56.png"/><Relationship Id="rId10" Type="http://schemas.openxmlformats.org/officeDocument/2006/relationships/image" Target="../media/image57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8.png"/><Relationship Id="rId3" Type="http://schemas.openxmlformats.org/officeDocument/2006/relationships/image" Target="../media/image62.png"/><Relationship Id="rId4" Type="http://schemas.openxmlformats.org/officeDocument/2006/relationships/hyperlink" Target="https://doi.org/10.1016/j.nima.2024.169291" TargetMode="External"/><Relationship Id="rId5" Type="http://schemas.openxmlformats.org/officeDocument/2006/relationships/image" Target="../media/image63.pn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6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7.png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.png"/><Relationship Id="rId3" Type="http://schemas.openxmlformats.org/officeDocument/2006/relationships/image" Target="../media/image11.jpeg"/><Relationship Id="rId4" Type="http://schemas.openxmlformats.org/officeDocument/2006/relationships/image" Target="../media/image69.png"/><Relationship Id="rId5" Type="http://schemas.openxmlformats.org/officeDocument/2006/relationships/image" Target="../media/image12.jpeg"/><Relationship Id="rId6" Type="http://schemas.openxmlformats.org/officeDocument/2006/relationships/image" Target="../media/image13.jpeg"/><Relationship Id="rId7" Type="http://schemas.openxmlformats.org/officeDocument/2006/relationships/image" Target="../media/image70.png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.png"/><Relationship Id="rId3" Type="http://schemas.openxmlformats.org/officeDocument/2006/relationships/image" Target="../media/image11.jpeg"/><Relationship Id="rId4" Type="http://schemas.openxmlformats.org/officeDocument/2006/relationships/image" Target="../media/image69.png"/><Relationship Id="rId5" Type="http://schemas.openxmlformats.org/officeDocument/2006/relationships/image" Target="../media/image12.jpeg"/><Relationship Id="rId6" Type="http://schemas.openxmlformats.org/officeDocument/2006/relationships/image" Target="../media/image13.jpeg"/><Relationship Id="rId7" Type="http://schemas.openxmlformats.org/officeDocument/2006/relationships/image" Target="../media/image70.png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1.png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Relationship Id="rId7" Type="http://schemas.openxmlformats.org/officeDocument/2006/relationships/image" Target="../media/image77.png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.png"/><Relationship Id="rId3" Type="http://schemas.openxmlformats.org/officeDocument/2006/relationships/image" Target="../media/image72.png"/><Relationship Id="rId4" Type="http://schemas.openxmlformats.org/officeDocument/2006/relationships/image" Target="../media/image79.png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3.png"/><Relationship Id="rId3" Type="http://schemas.openxmlformats.org/officeDocument/2006/relationships/image" Target="../media/image72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png"/><Relationship Id="rId3" Type="http://schemas.openxmlformats.org/officeDocument/2006/relationships/image" Target="../media/image87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Relationship Id="rId9" Type="http://schemas.openxmlformats.org/officeDocument/2006/relationships/image" Target="../media/image93.png"/><Relationship Id="rId10" Type="http://schemas.openxmlformats.org/officeDocument/2006/relationships/image" Target="../media/image94.png"/><Relationship Id="rId11" Type="http://schemas.openxmlformats.org/officeDocument/2006/relationships/image" Target="../media/image95.png"/><Relationship Id="rId12" Type="http://schemas.openxmlformats.org/officeDocument/2006/relationships/image" Target="../media/image96.png"/><Relationship Id="rId13" Type="http://schemas.openxmlformats.org/officeDocument/2006/relationships/image" Target="../media/image97.png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8.png"/><Relationship Id="rId3" Type="http://schemas.openxmlformats.org/officeDocument/2006/relationships/image" Target="../media/image99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2.png"/></Relationships>
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03.png"/><Relationship Id="rId4" Type="http://schemas.openxmlformats.org/officeDocument/2006/relationships/image" Target="../media/image104.png"/><Relationship Id="rId5" Type="http://schemas.openxmlformats.org/officeDocument/2006/relationships/image" Target="../media/image105.png"/><Relationship Id="rId6" Type="http://schemas.openxmlformats.org/officeDocument/2006/relationships/image" Target="../media/image106.png"/><Relationship Id="rId7" Type="http://schemas.openxmlformats.org/officeDocument/2006/relationships/image" Target="../media/image107.png"/><Relationship Id="rId8" Type="http://schemas.openxmlformats.org/officeDocument/2006/relationships/image" Target="../media/image108.png"/><Relationship Id="rId9" Type="http://schemas.openxmlformats.org/officeDocument/2006/relationships/image" Target="../media/image109.png"/><Relationship Id="rId10" Type="http://schemas.openxmlformats.org/officeDocument/2006/relationships/image" Target="../media/image110.png"/><Relationship Id="rId11" Type="http://schemas.openxmlformats.org/officeDocument/2006/relationships/image" Target="../media/image111.png"/></Relationships>
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2.png"/><Relationship Id="rId3" Type="http://schemas.openxmlformats.org/officeDocument/2006/relationships/image" Target="../media/image113.png"/></Relationships>
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4.png"/><Relationship Id="rId3" Type="http://schemas.openxmlformats.org/officeDocument/2006/relationships/image" Target="../media/image115.png"/><Relationship Id="rId4" Type="http://schemas.openxmlformats.org/officeDocument/2006/relationships/image" Target="../media/image116.png"/></Relationships>
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7.png"/><Relationship Id="rId3" Type="http://schemas.openxmlformats.org/officeDocument/2006/relationships/image" Target="../media/image118.png"/><Relationship Id="rId4" Type="http://schemas.openxmlformats.org/officeDocument/2006/relationships/image" Target="../media/image119.png"/></Relationships>
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0.png"/><Relationship Id="rId3" Type="http://schemas.openxmlformats.org/officeDocument/2006/relationships/image" Target="../media/image121.png"/></Relationships>
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0.png"/><Relationship Id="rId3" Type="http://schemas.openxmlformats.org/officeDocument/2006/relationships/image" Target="../media/image121.png"/></Relationships>
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2.png"/><Relationship Id="rId3" Type="http://schemas.openxmlformats.org/officeDocument/2006/relationships/image" Target="../media/image123.png"/><Relationship Id="rId4" Type="http://schemas.openxmlformats.org/officeDocument/2006/relationships/image" Target="../media/image124.png"/><Relationship Id="rId5" Type="http://schemas.openxmlformats.org/officeDocument/2006/relationships/image" Target="../media/image29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127.png"/><Relationship Id="rId9" Type="http://schemas.openxmlformats.org/officeDocument/2006/relationships/image" Target="../media/image128.png"/><Relationship Id="rId10" Type="http://schemas.openxmlformats.org/officeDocument/2006/relationships/image" Target="../media/image129.png"/><Relationship Id="rId11" Type="http://schemas.openxmlformats.org/officeDocument/2006/relationships/image" Target="../media/image130.png"/><Relationship Id="rId12" Type="http://schemas.openxmlformats.org/officeDocument/2006/relationships/image" Target="../media/image131.png"/></Relationships>
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2.png"/><Relationship Id="rId3" Type="http://schemas.openxmlformats.org/officeDocument/2006/relationships/image" Target="../media/image6.tif"/></Relationships>
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3.png"/><Relationship Id="rId3" Type="http://schemas.openxmlformats.org/officeDocument/2006/relationships/image" Target="../media/image1.gif"/></Relationships>
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3.png"/><Relationship Id="rId3" Type="http://schemas.openxmlformats.org/officeDocument/2006/relationships/image" Target="../media/image1.gif"/></Relationships>
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4.png"/><Relationship Id="rId3" Type="http://schemas.openxmlformats.org/officeDocument/2006/relationships/image" Target="../media/image135.png"/><Relationship Id="rId4" Type="http://schemas.openxmlformats.org/officeDocument/2006/relationships/image" Target="../media/image136.png"/><Relationship Id="rId5" Type="http://schemas.openxmlformats.org/officeDocument/2006/relationships/image" Target="../media/image137.png"/><Relationship Id="rId6" Type="http://schemas.openxmlformats.org/officeDocument/2006/relationships/image" Target="../media/image138.png"/><Relationship Id="rId7" Type="http://schemas.openxmlformats.org/officeDocument/2006/relationships/image" Target="../media/image139.png"/><Relationship Id="rId8" Type="http://schemas.openxmlformats.org/officeDocument/2006/relationships/image" Target="../media/image140.png"/></Relationships>
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1.png"/><Relationship Id="rId3" Type="http://schemas.openxmlformats.org/officeDocument/2006/relationships/image" Target="../media/image6.png"/><Relationship Id="rId4" Type="http://schemas.openxmlformats.org/officeDocument/2006/relationships/image" Target="../media/image142.png"/><Relationship Id="rId5" Type="http://schemas.openxmlformats.org/officeDocument/2006/relationships/image" Target="../media/image2.png"/><Relationship Id="rId6" Type="http://schemas.openxmlformats.org/officeDocument/2006/relationships/image" Target="../media/image143.png"/><Relationship Id="rId7" Type="http://schemas.openxmlformats.org/officeDocument/2006/relationships/image" Target="../media/image144.png"/></Relationships>
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5.png"/><Relationship Id="rId3" Type="http://schemas.openxmlformats.org/officeDocument/2006/relationships/image" Target="../media/image146.png"/><Relationship Id="rId4" Type="http://schemas.openxmlformats.org/officeDocument/2006/relationships/image" Target="../media/image147.png"/></Relationships>
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19" name="McStas Introduction  and general concepts"/>
          <p:cNvSpPr txBox="1"/>
          <p:nvPr/>
        </p:nvSpPr>
        <p:spPr>
          <a:xfrm>
            <a:off x="3121513" y="2306454"/>
            <a:ext cx="8232759" cy="2073592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25400" dist="127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>
              <a:defRPr b="1" sz="4500"/>
            </a:pPr>
            <a:r>
              <a:t>McStas Introduction </a:t>
            </a:r>
            <a:br/>
            <a:r>
              <a:t>and general concepts</a:t>
            </a:r>
          </a:p>
        </p:txBody>
      </p:sp>
      <p:sp>
        <p:nvSpPr>
          <p:cNvPr id="320" name="2025 ISIS McStas School, November 4th-6th 2025"/>
          <p:cNvSpPr txBox="1"/>
          <p:nvPr/>
        </p:nvSpPr>
        <p:spPr>
          <a:xfrm>
            <a:off x="2222402" y="196644"/>
            <a:ext cx="8232759" cy="72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502920">
              <a:spcBef>
                <a:spcPts val="500"/>
              </a:spcBef>
              <a:defRPr b="1" sz="2475"/>
            </a:lvl1pPr>
          </a:lstStyle>
          <a:p>
            <a:pPr/>
            <a:r>
              <a:t>2025 ISIS McStas School, November 4th-6th 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Agend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</a:t>
            </a:r>
          </a:p>
        </p:txBody>
      </p:sp>
      <p:sp>
        <p:nvSpPr>
          <p:cNvPr id="323" name="A (very) brief introduction to McSta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A (very) brief introduction to McStas</a:t>
            </a:r>
          </a:p>
          <a:p>
            <a:pPr/>
          </a:p>
          <a:p>
            <a:pPr/>
            <a:r>
              <a:t>Components of neutron instruments</a:t>
            </a:r>
          </a:p>
          <a:p>
            <a:pPr/>
          </a:p>
          <a:p>
            <a:pPr/>
            <a:r>
              <a:t>How McStas works under the hood</a:t>
            </a:r>
          </a:p>
          <a:p>
            <a:pPr/>
          </a:p>
          <a:p>
            <a:pPr/>
            <a:r>
              <a:t>Components and instruments</a:t>
            </a:r>
          </a:p>
          <a:p>
            <a:pPr/>
          </a:p>
          <a:p>
            <a:pPr/>
            <a:r>
              <a:t>A demo</a:t>
            </a:r>
          </a:p>
        </p:txBody>
      </p:sp>
      <p:sp>
        <p:nvSpPr>
          <p:cNvPr id="324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Rectangle"/>
          <p:cNvSpPr/>
          <p:nvPr/>
        </p:nvSpPr>
        <p:spPr>
          <a:xfrm>
            <a:off x="2036783" y="1584135"/>
            <a:ext cx="8498034" cy="300511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327" name="In the big picture, McStas is this…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 the big picture, McStas is this…</a:t>
            </a:r>
          </a:p>
        </p:txBody>
      </p:sp>
      <p:sp>
        <p:nvSpPr>
          <p:cNvPr id="328" name="Classical Newtonian mechanics, i.e.                                                     and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  <a:r>
              <a:t>Classical Newtonian mechanics, i.e.                                                     and </a:t>
            </a:r>
          </a:p>
          <a:p>
            <a:pPr/>
          </a:p>
          <a:p>
            <a:pPr/>
            <a:r>
              <a:t>(independent, particles though…)</a:t>
            </a:r>
          </a:p>
        </p:txBody>
      </p:sp>
      <p:sp>
        <p:nvSpPr>
          <p:cNvPr id="329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330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07916" y="2121668"/>
            <a:ext cx="7283535" cy="2105785"/>
          </a:xfrm>
          <a:prstGeom prst="rect">
            <a:avLst/>
          </a:prstGeom>
          <a:ln w="12700">
            <a:miter lim="400000"/>
          </a:ln>
        </p:spPr>
      </p:pic>
      <p:pic>
        <p:nvPicPr>
          <p:cNvPr id="331" name="maxresdefault.jpg" descr="maxresdefault.jp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23726" y="4774540"/>
            <a:ext cx="3132663" cy="1762124"/>
          </a:xfrm>
          <a:prstGeom prst="rect">
            <a:avLst/>
          </a:prstGeom>
          <a:ln w="12700">
            <a:miter lim="400000"/>
          </a:ln>
        </p:spPr>
      </p:pic>
      <p:pic>
        <p:nvPicPr>
          <p:cNvPr id="332" name="Unknown.png" descr="Unknown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015216" y="4656060"/>
            <a:ext cx="1855660" cy="183102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Rectangle"/>
          <p:cNvSpPr/>
          <p:nvPr/>
        </p:nvSpPr>
        <p:spPr>
          <a:xfrm>
            <a:off x="2036783" y="1584135"/>
            <a:ext cx="8498034" cy="300511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335" name="In the big picture, McStas is this…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 the big picture, McStas is this…</a:t>
            </a:r>
          </a:p>
        </p:txBody>
      </p:sp>
      <p:sp>
        <p:nvSpPr>
          <p:cNvPr id="33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337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07916" y="2121668"/>
            <a:ext cx="7283535" cy="2105785"/>
          </a:xfrm>
          <a:prstGeom prst="rect">
            <a:avLst/>
          </a:prstGeom>
          <a:ln w="12700">
            <a:miter lim="400000"/>
          </a:ln>
        </p:spPr>
      </p:pic>
      <p:sp>
        <p:nvSpPr>
          <p:cNvPr id="338" name="Instrument"/>
          <p:cNvSpPr/>
          <p:nvPr/>
        </p:nvSpPr>
        <p:spPr>
          <a:xfrm>
            <a:off x="2288838" y="1432902"/>
            <a:ext cx="1112921" cy="29140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/>
          <a:p>
            <a:pPr/>
            <a:r>
              <a:t>Instrument</a:t>
            </a:r>
          </a:p>
        </p:txBody>
      </p:sp>
      <p:sp>
        <p:nvSpPr>
          <p:cNvPr id="339" name="The instrument defines our “lab coordinate system”"/>
          <p:cNvSpPr txBox="1"/>
          <p:nvPr/>
        </p:nvSpPr>
        <p:spPr>
          <a:xfrm>
            <a:off x="2517122" y="5273349"/>
            <a:ext cx="4598096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/>
            <a:r>
              <a:t>The instrument defines our “lab coordinate system”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Rectangle"/>
          <p:cNvSpPr/>
          <p:nvPr/>
        </p:nvSpPr>
        <p:spPr>
          <a:xfrm>
            <a:off x="2036783" y="1584135"/>
            <a:ext cx="8498034" cy="3005114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pic>
        <p:nvPicPr>
          <p:cNvPr id="342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07916" y="2121668"/>
            <a:ext cx="7283535" cy="2105785"/>
          </a:xfrm>
          <a:prstGeom prst="rect">
            <a:avLst/>
          </a:prstGeom>
          <a:ln w="12700">
            <a:miter lim="400000"/>
          </a:ln>
        </p:spPr>
      </p:pic>
      <p:sp>
        <p:nvSpPr>
          <p:cNvPr id="343" name="Rectangle"/>
          <p:cNvSpPr/>
          <p:nvPr/>
        </p:nvSpPr>
        <p:spPr>
          <a:xfrm>
            <a:off x="2629509" y="2793391"/>
            <a:ext cx="1266087" cy="1540433"/>
          </a:xfrm>
          <a:prstGeom prst="rect">
            <a:avLst/>
          </a:prstGeom>
          <a:ln w="25400">
            <a:solidFill>
              <a:schemeClr val="accent2"/>
            </a:solidFill>
          </a:ln>
        </p:spPr>
        <p:txBody>
          <a:bodyPr lIns="46799" tIns="46799" rIns="46799" bIns="46799" anchor="ctr"/>
          <a:lstStyle/>
          <a:p>
            <a:pPr>
              <a:defRPr sz="1300"/>
            </a:pPr>
          </a:p>
        </p:txBody>
      </p:sp>
      <p:sp>
        <p:nvSpPr>
          <p:cNvPr id="344" name="In the big picture, McStas is this…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 the big picture, McStas is this…</a:t>
            </a:r>
          </a:p>
        </p:txBody>
      </p:sp>
      <p:sp>
        <p:nvSpPr>
          <p:cNvPr id="3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46" name="Instrument"/>
          <p:cNvSpPr/>
          <p:nvPr/>
        </p:nvSpPr>
        <p:spPr>
          <a:xfrm>
            <a:off x="2288838" y="1432902"/>
            <a:ext cx="1112921" cy="29140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/>
          <a:p>
            <a:pPr/>
            <a:r>
              <a:t>Instrument</a:t>
            </a:r>
          </a:p>
        </p:txBody>
      </p:sp>
      <p:sp>
        <p:nvSpPr>
          <p:cNvPr id="347" name="Component"/>
          <p:cNvSpPr/>
          <p:nvPr/>
        </p:nvSpPr>
        <p:spPr>
          <a:xfrm>
            <a:off x="2768715" y="4191357"/>
            <a:ext cx="987675" cy="29140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2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>
            <a:lvl1pPr>
              <a:defRPr sz="1300"/>
            </a:lvl1pPr>
          </a:lstStyle>
          <a:p>
            <a:pPr/>
            <a:r>
              <a:t>Component</a:t>
            </a:r>
          </a:p>
        </p:txBody>
      </p:sp>
      <p:sp>
        <p:nvSpPr>
          <p:cNvPr id="348" name="Rectangle"/>
          <p:cNvSpPr/>
          <p:nvPr/>
        </p:nvSpPr>
        <p:spPr>
          <a:xfrm>
            <a:off x="5926871" y="3058404"/>
            <a:ext cx="1395144" cy="1010408"/>
          </a:xfrm>
          <a:prstGeom prst="rect">
            <a:avLst/>
          </a:prstGeom>
          <a:ln w="25400">
            <a:solidFill>
              <a:schemeClr val="accent2"/>
            </a:solidFill>
          </a:ln>
        </p:spPr>
        <p:txBody>
          <a:bodyPr lIns="46799" tIns="46799" rIns="46799" bIns="46799" anchor="ctr"/>
          <a:lstStyle/>
          <a:p>
            <a:pPr>
              <a:defRPr sz="1300"/>
            </a:pPr>
          </a:p>
        </p:txBody>
      </p:sp>
      <p:sp>
        <p:nvSpPr>
          <p:cNvPr id="349" name="Component"/>
          <p:cNvSpPr/>
          <p:nvPr/>
        </p:nvSpPr>
        <p:spPr>
          <a:xfrm>
            <a:off x="6071609" y="3979631"/>
            <a:ext cx="987675" cy="29140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2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>
            <a:lvl1pPr>
              <a:defRPr sz="1300"/>
            </a:lvl1pPr>
          </a:lstStyle>
          <a:p>
            <a:pPr/>
            <a:r>
              <a:t>Component</a:t>
            </a:r>
          </a:p>
        </p:txBody>
      </p:sp>
      <p:sp>
        <p:nvSpPr>
          <p:cNvPr id="350" name="Rectangle"/>
          <p:cNvSpPr/>
          <p:nvPr/>
        </p:nvSpPr>
        <p:spPr>
          <a:xfrm>
            <a:off x="7556119" y="2923796"/>
            <a:ext cx="987675" cy="1426181"/>
          </a:xfrm>
          <a:prstGeom prst="rect">
            <a:avLst/>
          </a:prstGeom>
          <a:ln w="25400">
            <a:solidFill>
              <a:schemeClr val="accent2"/>
            </a:solidFill>
          </a:ln>
        </p:spPr>
        <p:txBody>
          <a:bodyPr lIns="46799" tIns="46799" rIns="46799" bIns="46799" anchor="ctr"/>
          <a:lstStyle/>
          <a:p>
            <a:pPr>
              <a:defRPr sz="1300"/>
            </a:pPr>
          </a:p>
        </p:txBody>
      </p:sp>
      <p:sp>
        <p:nvSpPr>
          <p:cNvPr id="351" name="Component"/>
          <p:cNvSpPr/>
          <p:nvPr/>
        </p:nvSpPr>
        <p:spPr>
          <a:xfrm>
            <a:off x="8027556" y="4191357"/>
            <a:ext cx="987675" cy="29140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2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>
            <a:lvl1pPr>
              <a:defRPr sz="1300"/>
            </a:lvl1pPr>
          </a:lstStyle>
          <a:p>
            <a:pPr/>
            <a:r>
              <a:t>Component</a:t>
            </a:r>
          </a:p>
        </p:txBody>
      </p:sp>
      <p:sp>
        <p:nvSpPr>
          <p:cNvPr id="352" name="The instrument defines our “lab coordinate system”"/>
          <p:cNvSpPr txBox="1"/>
          <p:nvPr/>
        </p:nvSpPr>
        <p:spPr>
          <a:xfrm>
            <a:off x="2517122" y="5273349"/>
            <a:ext cx="4598096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/>
            <a:r>
              <a:t>The instrument defines our “lab coordinate system”</a:t>
            </a:r>
          </a:p>
        </p:txBody>
      </p:sp>
      <p:sp>
        <p:nvSpPr>
          <p:cNvPr id="353" name="The components define devices or features available in our instrument"/>
          <p:cNvSpPr txBox="1"/>
          <p:nvPr/>
        </p:nvSpPr>
        <p:spPr>
          <a:xfrm>
            <a:off x="2517122" y="5527349"/>
            <a:ext cx="6337996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/>
            <a:r>
              <a:t>The components define devices or features available in our instrument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Rectangle"/>
          <p:cNvSpPr/>
          <p:nvPr/>
        </p:nvSpPr>
        <p:spPr>
          <a:xfrm>
            <a:off x="2036783" y="1584135"/>
            <a:ext cx="8498034" cy="3005114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pic>
        <p:nvPicPr>
          <p:cNvPr id="356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07916" y="2121668"/>
            <a:ext cx="7283535" cy="2105785"/>
          </a:xfrm>
          <a:prstGeom prst="rect">
            <a:avLst/>
          </a:prstGeom>
          <a:ln w="12700">
            <a:miter lim="400000"/>
          </a:ln>
        </p:spPr>
      </p:pic>
      <p:sp>
        <p:nvSpPr>
          <p:cNvPr id="357" name="Rectangle"/>
          <p:cNvSpPr/>
          <p:nvPr/>
        </p:nvSpPr>
        <p:spPr>
          <a:xfrm>
            <a:off x="2629509" y="2793391"/>
            <a:ext cx="1266087" cy="1540433"/>
          </a:xfrm>
          <a:prstGeom prst="rect">
            <a:avLst/>
          </a:prstGeom>
          <a:ln w="25400">
            <a:solidFill>
              <a:schemeClr val="accent2"/>
            </a:solidFill>
          </a:ln>
        </p:spPr>
        <p:txBody>
          <a:bodyPr lIns="46799" tIns="46799" rIns="46799" bIns="46799" anchor="ctr"/>
          <a:lstStyle/>
          <a:p>
            <a:pPr>
              <a:defRPr sz="1300"/>
            </a:pPr>
          </a:p>
        </p:txBody>
      </p:sp>
      <p:sp>
        <p:nvSpPr>
          <p:cNvPr id="358" name="In the big picture, McStas is this…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 the big picture, McStas is this…</a:t>
            </a:r>
          </a:p>
        </p:txBody>
      </p:sp>
      <p:sp>
        <p:nvSpPr>
          <p:cNvPr id="359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60" name="Instrument"/>
          <p:cNvSpPr/>
          <p:nvPr/>
        </p:nvSpPr>
        <p:spPr>
          <a:xfrm>
            <a:off x="2288838" y="1432902"/>
            <a:ext cx="1112921" cy="29140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/>
          <a:p>
            <a:pPr/>
            <a:r>
              <a:t>Instrument</a:t>
            </a:r>
          </a:p>
        </p:txBody>
      </p:sp>
      <p:sp>
        <p:nvSpPr>
          <p:cNvPr id="361" name="Source"/>
          <p:cNvSpPr/>
          <p:nvPr/>
        </p:nvSpPr>
        <p:spPr>
          <a:xfrm>
            <a:off x="2768715" y="4191357"/>
            <a:ext cx="987675" cy="29140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2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>
            <a:lvl1pPr>
              <a:defRPr sz="1300"/>
            </a:lvl1pPr>
          </a:lstStyle>
          <a:p>
            <a:pPr/>
            <a:r>
              <a:t>Source</a:t>
            </a:r>
          </a:p>
        </p:txBody>
      </p:sp>
      <p:sp>
        <p:nvSpPr>
          <p:cNvPr id="362" name="Rectangle"/>
          <p:cNvSpPr/>
          <p:nvPr/>
        </p:nvSpPr>
        <p:spPr>
          <a:xfrm>
            <a:off x="5926871" y="3058404"/>
            <a:ext cx="1395144" cy="1010408"/>
          </a:xfrm>
          <a:prstGeom prst="rect">
            <a:avLst/>
          </a:prstGeom>
          <a:ln w="25400">
            <a:solidFill>
              <a:schemeClr val="accent2"/>
            </a:solidFill>
          </a:ln>
        </p:spPr>
        <p:txBody>
          <a:bodyPr lIns="46799" tIns="46799" rIns="46799" bIns="46799" anchor="ctr"/>
          <a:lstStyle/>
          <a:p>
            <a:pPr>
              <a:defRPr sz="1300"/>
            </a:pPr>
          </a:p>
        </p:txBody>
      </p:sp>
      <p:sp>
        <p:nvSpPr>
          <p:cNvPr id="363" name="Sample"/>
          <p:cNvSpPr/>
          <p:nvPr/>
        </p:nvSpPr>
        <p:spPr>
          <a:xfrm>
            <a:off x="6071609" y="3979631"/>
            <a:ext cx="987675" cy="29140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2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>
            <a:lvl1pPr>
              <a:defRPr sz="1300"/>
            </a:lvl1pPr>
          </a:lstStyle>
          <a:p>
            <a:pPr/>
            <a:r>
              <a:t>Sample</a:t>
            </a:r>
          </a:p>
        </p:txBody>
      </p:sp>
      <p:sp>
        <p:nvSpPr>
          <p:cNvPr id="364" name="Rectangle"/>
          <p:cNvSpPr/>
          <p:nvPr/>
        </p:nvSpPr>
        <p:spPr>
          <a:xfrm>
            <a:off x="7556119" y="2923796"/>
            <a:ext cx="987675" cy="1426181"/>
          </a:xfrm>
          <a:prstGeom prst="rect">
            <a:avLst/>
          </a:prstGeom>
          <a:ln w="25400">
            <a:solidFill>
              <a:schemeClr val="accent2"/>
            </a:solidFill>
          </a:ln>
        </p:spPr>
        <p:txBody>
          <a:bodyPr lIns="46799" tIns="46799" rIns="46799" bIns="46799" anchor="ctr"/>
          <a:lstStyle/>
          <a:p>
            <a:pPr>
              <a:defRPr sz="1300"/>
            </a:pPr>
          </a:p>
        </p:txBody>
      </p:sp>
      <p:sp>
        <p:nvSpPr>
          <p:cNvPr id="365" name="Monitor"/>
          <p:cNvSpPr/>
          <p:nvPr/>
        </p:nvSpPr>
        <p:spPr>
          <a:xfrm>
            <a:off x="8027556" y="4191357"/>
            <a:ext cx="987675" cy="29140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2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>
            <a:lvl1pPr>
              <a:defRPr sz="1300"/>
            </a:lvl1pPr>
          </a:lstStyle>
          <a:p>
            <a:pPr/>
            <a:r>
              <a:t>Monitor</a:t>
            </a:r>
          </a:p>
        </p:txBody>
      </p:sp>
      <p:sp>
        <p:nvSpPr>
          <p:cNvPr id="366" name="The instrument defines our “lab coordinate system”"/>
          <p:cNvSpPr txBox="1"/>
          <p:nvPr/>
        </p:nvSpPr>
        <p:spPr>
          <a:xfrm>
            <a:off x="2517122" y="5273349"/>
            <a:ext cx="4598096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/>
            <a:r>
              <a:t>The instrument defines our “lab coordinate system”</a:t>
            </a:r>
          </a:p>
        </p:txBody>
      </p:sp>
      <p:sp>
        <p:nvSpPr>
          <p:cNvPr id="367" name="The components define devices or features available in our instrument - they have different function"/>
          <p:cNvSpPr txBox="1"/>
          <p:nvPr/>
        </p:nvSpPr>
        <p:spPr>
          <a:xfrm>
            <a:off x="2517122" y="5527349"/>
            <a:ext cx="8954890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/>
            <a:r>
              <a:t>The components define devices or features available in our instrument - they have different function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Rectangle"/>
          <p:cNvSpPr/>
          <p:nvPr/>
        </p:nvSpPr>
        <p:spPr>
          <a:xfrm>
            <a:off x="2036783" y="1584135"/>
            <a:ext cx="8498034" cy="3005114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pic>
        <p:nvPicPr>
          <p:cNvPr id="370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07916" y="2121668"/>
            <a:ext cx="7283535" cy="2105785"/>
          </a:xfrm>
          <a:prstGeom prst="rect">
            <a:avLst/>
          </a:prstGeom>
          <a:ln w="12700">
            <a:miter lim="400000"/>
          </a:ln>
        </p:spPr>
      </p:pic>
      <p:sp>
        <p:nvSpPr>
          <p:cNvPr id="371" name="Rectangle"/>
          <p:cNvSpPr/>
          <p:nvPr/>
        </p:nvSpPr>
        <p:spPr>
          <a:xfrm>
            <a:off x="2629509" y="2793391"/>
            <a:ext cx="1266087" cy="1540433"/>
          </a:xfrm>
          <a:prstGeom prst="rect">
            <a:avLst/>
          </a:prstGeom>
          <a:ln w="25400">
            <a:solidFill>
              <a:schemeClr val="accent2"/>
            </a:solidFill>
          </a:ln>
        </p:spPr>
        <p:txBody>
          <a:bodyPr lIns="46799" tIns="46799" rIns="46799" bIns="46799" anchor="ctr"/>
          <a:lstStyle/>
          <a:p>
            <a:pPr>
              <a:defRPr sz="1300"/>
            </a:pPr>
          </a:p>
        </p:txBody>
      </p:sp>
      <p:sp>
        <p:nvSpPr>
          <p:cNvPr id="372" name="In the big picture, McStas is this…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 the big picture, McStas is this…</a:t>
            </a:r>
          </a:p>
        </p:txBody>
      </p:sp>
      <p:sp>
        <p:nvSpPr>
          <p:cNvPr id="373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74" name="Instrument"/>
          <p:cNvSpPr/>
          <p:nvPr/>
        </p:nvSpPr>
        <p:spPr>
          <a:xfrm>
            <a:off x="2288838" y="1432902"/>
            <a:ext cx="1112921" cy="29140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/>
          <a:p>
            <a:pPr/>
            <a:r>
              <a:t>Instrument</a:t>
            </a:r>
          </a:p>
        </p:txBody>
      </p:sp>
      <p:sp>
        <p:nvSpPr>
          <p:cNvPr id="375" name="Source"/>
          <p:cNvSpPr/>
          <p:nvPr/>
        </p:nvSpPr>
        <p:spPr>
          <a:xfrm>
            <a:off x="2768715" y="4191357"/>
            <a:ext cx="987675" cy="29140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2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>
            <a:lvl1pPr>
              <a:defRPr sz="1300"/>
            </a:lvl1pPr>
          </a:lstStyle>
          <a:p>
            <a:pPr/>
            <a:r>
              <a:t>Source</a:t>
            </a:r>
          </a:p>
        </p:txBody>
      </p:sp>
      <p:sp>
        <p:nvSpPr>
          <p:cNvPr id="376" name="Rectangle"/>
          <p:cNvSpPr/>
          <p:nvPr/>
        </p:nvSpPr>
        <p:spPr>
          <a:xfrm>
            <a:off x="5926871" y="3058404"/>
            <a:ext cx="1395144" cy="1010408"/>
          </a:xfrm>
          <a:prstGeom prst="rect">
            <a:avLst/>
          </a:prstGeom>
          <a:ln w="25400">
            <a:solidFill>
              <a:schemeClr val="accent2"/>
            </a:solidFill>
          </a:ln>
        </p:spPr>
        <p:txBody>
          <a:bodyPr lIns="46799" tIns="46799" rIns="46799" bIns="46799" anchor="ctr"/>
          <a:lstStyle/>
          <a:p>
            <a:pPr>
              <a:defRPr sz="1300"/>
            </a:pPr>
          </a:p>
        </p:txBody>
      </p:sp>
      <p:sp>
        <p:nvSpPr>
          <p:cNvPr id="377" name="Sample"/>
          <p:cNvSpPr/>
          <p:nvPr/>
        </p:nvSpPr>
        <p:spPr>
          <a:xfrm>
            <a:off x="6071609" y="3979631"/>
            <a:ext cx="987675" cy="29140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2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>
            <a:lvl1pPr>
              <a:defRPr sz="1300"/>
            </a:lvl1pPr>
          </a:lstStyle>
          <a:p>
            <a:pPr/>
            <a:r>
              <a:t>Sample</a:t>
            </a:r>
          </a:p>
        </p:txBody>
      </p:sp>
      <p:sp>
        <p:nvSpPr>
          <p:cNvPr id="378" name="Rectangle"/>
          <p:cNvSpPr/>
          <p:nvPr/>
        </p:nvSpPr>
        <p:spPr>
          <a:xfrm>
            <a:off x="7556119" y="2923796"/>
            <a:ext cx="987675" cy="1426181"/>
          </a:xfrm>
          <a:prstGeom prst="rect">
            <a:avLst/>
          </a:prstGeom>
          <a:ln w="25400">
            <a:solidFill>
              <a:schemeClr val="accent2"/>
            </a:solidFill>
          </a:ln>
        </p:spPr>
        <p:txBody>
          <a:bodyPr lIns="46799" tIns="46799" rIns="46799" bIns="46799" anchor="ctr"/>
          <a:lstStyle/>
          <a:p>
            <a:pPr>
              <a:defRPr sz="1300"/>
            </a:pPr>
          </a:p>
        </p:txBody>
      </p:sp>
      <p:sp>
        <p:nvSpPr>
          <p:cNvPr id="379" name="Monitor"/>
          <p:cNvSpPr/>
          <p:nvPr/>
        </p:nvSpPr>
        <p:spPr>
          <a:xfrm>
            <a:off x="8027556" y="4191357"/>
            <a:ext cx="987675" cy="29140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2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>
            <a:lvl1pPr>
              <a:defRPr sz="1300"/>
            </a:lvl1pPr>
          </a:lstStyle>
          <a:p>
            <a:pPr/>
            <a:r>
              <a:t>Monitor</a:t>
            </a:r>
          </a:p>
        </p:txBody>
      </p:sp>
      <p:sp>
        <p:nvSpPr>
          <p:cNvPr id="380" name="Neutrons"/>
          <p:cNvSpPr/>
          <p:nvPr/>
        </p:nvSpPr>
        <p:spPr>
          <a:xfrm>
            <a:off x="6064075" y="4791240"/>
            <a:ext cx="987675" cy="372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3">
                <a:lumOff val="-9372"/>
              </a:schemeClr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/>
          <a:p>
            <a:pPr/>
            <a:r>
              <a:t>Neutrons</a:t>
            </a:r>
          </a:p>
        </p:txBody>
      </p:sp>
      <p:sp>
        <p:nvSpPr>
          <p:cNvPr id="381" name="Line"/>
          <p:cNvSpPr/>
          <p:nvPr/>
        </p:nvSpPr>
        <p:spPr>
          <a:xfrm flipH="1" flipV="1">
            <a:off x="4112751" y="3842548"/>
            <a:ext cx="2174553" cy="955358"/>
          </a:xfrm>
          <a:prstGeom prst="line">
            <a:avLst/>
          </a:prstGeom>
          <a:ln w="25400">
            <a:solidFill>
              <a:schemeClr val="accent3">
                <a:lumOff val="-9372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2" name="Line"/>
          <p:cNvSpPr/>
          <p:nvPr/>
        </p:nvSpPr>
        <p:spPr>
          <a:xfrm flipV="1">
            <a:off x="6557913" y="3757942"/>
            <a:ext cx="1" cy="1026279"/>
          </a:xfrm>
          <a:prstGeom prst="line">
            <a:avLst/>
          </a:prstGeom>
          <a:ln w="25400">
            <a:solidFill>
              <a:schemeClr val="accent3">
                <a:lumOff val="-9372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3" name="Line"/>
          <p:cNvSpPr/>
          <p:nvPr/>
        </p:nvSpPr>
        <p:spPr>
          <a:xfrm flipV="1">
            <a:off x="6923797" y="3752884"/>
            <a:ext cx="573613" cy="1030216"/>
          </a:xfrm>
          <a:prstGeom prst="line">
            <a:avLst/>
          </a:prstGeom>
          <a:ln w="25400">
            <a:solidFill>
              <a:schemeClr val="accent3">
                <a:lumOff val="-9372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4" name="The instrument defines our “lab coordinate system”"/>
          <p:cNvSpPr txBox="1"/>
          <p:nvPr/>
        </p:nvSpPr>
        <p:spPr>
          <a:xfrm>
            <a:off x="2517122" y="5273349"/>
            <a:ext cx="4598096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/>
            <a:r>
              <a:t>The instrument defines our “lab coordinate system”</a:t>
            </a:r>
          </a:p>
        </p:txBody>
      </p:sp>
      <p:sp>
        <p:nvSpPr>
          <p:cNvPr id="385" name="The components define devices or features available in our instrument - they have different function"/>
          <p:cNvSpPr txBox="1"/>
          <p:nvPr/>
        </p:nvSpPr>
        <p:spPr>
          <a:xfrm>
            <a:off x="2517122" y="5527349"/>
            <a:ext cx="8954890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/>
            <a:r>
              <a:t>The components define devices or features available in our instrument - they have different function</a:t>
            </a:r>
          </a:p>
        </p:txBody>
      </p:sp>
      <p:sp>
        <p:nvSpPr>
          <p:cNvPr id="386" name="Neutron particles are passed on from one component to the next, changing state under way"/>
          <p:cNvSpPr txBox="1"/>
          <p:nvPr/>
        </p:nvSpPr>
        <p:spPr>
          <a:xfrm>
            <a:off x="2517122" y="5781349"/>
            <a:ext cx="8247262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accent3">
                    <a:lumOff val="-9372"/>
                  </a:schemeClr>
                </a:solidFill>
              </a:defRPr>
            </a:lvl1pPr>
          </a:lstStyle>
          <a:p>
            <a:pPr/>
            <a:r>
              <a:t>Neutron particles are passed on from one component to the next, changing state under way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Rectangle"/>
          <p:cNvSpPr/>
          <p:nvPr/>
        </p:nvSpPr>
        <p:spPr>
          <a:xfrm>
            <a:off x="2036783" y="1584135"/>
            <a:ext cx="8498034" cy="3005114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pic>
        <p:nvPicPr>
          <p:cNvPr id="389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07916" y="2121668"/>
            <a:ext cx="7283535" cy="2105785"/>
          </a:xfrm>
          <a:prstGeom prst="rect">
            <a:avLst/>
          </a:prstGeom>
          <a:ln w="12700">
            <a:miter lim="400000"/>
          </a:ln>
        </p:spPr>
      </p:pic>
      <p:sp>
        <p:nvSpPr>
          <p:cNvPr id="390" name="Rectangle"/>
          <p:cNvSpPr/>
          <p:nvPr/>
        </p:nvSpPr>
        <p:spPr>
          <a:xfrm>
            <a:off x="2629509" y="2793391"/>
            <a:ext cx="1266087" cy="1540433"/>
          </a:xfrm>
          <a:prstGeom prst="rect">
            <a:avLst/>
          </a:prstGeom>
          <a:ln w="25400">
            <a:solidFill>
              <a:schemeClr val="accent2"/>
            </a:solidFill>
          </a:ln>
        </p:spPr>
        <p:txBody>
          <a:bodyPr lIns="46799" tIns="46799" rIns="46799" bIns="46799" anchor="ctr"/>
          <a:lstStyle/>
          <a:p>
            <a:pPr>
              <a:defRPr sz="1300"/>
            </a:pPr>
          </a:p>
        </p:txBody>
      </p:sp>
      <p:sp>
        <p:nvSpPr>
          <p:cNvPr id="391" name="McStas is a Monte Carlo ray-tra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McStas is a Monte Carlo ray-tracer</a:t>
            </a:r>
          </a:p>
        </p:txBody>
      </p:sp>
      <p:sp>
        <p:nvSpPr>
          <p:cNvPr id="3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93" name="Instrument"/>
          <p:cNvSpPr/>
          <p:nvPr/>
        </p:nvSpPr>
        <p:spPr>
          <a:xfrm>
            <a:off x="2288838" y="1432902"/>
            <a:ext cx="1112921" cy="29140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/>
          <a:p>
            <a:pPr/>
            <a:r>
              <a:t>Instrument</a:t>
            </a:r>
          </a:p>
        </p:txBody>
      </p:sp>
      <p:sp>
        <p:nvSpPr>
          <p:cNvPr id="394" name="Source"/>
          <p:cNvSpPr/>
          <p:nvPr/>
        </p:nvSpPr>
        <p:spPr>
          <a:xfrm>
            <a:off x="2768715" y="4191357"/>
            <a:ext cx="987675" cy="29140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2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>
            <a:lvl1pPr>
              <a:defRPr sz="1300"/>
            </a:lvl1pPr>
          </a:lstStyle>
          <a:p>
            <a:pPr/>
            <a:r>
              <a:t>Source</a:t>
            </a:r>
          </a:p>
        </p:txBody>
      </p:sp>
      <p:sp>
        <p:nvSpPr>
          <p:cNvPr id="395" name="Rectangle"/>
          <p:cNvSpPr/>
          <p:nvPr/>
        </p:nvSpPr>
        <p:spPr>
          <a:xfrm>
            <a:off x="5926871" y="3058404"/>
            <a:ext cx="1395144" cy="1010408"/>
          </a:xfrm>
          <a:prstGeom prst="rect">
            <a:avLst/>
          </a:prstGeom>
          <a:ln w="25400">
            <a:solidFill>
              <a:schemeClr val="accent2"/>
            </a:solidFill>
          </a:ln>
        </p:spPr>
        <p:txBody>
          <a:bodyPr lIns="46799" tIns="46799" rIns="46799" bIns="46799" anchor="ctr"/>
          <a:lstStyle/>
          <a:p>
            <a:pPr>
              <a:defRPr sz="1300"/>
            </a:pPr>
          </a:p>
        </p:txBody>
      </p:sp>
      <p:sp>
        <p:nvSpPr>
          <p:cNvPr id="396" name="Sample"/>
          <p:cNvSpPr/>
          <p:nvPr/>
        </p:nvSpPr>
        <p:spPr>
          <a:xfrm>
            <a:off x="6071609" y="3979631"/>
            <a:ext cx="987675" cy="29140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2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>
            <a:lvl1pPr>
              <a:defRPr sz="1300"/>
            </a:lvl1pPr>
          </a:lstStyle>
          <a:p>
            <a:pPr/>
            <a:r>
              <a:t>Sample</a:t>
            </a:r>
          </a:p>
        </p:txBody>
      </p:sp>
      <p:sp>
        <p:nvSpPr>
          <p:cNvPr id="397" name="Rectangle"/>
          <p:cNvSpPr/>
          <p:nvPr/>
        </p:nvSpPr>
        <p:spPr>
          <a:xfrm>
            <a:off x="7556119" y="2923796"/>
            <a:ext cx="987675" cy="1426181"/>
          </a:xfrm>
          <a:prstGeom prst="rect">
            <a:avLst/>
          </a:prstGeom>
          <a:ln w="25400">
            <a:solidFill>
              <a:schemeClr val="accent2"/>
            </a:solidFill>
          </a:ln>
        </p:spPr>
        <p:txBody>
          <a:bodyPr lIns="46799" tIns="46799" rIns="46799" bIns="46799" anchor="ctr"/>
          <a:lstStyle/>
          <a:p>
            <a:pPr>
              <a:defRPr sz="1300"/>
            </a:pPr>
          </a:p>
        </p:txBody>
      </p:sp>
      <p:sp>
        <p:nvSpPr>
          <p:cNvPr id="398" name="Monitor"/>
          <p:cNvSpPr/>
          <p:nvPr/>
        </p:nvSpPr>
        <p:spPr>
          <a:xfrm>
            <a:off x="8027556" y="4191357"/>
            <a:ext cx="987675" cy="29140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2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>
            <a:lvl1pPr>
              <a:defRPr sz="1300"/>
            </a:lvl1pPr>
          </a:lstStyle>
          <a:p>
            <a:pPr/>
            <a:r>
              <a:t>Monitor</a:t>
            </a:r>
          </a:p>
        </p:txBody>
      </p:sp>
      <p:sp>
        <p:nvSpPr>
          <p:cNvPr id="399" name="Neutrons"/>
          <p:cNvSpPr/>
          <p:nvPr/>
        </p:nvSpPr>
        <p:spPr>
          <a:xfrm>
            <a:off x="6071609" y="4962977"/>
            <a:ext cx="987675" cy="372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3">
                <a:lumOff val="-9372"/>
              </a:schemeClr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/>
          <a:p>
            <a:pPr/>
            <a:r>
              <a:t>Neutrons</a:t>
            </a:r>
          </a:p>
        </p:txBody>
      </p:sp>
      <p:sp>
        <p:nvSpPr>
          <p:cNvPr id="400" name="Line"/>
          <p:cNvSpPr/>
          <p:nvPr/>
        </p:nvSpPr>
        <p:spPr>
          <a:xfrm flipH="1" flipV="1">
            <a:off x="4112751" y="3842548"/>
            <a:ext cx="2084657" cy="1123258"/>
          </a:xfrm>
          <a:prstGeom prst="line">
            <a:avLst/>
          </a:prstGeom>
          <a:ln w="25400">
            <a:solidFill>
              <a:schemeClr val="accent3">
                <a:lumOff val="-9372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1" name="Line"/>
          <p:cNvSpPr/>
          <p:nvPr/>
        </p:nvSpPr>
        <p:spPr>
          <a:xfrm flipV="1">
            <a:off x="6557913" y="3757942"/>
            <a:ext cx="1" cy="1209031"/>
          </a:xfrm>
          <a:prstGeom prst="line">
            <a:avLst/>
          </a:prstGeom>
          <a:ln w="25400">
            <a:solidFill>
              <a:schemeClr val="accent3">
                <a:lumOff val="-9372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2" name="Line"/>
          <p:cNvSpPr/>
          <p:nvPr/>
        </p:nvSpPr>
        <p:spPr>
          <a:xfrm flipV="1">
            <a:off x="6964312" y="3752884"/>
            <a:ext cx="533098" cy="1214089"/>
          </a:xfrm>
          <a:prstGeom prst="line">
            <a:avLst/>
          </a:prstGeom>
          <a:ln w="25400">
            <a:solidFill>
              <a:schemeClr val="accent3">
                <a:lumOff val="-9372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Elements of Monte-Carlo raytrac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Elements of Monte-Carlo raytracing</a:t>
            </a:r>
          </a:p>
        </p:txBody>
      </p:sp>
      <p:sp>
        <p:nvSpPr>
          <p:cNvPr id="405" name="Instrument Monte Carlo methods implement coherent scattering effect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80180" indent="-180180" defTabSz="832104">
              <a:spcBef>
                <a:spcPts val="300"/>
              </a:spcBef>
              <a:defRPr sz="1638"/>
            </a:pPr>
            <a:r>
              <a:t>Instrument Monte Carlo methods implement coherent scattering effects</a:t>
            </a:r>
          </a:p>
          <a:p>
            <a:pPr marL="180180" indent="-180180" defTabSz="832104">
              <a:spcBef>
                <a:spcPts val="300"/>
              </a:spcBef>
              <a:defRPr sz="1638"/>
            </a:pPr>
            <a:r>
              <a:t>Uses deterministic propagation where this can be done</a:t>
            </a:r>
          </a:p>
          <a:p>
            <a:pPr marL="180180" indent="-180180" defTabSz="832104">
              <a:spcBef>
                <a:spcPts val="300"/>
              </a:spcBef>
              <a:defRPr sz="1638"/>
            </a:pPr>
            <a:r>
              <a:t>Uses Monte Carlo sampling of “complicated” distributions and stochastic processes and multiple outcomes with known probabilities are involved</a:t>
            </a:r>
          </a:p>
          <a:p>
            <a:pPr marL="180180" indent="-180180" defTabSz="832104">
              <a:spcBef>
                <a:spcPts val="300"/>
              </a:spcBef>
              <a:defRPr sz="1638"/>
            </a:pPr>
            <a:r>
              <a:t>- I.e. inside scattering matter</a:t>
            </a:r>
          </a:p>
          <a:p>
            <a:pPr marL="180180" indent="-180180" defTabSz="832104">
              <a:spcBef>
                <a:spcPts val="300"/>
              </a:spcBef>
              <a:defRPr sz="1638"/>
            </a:pPr>
            <a:r>
              <a:t>Uses the particle-wave duality of the neutron to switch back and forward between deterministic ray tracing and Monte Carlo approach</a:t>
            </a:r>
          </a:p>
          <a:p>
            <a:pPr marL="180180" indent="-180180" defTabSz="832104">
              <a:spcBef>
                <a:spcPts val="300"/>
              </a:spcBef>
              <a:defRPr sz="1638"/>
            </a:pPr>
          </a:p>
          <a:p>
            <a:pPr marL="180180" indent="-180180" defTabSz="832104">
              <a:spcBef>
                <a:spcPts val="300"/>
              </a:spcBef>
              <a:defRPr sz="1638"/>
            </a:pPr>
          </a:p>
          <a:p>
            <a:pPr marL="180180" indent="-180180" defTabSz="832104">
              <a:spcBef>
                <a:spcPts val="300"/>
              </a:spcBef>
              <a:defRPr sz="1638"/>
            </a:pPr>
          </a:p>
          <a:p>
            <a:pPr marL="180180" indent="-180180" defTabSz="832104">
              <a:spcBef>
                <a:spcPts val="300"/>
              </a:spcBef>
              <a:defRPr sz="1638"/>
            </a:pPr>
          </a:p>
          <a:p>
            <a:pPr marL="180180" indent="-180180" defTabSz="832104">
              <a:spcBef>
                <a:spcPts val="300"/>
              </a:spcBef>
              <a:defRPr sz="1638"/>
            </a:pPr>
          </a:p>
          <a:p>
            <a:pPr marL="180180" indent="-180180" defTabSz="832104">
              <a:spcBef>
                <a:spcPts val="300"/>
              </a:spcBef>
              <a:defRPr sz="1638"/>
            </a:pPr>
          </a:p>
          <a:p>
            <a:pPr marL="180180" indent="-180180" defTabSz="832104">
              <a:spcBef>
                <a:spcPts val="300"/>
              </a:spcBef>
              <a:defRPr sz="1638"/>
            </a:pPr>
          </a:p>
          <a:p>
            <a:pPr marL="180180" indent="-180180" defTabSz="832104">
              <a:spcBef>
                <a:spcPts val="300"/>
              </a:spcBef>
              <a:defRPr sz="1638"/>
            </a:pPr>
          </a:p>
          <a:p>
            <a:pPr marL="180180" indent="-180180" defTabSz="832104">
              <a:spcBef>
                <a:spcPts val="300"/>
              </a:spcBef>
              <a:defRPr sz="1638"/>
            </a:pPr>
            <a:r>
              <a:t>Result: A realistic and efficient transport of neutrons in the thermal and cold range</a:t>
            </a:r>
          </a:p>
        </p:txBody>
      </p:sp>
      <p:sp>
        <p:nvSpPr>
          <p:cNvPr id="40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407" name="droppedImage.png" descr="dropped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310284" y="3382119"/>
            <a:ext cx="4808638" cy="22100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Components of neutron instrum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Components of neutron instruments</a:t>
            </a:r>
          </a:p>
        </p:txBody>
      </p:sp>
      <p:sp>
        <p:nvSpPr>
          <p:cNvPr id="410" name="Double-click to edi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412" name="article06_image06.jpg" descr="article06_image06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32720" y="1410406"/>
            <a:ext cx="5221482" cy="513756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Components of neutron instrum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Components of neutron instruments</a:t>
            </a:r>
          </a:p>
        </p:txBody>
      </p:sp>
      <p:sp>
        <p:nvSpPr>
          <p:cNvPr id="415" name="Double-click to edi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1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417" name="article06_image06.jpg" descr="article06_image06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32720" y="1410406"/>
            <a:ext cx="5221482" cy="5137566"/>
          </a:xfrm>
          <a:prstGeom prst="rect">
            <a:avLst/>
          </a:prstGeom>
          <a:ln w="12700">
            <a:miter lim="400000"/>
          </a:ln>
        </p:spPr>
      </p:pic>
      <p:sp>
        <p:nvSpPr>
          <p:cNvPr id="418" name="In McStas the moderator is the “source”"/>
          <p:cNvSpPr/>
          <p:nvPr/>
        </p:nvSpPr>
        <p:spPr>
          <a:xfrm>
            <a:off x="5492257" y="6376517"/>
            <a:ext cx="3967772" cy="399252"/>
          </a:xfrm>
          <a:prstGeom prst="roundRect">
            <a:avLst>
              <a:gd name="adj" fmla="val 45936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/>
          <a:p>
            <a:pPr/>
            <a:r>
              <a:t>In McStas the moderator is the “source”</a:t>
            </a:r>
          </a:p>
        </p:txBody>
      </p:sp>
      <p:sp>
        <p:nvSpPr>
          <p:cNvPr id="419" name="Line"/>
          <p:cNvSpPr/>
          <p:nvPr/>
        </p:nvSpPr>
        <p:spPr>
          <a:xfrm flipH="1" flipV="1">
            <a:off x="4280196" y="4321336"/>
            <a:ext cx="1378556" cy="2062392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article06_image06.jpg" descr="article06_image06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32720" y="1410406"/>
            <a:ext cx="5221482" cy="5137566"/>
          </a:xfrm>
          <a:prstGeom prst="rect">
            <a:avLst/>
          </a:prstGeom>
          <a:ln w="12700">
            <a:miter lim="400000"/>
          </a:ln>
        </p:spPr>
      </p:pic>
      <p:sp>
        <p:nvSpPr>
          <p:cNvPr id="422" name="Double-click to edi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23" name="Rounded Rectangle"/>
          <p:cNvSpPr/>
          <p:nvPr/>
        </p:nvSpPr>
        <p:spPr>
          <a:xfrm>
            <a:off x="5510628" y="4031857"/>
            <a:ext cx="6605345" cy="2307131"/>
          </a:xfrm>
          <a:prstGeom prst="roundRect">
            <a:avLst>
              <a:gd name="adj" fmla="val 16889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424" name="Neutron optics include things like:…"/>
          <p:cNvSpPr txBox="1"/>
          <p:nvPr/>
        </p:nvSpPr>
        <p:spPr>
          <a:xfrm>
            <a:off x="5607305" y="4259106"/>
            <a:ext cx="3039766" cy="1852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Neutron optics include things like:</a:t>
            </a:r>
          </a:p>
          <a:p>
            <a:pPr marL="160421" indent="-160421">
              <a:buSzPct val="100000"/>
              <a:buChar char="•"/>
            </a:pPr>
            <a:r>
              <a:t>Mirrors and guides</a:t>
            </a:r>
          </a:p>
          <a:p>
            <a:pPr marL="160421" indent="-160421">
              <a:buSzPct val="100000"/>
              <a:buChar char="•"/>
            </a:pPr>
            <a:r>
              <a:t>Collimators and slits</a:t>
            </a:r>
          </a:p>
          <a:p>
            <a:pPr marL="160421" indent="-160421">
              <a:buSzPct val="100000"/>
              <a:buChar char="•"/>
            </a:pPr>
            <a:r>
              <a:t>Diskchoppers, Fermi choppers</a:t>
            </a:r>
            <a:br/>
            <a:r>
              <a:t> and velocity selectors</a:t>
            </a:r>
          </a:p>
          <a:p>
            <a:pPr marL="160421" indent="-160421">
              <a:buSzPct val="100000"/>
              <a:buChar char="•"/>
            </a:pPr>
            <a:r>
              <a:t>Monochromators/Analysers</a:t>
            </a:r>
          </a:p>
        </p:txBody>
      </p:sp>
      <p:pic>
        <p:nvPicPr>
          <p:cNvPr id="425" name="ILL_D17_parabolic_focusing_guide_DSC_1579.jpeg" descr="ILL_D17_parabolic_focusing_guide_DSC_1579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958285" y="4099869"/>
            <a:ext cx="1311471" cy="870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26" name="Apr2011_radial_collimator.png" descr="Apr2011_radial_collimator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334700" y="4097845"/>
            <a:ext cx="1465862" cy="772936"/>
          </a:xfrm>
          <a:prstGeom prst="rect">
            <a:avLst/>
          </a:prstGeom>
          <a:ln w="12700">
            <a:miter lim="400000"/>
          </a:ln>
        </p:spPr>
      </p:pic>
      <p:pic>
        <p:nvPicPr>
          <p:cNvPr id="427" name="r&amp;d2-2.jpeg" descr="r&amp;d2-2.jpe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0679772" y="5005854"/>
            <a:ext cx="1389104" cy="1041828"/>
          </a:xfrm>
          <a:prstGeom prst="rect">
            <a:avLst/>
          </a:prstGeom>
          <a:ln w="3175"/>
        </p:spPr>
      </p:pic>
      <p:pic>
        <p:nvPicPr>
          <p:cNvPr id="428" name="37744f0177.png" descr="37744f0177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7884416" y="4666295"/>
            <a:ext cx="808825" cy="902078"/>
          </a:xfrm>
          <a:prstGeom prst="rect">
            <a:avLst/>
          </a:prstGeom>
          <a:ln w="12700">
            <a:miter lim="400000"/>
          </a:ln>
        </p:spPr>
      </p:pic>
      <p:sp>
        <p:nvSpPr>
          <p:cNvPr id="429" name="Components of neutron instrum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Components of neutron instruments</a:t>
            </a:r>
          </a:p>
        </p:txBody>
      </p:sp>
      <p:sp>
        <p:nvSpPr>
          <p:cNvPr id="4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31" name="In McStas the moderator is the “source”"/>
          <p:cNvSpPr/>
          <p:nvPr/>
        </p:nvSpPr>
        <p:spPr>
          <a:xfrm>
            <a:off x="5492257" y="6376517"/>
            <a:ext cx="3967772" cy="399252"/>
          </a:xfrm>
          <a:prstGeom prst="roundRect">
            <a:avLst>
              <a:gd name="adj" fmla="val 45936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/>
          <a:p>
            <a:pPr/>
            <a:r>
              <a:t>In McStas the moderator is the “source”</a:t>
            </a:r>
          </a:p>
        </p:txBody>
      </p:sp>
      <p:sp>
        <p:nvSpPr>
          <p:cNvPr id="432" name="Line"/>
          <p:cNvSpPr/>
          <p:nvPr/>
        </p:nvSpPr>
        <p:spPr>
          <a:xfrm flipH="1" flipV="1">
            <a:off x="4280196" y="4321336"/>
            <a:ext cx="1378556" cy="2062392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3" name="Line"/>
          <p:cNvSpPr/>
          <p:nvPr/>
        </p:nvSpPr>
        <p:spPr>
          <a:xfrm flipH="1" flipV="1">
            <a:off x="4738137" y="3485104"/>
            <a:ext cx="799845" cy="799845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434" name="Velocity selector.mov" descr="Velocity selector.mov"/>
          <p:cNvPicPr>
            <a:picLocks noChangeAspect="0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>
            <a:extLst/>
          </a:blip>
          <a:stretch>
            <a:fillRect/>
          </a:stretch>
        </p:blipFill>
        <p:spPr>
          <a:xfrm>
            <a:off x="8639599" y="5002802"/>
            <a:ext cx="2016587" cy="119676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488" fill="hold"/>
                                        <p:tgtEl>
                                          <p:spTgt spid="43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100000">
                <p:cTn id="7" fill="hold" display="0">
                  <p:stCondLst>
                    <p:cond delay="indefinite"/>
                  </p:stCondLst>
                </p:cTn>
                <p:tgtEl>
                  <p:spTgt spid="434"/>
                </p:tgtEl>
              </p:cMediaNode>
            </p:video>
            <p:seq concurrent="1" prevAc="none" nextAc="seek">
              <p:cTn id="8" evtFilter="cancelBubble" nodeType="interactiveSeq" restart="whenNotActive" fill="hold">
                <p:stCondLst>
                  <p:cond delay="0" evt="onClick">
                    <p:tgtEl>
                      <p:spTgt spid="434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3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434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article06_image06.jpg" descr="article06_image06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32720" y="1410406"/>
            <a:ext cx="5221482" cy="5137566"/>
          </a:xfrm>
          <a:prstGeom prst="rect">
            <a:avLst/>
          </a:prstGeom>
          <a:ln w="12700">
            <a:miter lim="400000"/>
          </a:ln>
        </p:spPr>
      </p:pic>
      <p:sp>
        <p:nvSpPr>
          <p:cNvPr id="437" name="Rounded Rectangle"/>
          <p:cNvSpPr/>
          <p:nvPr/>
        </p:nvSpPr>
        <p:spPr>
          <a:xfrm>
            <a:off x="5531105" y="2734771"/>
            <a:ext cx="6564391" cy="1270001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pic>
        <p:nvPicPr>
          <p:cNvPr id="438" name="Potassium_Humate_Shiny_Powder.png" descr="Potassium_Humate_Shiny_Powder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136976" y="3403389"/>
            <a:ext cx="808825" cy="455417"/>
          </a:xfrm>
          <a:prstGeom prst="rect">
            <a:avLst/>
          </a:prstGeom>
          <a:ln w="12700">
            <a:miter lim="400000"/>
          </a:ln>
        </p:spPr>
      </p:pic>
      <p:sp>
        <p:nvSpPr>
          <p:cNvPr id="439" name="Rounded Rectangle"/>
          <p:cNvSpPr/>
          <p:nvPr/>
        </p:nvSpPr>
        <p:spPr>
          <a:xfrm>
            <a:off x="5510628" y="4031857"/>
            <a:ext cx="6605345" cy="2307131"/>
          </a:xfrm>
          <a:prstGeom prst="roundRect">
            <a:avLst>
              <a:gd name="adj" fmla="val 16889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440" name="Neutron optics include things like:…"/>
          <p:cNvSpPr txBox="1"/>
          <p:nvPr/>
        </p:nvSpPr>
        <p:spPr>
          <a:xfrm>
            <a:off x="5607305" y="4259106"/>
            <a:ext cx="3039766" cy="1852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Neutron optics include things like:</a:t>
            </a:r>
          </a:p>
          <a:p>
            <a:pPr marL="160421" indent="-160421">
              <a:buSzPct val="100000"/>
              <a:buChar char="•"/>
            </a:pPr>
            <a:r>
              <a:t>Mirrors and guides</a:t>
            </a:r>
          </a:p>
          <a:p>
            <a:pPr marL="160421" indent="-160421">
              <a:buSzPct val="100000"/>
              <a:buChar char="•"/>
            </a:pPr>
            <a:r>
              <a:t>Collimators and slits</a:t>
            </a:r>
          </a:p>
          <a:p>
            <a:pPr marL="160421" indent="-160421">
              <a:buSzPct val="100000"/>
              <a:buChar char="•"/>
            </a:pPr>
            <a:r>
              <a:t>Diskchoppers, Fermi choppers</a:t>
            </a:r>
            <a:br/>
            <a:r>
              <a:t> and velocity selectors</a:t>
            </a:r>
          </a:p>
          <a:p>
            <a:pPr marL="160421" indent="-160421">
              <a:buSzPct val="100000"/>
              <a:buChar char="•"/>
            </a:pPr>
            <a:r>
              <a:t>Monochromators/Analysers</a:t>
            </a:r>
          </a:p>
        </p:txBody>
      </p:sp>
      <p:pic>
        <p:nvPicPr>
          <p:cNvPr id="441" name="ILL_D17_parabolic_focusing_guide_DSC_1579.jpeg" descr="ILL_D17_parabolic_focusing_guide_DSC_1579.jpe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958285" y="4099869"/>
            <a:ext cx="1311471" cy="870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42" name="Apr2011_radial_collimator.png" descr="Apr2011_radial_collimator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0334700" y="4097845"/>
            <a:ext cx="1465862" cy="772936"/>
          </a:xfrm>
          <a:prstGeom prst="rect">
            <a:avLst/>
          </a:prstGeom>
          <a:ln w="12700">
            <a:miter lim="400000"/>
          </a:ln>
        </p:spPr>
      </p:pic>
      <p:pic>
        <p:nvPicPr>
          <p:cNvPr id="443" name="r&amp;d2-2.jpeg" descr="r&amp;d2-2.jpe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0679772" y="5005854"/>
            <a:ext cx="1389104" cy="1041828"/>
          </a:xfrm>
          <a:prstGeom prst="rect">
            <a:avLst/>
          </a:prstGeom>
          <a:ln w="3175"/>
        </p:spPr>
      </p:pic>
      <p:pic>
        <p:nvPicPr>
          <p:cNvPr id="444" name="37744f0177.png" descr="37744f0177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7884416" y="4666295"/>
            <a:ext cx="808825" cy="902078"/>
          </a:xfrm>
          <a:prstGeom prst="rect">
            <a:avLst/>
          </a:prstGeom>
          <a:ln w="12700">
            <a:miter lim="400000"/>
          </a:ln>
        </p:spPr>
      </p:pic>
      <p:sp>
        <p:nvSpPr>
          <p:cNvPr id="445" name="Components of neutron instrum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Components of neutron instruments</a:t>
            </a:r>
          </a:p>
        </p:txBody>
      </p:sp>
      <p:sp>
        <p:nvSpPr>
          <p:cNvPr id="44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47" name="In McStas the moderator is the “source”"/>
          <p:cNvSpPr/>
          <p:nvPr/>
        </p:nvSpPr>
        <p:spPr>
          <a:xfrm>
            <a:off x="5492257" y="6376517"/>
            <a:ext cx="3967772" cy="399252"/>
          </a:xfrm>
          <a:prstGeom prst="roundRect">
            <a:avLst>
              <a:gd name="adj" fmla="val 45936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/>
          <a:p>
            <a:pPr/>
            <a:r>
              <a:t>In McStas the moderator is the “source”</a:t>
            </a:r>
          </a:p>
        </p:txBody>
      </p:sp>
      <p:sp>
        <p:nvSpPr>
          <p:cNvPr id="448" name="Line"/>
          <p:cNvSpPr/>
          <p:nvPr/>
        </p:nvSpPr>
        <p:spPr>
          <a:xfrm flipH="1" flipV="1">
            <a:off x="4280196" y="4321336"/>
            <a:ext cx="1378556" cy="2062392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9" name="Line"/>
          <p:cNvSpPr/>
          <p:nvPr/>
        </p:nvSpPr>
        <p:spPr>
          <a:xfrm flipH="1" flipV="1">
            <a:off x="4738137" y="3485104"/>
            <a:ext cx="799845" cy="799845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0" name="Line"/>
          <p:cNvSpPr/>
          <p:nvPr/>
        </p:nvSpPr>
        <p:spPr>
          <a:xfrm flipH="1" flipV="1">
            <a:off x="5963261" y="2062697"/>
            <a:ext cx="250159" cy="672185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1" name="The sample:…"/>
          <p:cNvSpPr txBox="1"/>
          <p:nvPr/>
        </p:nvSpPr>
        <p:spPr>
          <a:xfrm>
            <a:off x="5686368" y="2829133"/>
            <a:ext cx="3739654" cy="1029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The sample:</a:t>
            </a:r>
          </a:p>
          <a:p>
            <a:pPr/>
            <a:r>
              <a:t>Crystalline, powders, liquids, micelles,</a:t>
            </a:r>
            <a:br/>
            <a:r>
              <a:t>structures to image, inelastic features like</a:t>
            </a:r>
            <a:br/>
            <a:r>
              <a:t>phonons…</a:t>
            </a:r>
          </a:p>
        </p:txBody>
      </p:sp>
      <p:pic>
        <p:nvPicPr>
          <p:cNvPr id="452" name="lsco.png" descr="lsco.pn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9413531" y="2791204"/>
            <a:ext cx="814618" cy="1009192"/>
          </a:xfrm>
          <a:prstGeom prst="rect">
            <a:avLst/>
          </a:prstGeom>
          <a:ln w="12700">
            <a:miter lim="400000"/>
          </a:ln>
        </p:spPr>
      </p:pic>
      <p:pic>
        <p:nvPicPr>
          <p:cNvPr id="453" name="sans1_micelle.png" descr="sans1_micelle.png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10237414" y="2791204"/>
            <a:ext cx="607948" cy="612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4" name="Coffee.mov" descr="Coffee.mov"/>
          <p:cNvPicPr>
            <a:picLocks noChangeAspect="0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>
            <a:extLst/>
          </a:blip>
          <a:stretch>
            <a:fillRect/>
          </a:stretch>
        </p:blipFill>
        <p:spPr>
          <a:xfrm>
            <a:off x="10905601" y="2791204"/>
            <a:ext cx="1104014" cy="1116350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01600" dist="25400" dir="5400000">
              <a:srgbClr val="000000">
                <a:alpha val="75000"/>
              </a:srgbClr>
            </a:outerShdw>
          </a:effectLst>
        </p:spPr>
      </p:pic>
      <p:pic>
        <p:nvPicPr>
          <p:cNvPr id="455" name="Screenshot 2019-03-19 at 15.35.42.png" descr="Screenshot 2019-03-19 at 15.35.42.png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8573343" y="5006693"/>
            <a:ext cx="2081355" cy="11672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691" fill="hold"/>
                                        <p:tgtEl>
                                          <p:spTgt spid="45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100000">
                <p:cTn id="7" fill="hold" display="0">
                  <p:stCondLst>
                    <p:cond delay="indefinite"/>
                  </p:stCondLst>
                </p:cTn>
                <p:tgtEl>
                  <p:spTgt spid="454"/>
                </p:tgtEl>
              </p:cMediaNode>
            </p:video>
            <p:seq concurrent="1" prevAc="none" nextAc="seek">
              <p:cTn id="8" evtFilter="cancelBubble" nodeType="interactiveSeq" restart="whenNotActive" fill="hold">
                <p:stCondLst>
                  <p:cond delay="0" evt="onClick">
                    <p:tgtEl>
                      <p:spTgt spid="454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5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454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Rounded Rectangle"/>
          <p:cNvSpPr/>
          <p:nvPr/>
        </p:nvSpPr>
        <p:spPr>
          <a:xfrm>
            <a:off x="7047125" y="1426300"/>
            <a:ext cx="5011252" cy="1270001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pic>
        <p:nvPicPr>
          <p:cNvPr id="458" name="image.png" descr="image.png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91201" y="1906848"/>
            <a:ext cx="2098145" cy="75959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9" name="article06_image06.jpg" descr="article06_image06.jp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32720" y="1410406"/>
            <a:ext cx="5221482" cy="5137566"/>
          </a:xfrm>
          <a:prstGeom prst="rect">
            <a:avLst/>
          </a:prstGeom>
          <a:ln w="12700">
            <a:miter lim="400000"/>
          </a:ln>
        </p:spPr>
      </p:pic>
      <p:sp>
        <p:nvSpPr>
          <p:cNvPr id="460" name="Rounded Rectangle"/>
          <p:cNvSpPr/>
          <p:nvPr/>
        </p:nvSpPr>
        <p:spPr>
          <a:xfrm>
            <a:off x="5531105" y="2734771"/>
            <a:ext cx="6564391" cy="1270001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pic>
        <p:nvPicPr>
          <p:cNvPr id="461" name="Potassium_Humate_Shiny_Powder.png" descr="Potassium_Humate_Shiny_Powder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136976" y="3403389"/>
            <a:ext cx="808825" cy="455417"/>
          </a:xfrm>
          <a:prstGeom prst="rect">
            <a:avLst/>
          </a:prstGeom>
          <a:ln w="12700">
            <a:miter lim="400000"/>
          </a:ln>
        </p:spPr>
      </p:pic>
      <p:sp>
        <p:nvSpPr>
          <p:cNvPr id="462" name="Rounded Rectangle"/>
          <p:cNvSpPr/>
          <p:nvPr/>
        </p:nvSpPr>
        <p:spPr>
          <a:xfrm>
            <a:off x="5510628" y="4031857"/>
            <a:ext cx="6605345" cy="2307131"/>
          </a:xfrm>
          <a:prstGeom prst="roundRect">
            <a:avLst>
              <a:gd name="adj" fmla="val 16889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463" name="Neutron optics include things like:…"/>
          <p:cNvSpPr txBox="1"/>
          <p:nvPr/>
        </p:nvSpPr>
        <p:spPr>
          <a:xfrm>
            <a:off x="5607305" y="4259106"/>
            <a:ext cx="3039766" cy="1852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Neutron optics include things like:</a:t>
            </a:r>
          </a:p>
          <a:p>
            <a:pPr marL="160421" indent="-160421">
              <a:buSzPct val="100000"/>
              <a:buChar char="•"/>
            </a:pPr>
            <a:r>
              <a:t>Mirrors and guides</a:t>
            </a:r>
          </a:p>
          <a:p>
            <a:pPr marL="160421" indent="-160421">
              <a:buSzPct val="100000"/>
              <a:buChar char="•"/>
            </a:pPr>
            <a:r>
              <a:t>Collimators and slits</a:t>
            </a:r>
          </a:p>
          <a:p>
            <a:pPr marL="160421" indent="-160421">
              <a:buSzPct val="100000"/>
              <a:buChar char="•"/>
            </a:pPr>
            <a:r>
              <a:t>Diskchoppers, Fermi choppers</a:t>
            </a:r>
            <a:br/>
            <a:r>
              <a:t> and velocity selectors</a:t>
            </a:r>
          </a:p>
          <a:p>
            <a:pPr marL="160421" indent="-160421">
              <a:buSzPct val="100000"/>
              <a:buChar char="•"/>
            </a:pPr>
            <a:r>
              <a:t>Monochromators/Analysers</a:t>
            </a:r>
          </a:p>
        </p:txBody>
      </p:sp>
      <p:pic>
        <p:nvPicPr>
          <p:cNvPr id="464" name="ILL_D17_parabolic_focusing_guide_DSC_1579.jpeg" descr="ILL_D17_parabolic_focusing_guide_DSC_1579.jpe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958285" y="4099869"/>
            <a:ext cx="1311471" cy="870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65" name="Apr2011_radial_collimator.png" descr="Apr2011_radial_collimator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0334700" y="4097845"/>
            <a:ext cx="1465862" cy="772936"/>
          </a:xfrm>
          <a:prstGeom prst="rect">
            <a:avLst/>
          </a:prstGeom>
          <a:ln w="12700">
            <a:miter lim="400000"/>
          </a:ln>
        </p:spPr>
      </p:pic>
      <p:pic>
        <p:nvPicPr>
          <p:cNvPr id="466" name="r&amp;d2-2.jpeg" descr="r&amp;d2-2.jpe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0679772" y="5005854"/>
            <a:ext cx="1389104" cy="1041828"/>
          </a:xfrm>
          <a:prstGeom prst="rect">
            <a:avLst/>
          </a:prstGeom>
          <a:ln w="3175"/>
        </p:spPr>
      </p:pic>
      <p:pic>
        <p:nvPicPr>
          <p:cNvPr id="467" name="37744f0177.png" descr="37744f0177.pn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7884416" y="4666295"/>
            <a:ext cx="808825" cy="902078"/>
          </a:xfrm>
          <a:prstGeom prst="rect">
            <a:avLst/>
          </a:prstGeom>
          <a:ln w="12700">
            <a:miter lim="400000"/>
          </a:ln>
        </p:spPr>
      </p:pic>
      <p:sp>
        <p:nvSpPr>
          <p:cNvPr id="468" name="Components of neutron instrum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Components of neutron instruments</a:t>
            </a:r>
          </a:p>
        </p:txBody>
      </p:sp>
      <p:sp>
        <p:nvSpPr>
          <p:cNvPr id="469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70" name="In McStas the moderator is the “source”"/>
          <p:cNvSpPr/>
          <p:nvPr/>
        </p:nvSpPr>
        <p:spPr>
          <a:xfrm>
            <a:off x="5492257" y="6376517"/>
            <a:ext cx="3967772" cy="399252"/>
          </a:xfrm>
          <a:prstGeom prst="roundRect">
            <a:avLst>
              <a:gd name="adj" fmla="val 45936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/>
          <a:p>
            <a:pPr/>
            <a:r>
              <a:t>In McStas the moderator is the “source”</a:t>
            </a:r>
          </a:p>
        </p:txBody>
      </p:sp>
      <p:sp>
        <p:nvSpPr>
          <p:cNvPr id="471" name="Line"/>
          <p:cNvSpPr/>
          <p:nvPr/>
        </p:nvSpPr>
        <p:spPr>
          <a:xfrm flipH="1" flipV="1">
            <a:off x="4280196" y="4321336"/>
            <a:ext cx="1378556" cy="2062392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2" name="Line"/>
          <p:cNvSpPr/>
          <p:nvPr/>
        </p:nvSpPr>
        <p:spPr>
          <a:xfrm flipH="1" flipV="1">
            <a:off x="4738137" y="3485104"/>
            <a:ext cx="799845" cy="799845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473" name="Velocity selector.mov" descr="Velocity selector.mov"/>
          <p:cNvPicPr>
            <a:picLocks noChangeAspect="0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11">
            <a:extLst/>
          </a:blip>
          <a:stretch>
            <a:fillRect/>
          </a:stretch>
        </p:blipFill>
        <p:spPr>
          <a:xfrm>
            <a:off x="8639599" y="5002802"/>
            <a:ext cx="2016587" cy="1196760"/>
          </a:xfrm>
          <a:prstGeom prst="rect">
            <a:avLst/>
          </a:prstGeom>
          <a:ln w="12700">
            <a:miter lim="400000"/>
          </a:ln>
        </p:spPr>
      </p:pic>
      <p:sp>
        <p:nvSpPr>
          <p:cNvPr id="474" name="Line"/>
          <p:cNvSpPr/>
          <p:nvPr/>
        </p:nvSpPr>
        <p:spPr>
          <a:xfrm flipH="1" flipV="1">
            <a:off x="5963261" y="2062697"/>
            <a:ext cx="250159" cy="672185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5" name="The sample:…"/>
          <p:cNvSpPr txBox="1"/>
          <p:nvPr/>
        </p:nvSpPr>
        <p:spPr>
          <a:xfrm>
            <a:off x="5686368" y="2829133"/>
            <a:ext cx="3739654" cy="1029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The sample:</a:t>
            </a:r>
          </a:p>
          <a:p>
            <a:pPr/>
            <a:r>
              <a:t>Crystalline, powders, liquids, micelles,</a:t>
            </a:r>
            <a:br/>
            <a:r>
              <a:t>structures to image, inelastic features like</a:t>
            </a:r>
            <a:br/>
            <a:r>
              <a:t>phonons…</a:t>
            </a:r>
          </a:p>
        </p:txBody>
      </p:sp>
      <p:pic>
        <p:nvPicPr>
          <p:cNvPr id="476" name="lsco.png" descr="lsco.png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9413531" y="2791204"/>
            <a:ext cx="814618" cy="1009192"/>
          </a:xfrm>
          <a:prstGeom prst="rect">
            <a:avLst/>
          </a:prstGeom>
          <a:ln w="12700">
            <a:miter lim="400000"/>
          </a:ln>
        </p:spPr>
      </p:pic>
      <p:pic>
        <p:nvPicPr>
          <p:cNvPr id="477" name="sans1_micelle.png" descr="sans1_micelle.png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10237414" y="2791204"/>
            <a:ext cx="607948" cy="612001"/>
          </a:xfrm>
          <a:prstGeom prst="rect">
            <a:avLst/>
          </a:prstGeom>
          <a:ln w="12700">
            <a:miter lim="400000"/>
          </a:ln>
        </p:spPr>
      </p:pic>
      <p:sp>
        <p:nvSpPr>
          <p:cNvPr id="478" name="Line"/>
          <p:cNvSpPr/>
          <p:nvPr/>
        </p:nvSpPr>
        <p:spPr>
          <a:xfrm flipH="1">
            <a:off x="6626386" y="2061300"/>
            <a:ext cx="419613" cy="1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9" name="Detectors are “monitors” in McStas. Mostly they act  as “perfect probes” and can be positioned thought your instrument gathering 1D/2D/ event lists…"/>
          <p:cNvSpPr txBox="1"/>
          <p:nvPr/>
        </p:nvSpPr>
        <p:spPr>
          <a:xfrm>
            <a:off x="7190647" y="1511735"/>
            <a:ext cx="4676379" cy="1136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Detectors are “monitors” in McStas. Mostly they act </a:t>
            </a:r>
            <a:br/>
            <a:r>
              <a:t>as “perfect probes” and can be positioned thought</a:t>
            </a:r>
            <a:br/>
            <a:r>
              <a:t>your instrument</a:t>
            </a:r>
            <a:br/>
            <a:r>
              <a:t>gathering 1D/2D/</a:t>
            </a:r>
            <a:br/>
            <a:r>
              <a:t>event lists…</a:t>
            </a:r>
          </a:p>
        </p:txBody>
      </p:sp>
      <p:pic>
        <p:nvPicPr>
          <p:cNvPr id="480" name="droppedImage.pdf" descr="droppedImage.pdf"/>
          <p:cNvPicPr>
            <a:picLocks noChangeAspect="1"/>
          </p:cNvPicPr>
          <p:nvPr/>
        </p:nvPicPr>
        <p:blipFill>
          <a:blip r:embed="rId14">
            <a:extLst/>
          </a:blip>
          <a:stretch>
            <a:fillRect/>
          </a:stretch>
        </p:blipFill>
        <p:spPr>
          <a:xfrm>
            <a:off x="8853649" y="1989628"/>
            <a:ext cx="881476" cy="679154"/>
          </a:xfrm>
          <a:prstGeom prst="rect">
            <a:avLst/>
          </a:prstGeom>
          <a:ln w="12700">
            <a:miter lim="400000"/>
          </a:ln>
        </p:spPr>
      </p:pic>
      <p:pic>
        <p:nvPicPr>
          <p:cNvPr id="481" name="Screenshot 2019-03-19 at 15.32.14.png" descr="Screenshot 2019-03-19 at 15.32.14.png"/>
          <p:cNvPicPr>
            <a:picLocks noChangeAspect="1"/>
          </p:cNvPicPr>
          <p:nvPr/>
        </p:nvPicPr>
        <p:blipFill>
          <a:blip r:embed="rId15">
            <a:extLst/>
          </a:blip>
          <a:stretch>
            <a:fillRect/>
          </a:stretch>
        </p:blipFill>
        <p:spPr>
          <a:xfrm>
            <a:off x="10820134" y="2737287"/>
            <a:ext cx="1279372" cy="129173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488" fill="hold"/>
                                        <p:tgtEl>
                                          <p:spTgt spid="47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100000">
                <p:cTn id="7" fill="hold" display="0">
                  <p:stCondLst>
                    <p:cond delay="indefinite"/>
                  </p:stCondLst>
                </p:cTn>
                <p:tgtEl>
                  <p:spTgt spid="473"/>
                </p:tgtEl>
              </p:cMediaNode>
            </p:video>
            <p:seq concurrent="1" prevAc="none" nextAc="seek">
              <p:cTn id="8" evtFilter="cancelBubble" nodeType="interactiveSeq" restart="whenNotActive" fill="hold">
                <p:stCondLst>
                  <p:cond delay="0" evt="onClick">
                    <p:tgtEl>
                      <p:spTgt spid="473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7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473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McStas Introduc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McStas Introduction</a:t>
            </a:r>
          </a:p>
        </p:txBody>
      </p:sp>
      <p:sp>
        <p:nvSpPr>
          <p:cNvPr id="484" name="Flexible, general simulation utility for neutron scattering experiments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87036" indent="-187036"/>
            <a:r>
              <a:t>Flexible, general simulation utility for neutron scattering experiments.</a:t>
            </a:r>
          </a:p>
          <a:p>
            <a:pPr marL="187036" indent="-187036"/>
          </a:p>
          <a:p>
            <a:pPr marL="187036" indent="-187036"/>
            <a:r>
              <a:t>Original design for </a:t>
            </a:r>
            <a:r>
              <a:rPr>
                <a:solidFill>
                  <a:schemeClr val="accent1">
                    <a:lumOff val="-6000"/>
                  </a:schemeClr>
                </a:solidFill>
              </a:rPr>
              <a:t>M</a:t>
            </a:r>
            <a:r>
              <a:t>onte </a:t>
            </a:r>
            <a:r>
              <a:rPr>
                <a:solidFill>
                  <a:schemeClr val="accent1">
                    <a:lumOff val="-6000"/>
                  </a:schemeClr>
                </a:solidFill>
              </a:rPr>
              <a:t>c</a:t>
            </a:r>
            <a:r>
              <a:t>arlo </a:t>
            </a:r>
            <a:r>
              <a:rPr>
                <a:solidFill>
                  <a:schemeClr val="accent1">
                    <a:lumOff val="-6000"/>
                  </a:schemeClr>
                </a:solidFill>
              </a:rPr>
              <a:t>S</a:t>
            </a:r>
            <a:r>
              <a:t>imulation of </a:t>
            </a:r>
            <a:r>
              <a:rPr>
                <a:solidFill>
                  <a:schemeClr val="accent1">
                    <a:lumOff val="-6000"/>
                  </a:schemeClr>
                </a:solidFill>
              </a:rPr>
              <a:t>t</a:t>
            </a:r>
            <a:r>
              <a:t>riple </a:t>
            </a:r>
            <a:r>
              <a:rPr>
                <a:solidFill>
                  <a:schemeClr val="accent1">
                    <a:lumOff val="-6000"/>
                  </a:schemeClr>
                </a:solidFill>
              </a:rPr>
              <a:t>a</a:t>
            </a:r>
            <a:r>
              <a:t>xis </a:t>
            </a:r>
            <a:r>
              <a:rPr>
                <a:solidFill>
                  <a:schemeClr val="accent1">
                    <a:lumOff val="-6000"/>
                  </a:schemeClr>
                </a:solidFill>
              </a:rPr>
              <a:t>s</a:t>
            </a:r>
            <a:r>
              <a:t>pectrometers</a:t>
            </a:r>
          </a:p>
          <a:p>
            <a:pPr marL="187036" indent="-187036"/>
          </a:p>
          <a:p>
            <a:pPr marL="187036" indent="-187036"/>
            <a:r>
              <a:t>Developed at DTU Physics, ILL, PSI, Uni CPH, ESS DMSC</a:t>
            </a:r>
          </a:p>
          <a:p>
            <a:pPr marL="187036" indent="-187036"/>
          </a:p>
          <a:p>
            <a:pPr marL="187036" indent="-187036"/>
            <a:r>
              <a:t>V. 1.0 by K Nielsen &amp; K Lefmann (1998) RISØ</a:t>
            </a:r>
          </a:p>
          <a:p>
            <a:pPr marL="187036" indent="-187036"/>
          </a:p>
          <a:p>
            <a:pPr marL="187036" indent="-187036"/>
            <a:r>
              <a:t>Currently 2.5+1 people full time plus students</a:t>
            </a:r>
          </a:p>
        </p:txBody>
      </p:sp>
      <p:pic>
        <p:nvPicPr>
          <p:cNvPr id="485" name="droppedImage.png" descr="dropped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698830" y="1166006"/>
            <a:ext cx="910829" cy="879421"/>
          </a:xfrm>
          <a:prstGeom prst="rect">
            <a:avLst/>
          </a:prstGeom>
          <a:ln w="12700">
            <a:miter lim="400000"/>
          </a:ln>
        </p:spPr>
      </p:pic>
      <p:sp>
        <p:nvSpPr>
          <p:cNvPr id="4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87" name="Rectangle"/>
          <p:cNvSpPr/>
          <p:nvPr/>
        </p:nvSpPr>
        <p:spPr>
          <a:xfrm>
            <a:off x="9648124" y="2221240"/>
            <a:ext cx="1012242" cy="539263"/>
          </a:xfrm>
          <a:prstGeom prst="rect">
            <a:avLst/>
          </a:prstGeom>
          <a:ln w="38100">
            <a:solidFill>
              <a:srgbClr val="008AD6"/>
            </a:solidFill>
          </a:ln>
        </p:spPr>
        <p:txBody>
          <a:bodyPr lIns="46799" tIns="46799" rIns="46799" bIns="46799" anchor="ctr"/>
          <a:lstStyle/>
          <a:p>
            <a:pPr marL="28574" marR="28574" defTabSz="315887">
              <a:lnSpc>
                <a:spcPct val="93000"/>
              </a:lnSpc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488" name="GNU GPL license…"/>
          <p:cNvSpPr txBox="1"/>
          <p:nvPr/>
        </p:nvSpPr>
        <p:spPr>
          <a:xfrm>
            <a:off x="9647707" y="2235263"/>
            <a:ext cx="1013075" cy="51121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697" tIns="6697" rIns="6697" bIns="6697"/>
          <a:lstStyle/>
          <a:p>
            <a:pPr marL="3726" marR="3726" defTabSz="315887">
              <a:lnSpc>
                <a:spcPct val="96000"/>
              </a:lnSpc>
              <a:buClr>
                <a:srgbClr val="000000"/>
              </a:buClr>
              <a:buFont typeface="Wingdings"/>
              <a:tabLst>
                <a:tab pos="368300" algn="l"/>
                <a:tab pos="711200" algn="l"/>
                <a:tab pos="901700" algn="l"/>
              </a:tabLst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900">
                <a:latin typeface="Verdana"/>
                <a:ea typeface="Verdana"/>
                <a:cs typeface="Verdana"/>
                <a:sym typeface="Verdana"/>
              </a:rPr>
              <a:t> GNU GPL license</a:t>
            </a:r>
            <a:endParaRPr sz="900">
              <a:latin typeface="Verdana"/>
              <a:ea typeface="Verdana"/>
              <a:cs typeface="Verdana"/>
              <a:sym typeface="Verdana"/>
            </a:endParaRPr>
          </a:p>
          <a:p>
            <a:pPr marL="3726" marR="3726" defTabSz="315887">
              <a:lnSpc>
                <a:spcPct val="96000"/>
              </a:lnSpc>
              <a:buClr>
                <a:srgbClr val="000000"/>
              </a:buClr>
              <a:buFont typeface="Wingdings"/>
              <a:tabLst>
                <a:tab pos="368300" algn="l"/>
                <a:tab pos="711200" algn="l"/>
                <a:tab pos="901700" algn="l"/>
              </a:tabLst>
              <a:defRPr sz="900"/>
            </a:pPr>
            <a:r>
              <a:t>Open Source</a:t>
            </a:r>
          </a:p>
        </p:txBody>
      </p:sp>
      <p:sp>
        <p:nvSpPr>
          <p:cNvPr id="489" name="mcstas-users@mcstas.org mailinglist"/>
          <p:cNvSpPr txBox="1"/>
          <p:nvPr/>
        </p:nvSpPr>
        <p:spPr>
          <a:xfrm>
            <a:off x="5800719" y="5977068"/>
            <a:ext cx="4601023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0091" tIns="20091" rIns="20091" bIns="20091">
            <a:spAutoFit/>
          </a:bodyPr>
          <a:lstStyle/>
          <a:p>
            <a:pPr>
              <a:buClr>
                <a:srgbClr val="000000"/>
              </a:buClr>
            </a:pPr>
            <a:r>
              <a:rPr>
                <a:solidFill>
                  <a:schemeClr val="accent2"/>
                </a:solidFill>
                <a:uFill>
                  <a:solidFill>
                    <a:schemeClr val="accent2"/>
                  </a:solidFill>
                </a:uFill>
                <a:hlinkClick r:id="rId3" invalidUrl="" action="" tgtFrame="" tooltip="" history="1" highlightClick="0" endSnd="0"/>
              </a:rPr>
              <a:t>mcstas-users@mcstas.org</a:t>
            </a:r>
            <a:r>
              <a:t> mailinglist</a:t>
            </a:r>
          </a:p>
        </p:txBody>
      </p:sp>
      <p:sp>
        <p:nvSpPr>
          <p:cNvPr id="490" name="Project website at…"/>
          <p:cNvSpPr txBox="1"/>
          <p:nvPr/>
        </p:nvSpPr>
        <p:spPr>
          <a:xfrm>
            <a:off x="2636883" y="5923077"/>
            <a:ext cx="3141018" cy="6126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0091" tIns="20091" rIns="20091" bIns="20091">
            <a:spAutoFit/>
          </a:bodyPr>
          <a:lstStyle/>
          <a:p>
            <a:pPr>
              <a:buClr>
                <a:srgbClr val="000000"/>
              </a:buClr>
            </a:pPr>
            <a:r>
              <a:t>Project website at</a:t>
            </a:r>
          </a:p>
          <a:p>
            <a:pPr>
              <a:buClr>
                <a:srgbClr val="000000"/>
              </a:buClr>
            </a:pPr>
            <a:r>
              <a:rPr>
                <a:solidFill>
                  <a:schemeClr val="accent2"/>
                </a:solidFill>
                <a:uFill>
                  <a:solidFill>
                    <a:schemeClr val="accent2"/>
                  </a:solidFill>
                </a:uFill>
                <a:hlinkClick r:id="rId4" invalidUrl="" action="" tgtFrame="" tooltip="" history="1" highlightClick="0" endSnd="0"/>
              </a:rPr>
              <a:t>http://www.mcstas.org</a:t>
            </a:r>
          </a:p>
        </p:txBody>
      </p:sp>
      <p:pic>
        <p:nvPicPr>
          <p:cNvPr id="491" name="McStas_Website.png" descr="McStas_Websit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229731" y="2936315"/>
            <a:ext cx="3849027" cy="30251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McStas Introduc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McStas Introduction</a:t>
            </a:r>
          </a:p>
        </p:txBody>
      </p:sp>
      <p:sp>
        <p:nvSpPr>
          <p:cNvPr id="494" name="Flexible, general simulation utility for neutron scattering experiments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Flexible, general simulation utility for neutron scattering experiments.</a:t>
            </a:r>
          </a:p>
          <a:p>
            <a:pPr/>
          </a:p>
          <a:p>
            <a:pPr/>
            <a:r>
              <a:t>Original design for Monte carlo Simulation of triple axis spectrometers</a:t>
            </a:r>
          </a:p>
          <a:p>
            <a:pPr/>
          </a:p>
          <a:p>
            <a:pPr/>
            <a:r>
              <a:t>Developed at RISØ DTU, KU and ILL, Grenoble.</a:t>
            </a:r>
          </a:p>
          <a:p>
            <a:pPr/>
          </a:p>
          <a:p>
            <a:pPr/>
            <a:r>
              <a:t>V. 1.0 by K Nielsen &amp; K Lefmann (1998)</a:t>
            </a:r>
          </a:p>
          <a:p>
            <a:pPr/>
          </a:p>
          <a:p>
            <a:pPr/>
            <a:r>
              <a:t>Currently 2.5+1 people full time plus students</a:t>
            </a:r>
          </a:p>
        </p:txBody>
      </p:sp>
      <p:sp>
        <p:nvSpPr>
          <p:cNvPr id="4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96" name="4"/>
          <p:cNvSpPr txBox="1"/>
          <p:nvPr/>
        </p:nvSpPr>
        <p:spPr>
          <a:xfrm>
            <a:off x="2373775" y="6661926"/>
            <a:ext cx="127001" cy="127249"/>
          </a:xfrm>
          <a:prstGeom prst="rect">
            <a:avLst/>
          </a:prstGeom>
          <a:ln w="12700"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buClr>
                <a:srgbClr val="9A9A9A"/>
              </a:buClr>
              <a:defRPr sz="800">
                <a:solidFill>
                  <a:srgbClr val="9A9A9A"/>
                </a:solidFill>
                <a:uFill>
                  <a:solidFill>
                    <a:srgbClr val="9A9A9A"/>
                  </a:solidFill>
                </a:uFill>
              </a:defRPr>
            </a:lvl1pPr>
          </a:lstStyle>
          <a:p>
            <a:pPr/>
            <a:r>
              <a:t>4</a:t>
            </a:r>
          </a:p>
        </p:txBody>
      </p:sp>
      <p:grpSp>
        <p:nvGrpSpPr>
          <p:cNvPr id="499" name="Group"/>
          <p:cNvGrpSpPr/>
          <p:nvPr/>
        </p:nvGrpSpPr>
        <p:grpSpPr>
          <a:xfrm>
            <a:off x="4339799" y="3097624"/>
            <a:ext cx="1225601" cy="589360"/>
            <a:chOff x="0" y="0"/>
            <a:chExt cx="1225599" cy="589359"/>
          </a:xfrm>
        </p:grpSpPr>
        <p:sp>
          <p:nvSpPr>
            <p:cNvPr id="497" name="Rectangle"/>
            <p:cNvSpPr/>
            <p:nvPr/>
          </p:nvSpPr>
          <p:spPr>
            <a:xfrm>
              <a:off x="0" y="135992"/>
              <a:ext cx="1201719" cy="322826"/>
            </a:xfrm>
            <a:prstGeom prst="rect">
              <a:avLst/>
            </a:prstGeom>
            <a:noFill/>
            <a:ln w="3175" cap="flat">
              <a:solidFill>
                <a:srgbClr val="008AD6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 marL="28574" marR="28574" defTabSz="315887">
                <a:lnSpc>
                  <a:spcPct val="93000"/>
                </a:lnSpc>
                <a:defRPr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98" name="GNU GPL license…"/>
            <p:cNvSpPr txBox="1"/>
            <p:nvPr/>
          </p:nvSpPr>
          <p:spPr>
            <a:xfrm>
              <a:off x="16662" y="0"/>
              <a:ext cx="1208938" cy="5893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6697" tIns="6697" rIns="6697" bIns="6697" numCol="1" anchor="t">
              <a:noAutofit/>
            </a:bodyPr>
            <a:lstStyle/>
            <a:p>
              <a:pPr marL="3726" marR="3726" defTabSz="315887">
                <a:lnSpc>
                  <a:spcPct val="96000"/>
                </a:lnSpc>
                <a:buClr>
                  <a:srgbClr val="000000"/>
                </a:buClr>
                <a:buFont typeface="Wingdings"/>
                <a:tabLst>
                  <a:tab pos="368300" algn="l"/>
                  <a:tab pos="711200" algn="l"/>
                  <a:tab pos="901700" algn="l"/>
                </a:tabLst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rPr sz="900">
                  <a:latin typeface="Verdana"/>
                  <a:ea typeface="Verdana"/>
                  <a:cs typeface="Verdana"/>
                  <a:sym typeface="Verdana"/>
                </a:rPr>
                <a:t> GNU GPL license</a:t>
              </a:r>
              <a:endParaRPr sz="900">
                <a:latin typeface="Verdana"/>
                <a:ea typeface="Verdana"/>
                <a:cs typeface="Verdana"/>
                <a:sym typeface="Verdana"/>
              </a:endParaRPr>
            </a:p>
            <a:p>
              <a:pPr marL="3726" marR="3726" defTabSz="315887">
                <a:lnSpc>
                  <a:spcPct val="96000"/>
                </a:lnSpc>
                <a:buClr>
                  <a:srgbClr val="000000"/>
                </a:buClr>
                <a:buFont typeface="Wingdings"/>
                <a:tabLst>
                  <a:tab pos="368300" algn="l"/>
                  <a:tab pos="711200" algn="l"/>
                  <a:tab pos="901700" algn="l"/>
                </a:tabLst>
                <a:defRPr sz="900"/>
              </a:pPr>
              <a:r>
                <a:t>Open Source</a:t>
              </a:r>
            </a:p>
          </p:txBody>
        </p:sp>
      </p:grpSp>
      <p:sp>
        <p:nvSpPr>
          <p:cNvPr id="500" name="neutron-mc@risoe.dk mailinglist"/>
          <p:cNvSpPr txBox="1"/>
          <p:nvPr/>
        </p:nvSpPr>
        <p:spPr>
          <a:xfrm>
            <a:off x="5748089" y="5529709"/>
            <a:ext cx="389111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0091" tIns="20091" rIns="20091" bIns="20091">
            <a:spAutoFit/>
          </a:bodyPr>
          <a:lstStyle/>
          <a:p>
            <a:pPr>
              <a:buClr>
                <a:srgbClr val="000000"/>
              </a:buClr>
            </a:pPr>
            <a:r>
              <a:rPr>
                <a:solidFill>
                  <a:schemeClr val="accent2"/>
                </a:solidFill>
                <a:uFill>
                  <a:solidFill>
                    <a:schemeClr val="accent2"/>
                  </a:solidFill>
                </a:uFill>
                <a:hlinkClick r:id="rId2" invalidUrl="" action="" tgtFrame="" tooltip="" history="1" highlightClick="0" endSnd="0"/>
              </a:rPr>
              <a:t>neutron-mc@risoe.dk</a:t>
            </a:r>
            <a:r>
              <a:t> mailinglist</a:t>
            </a:r>
          </a:p>
        </p:txBody>
      </p:sp>
      <p:sp>
        <p:nvSpPr>
          <p:cNvPr id="501" name="Project website at…"/>
          <p:cNvSpPr txBox="1"/>
          <p:nvPr/>
        </p:nvSpPr>
        <p:spPr>
          <a:xfrm>
            <a:off x="2680741" y="5337720"/>
            <a:ext cx="3141019" cy="6126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0091" tIns="20091" rIns="20091" bIns="20091">
            <a:spAutoFit/>
          </a:bodyPr>
          <a:lstStyle/>
          <a:p>
            <a:pPr>
              <a:buClr>
                <a:srgbClr val="000000"/>
              </a:buClr>
            </a:pPr>
            <a:r>
              <a:t>Project website at</a:t>
            </a:r>
          </a:p>
          <a:p>
            <a:pPr>
              <a:buClr>
                <a:srgbClr val="000000"/>
              </a:buClr>
            </a:pPr>
            <a:r>
              <a:rPr>
                <a:solidFill>
                  <a:schemeClr val="accent2"/>
                </a:solidFill>
                <a:uFill>
                  <a:solidFill>
                    <a:schemeClr val="accent2"/>
                  </a:solidFill>
                </a:uFill>
                <a:hlinkClick r:id="rId3" invalidUrl="" action="" tgtFrame="" tooltip="" history="1" highlightClick="0" endSnd="0"/>
              </a:rPr>
              <a:t>http://www.mcstas.org</a:t>
            </a:r>
          </a:p>
        </p:txBody>
      </p:sp>
      <p:pic>
        <p:nvPicPr>
          <p:cNvPr id="502" name="McStas_Website.png" descr="McStas_Website.png"/>
          <p:cNvPicPr>
            <a:picLocks noChangeAspect="1"/>
          </p:cNvPicPr>
          <p:nvPr/>
        </p:nvPicPr>
        <p:blipFill>
          <a:blip r:embed="rId4">
            <a:alphaModFix amt="20000"/>
            <a:extLst/>
          </a:blip>
          <a:stretch>
            <a:fillRect/>
          </a:stretch>
        </p:blipFill>
        <p:spPr>
          <a:xfrm>
            <a:off x="6953597" y="2511474"/>
            <a:ext cx="3306191" cy="259854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3" name="McXtrace_page.png" descr="McXtrace_pag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084620" y="1154901"/>
            <a:ext cx="7577084" cy="5449723"/>
          </a:xfrm>
          <a:prstGeom prst="rect">
            <a:avLst/>
          </a:prstGeom>
          <a:ln w="12700">
            <a:miter lim="400000"/>
          </a:ln>
        </p:spPr>
      </p:pic>
      <p:sp>
        <p:nvSpPr>
          <p:cNvPr id="504" name="McXtrace - since jan 2009 similar for X-rays"/>
          <p:cNvSpPr txBox="1"/>
          <p:nvPr/>
        </p:nvSpPr>
        <p:spPr>
          <a:xfrm>
            <a:off x="1654492" y="63406"/>
            <a:ext cx="10000230" cy="688977"/>
          </a:xfrm>
          <a:prstGeom prst="rect">
            <a:avLst/>
          </a:prstGeom>
          <a:ln w="12700"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>
              <a:spcBef>
                <a:spcPts val="0"/>
              </a:spcBef>
              <a:buClr>
                <a:srgbClr val="000000"/>
              </a:buClr>
              <a:defRPr b="1" sz="2200"/>
            </a:lvl1pPr>
          </a:lstStyle>
          <a:p>
            <a:pPr/>
            <a:r>
              <a:t>McXtrace - since jan 2009 similar for X-rays</a:t>
            </a:r>
          </a:p>
        </p:txBody>
      </p:sp>
      <p:sp>
        <p:nvSpPr>
          <p:cNvPr id="505" name="Synergy, knowledge transfer, shared infrastructure"/>
          <p:cNvSpPr txBox="1"/>
          <p:nvPr/>
        </p:nvSpPr>
        <p:spPr>
          <a:xfrm>
            <a:off x="2793986" y="5970084"/>
            <a:ext cx="6395890" cy="254497"/>
          </a:xfrm>
          <a:prstGeom prst="rect">
            <a:avLst/>
          </a:prstGeom>
          <a:ln w="12700"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 marL="90487" indent="-90487" defTabSz="910828">
              <a:spcBef>
                <a:spcPts val="300"/>
              </a:spcBef>
              <a:buClr>
                <a:srgbClr val="AD4642"/>
              </a:buClr>
              <a:buSzPct val="171000"/>
              <a:buChar char="•"/>
              <a:defRPr sz="1400"/>
            </a:lvl1pPr>
          </a:lstStyle>
          <a:p>
            <a:pPr/>
            <a:r>
              <a:t> Synergy, knowledge transfer, shared infrastructure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amCharts-1.pdf" descr="amCharts-1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00045" y="652823"/>
            <a:ext cx="9130482" cy="5841246"/>
          </a:xfrm>
          <a:prstGeom prst="rect">
            <a:avLst/>
          </a:prstGeom>
          <a:ln w="12700">
            <a:miter lim="400000"/>
          </a:ln>
        </p:spPr>
      </p:pic>
      <p:sp>
        <p:nvSpPr>
          <p:cNvPr id="508" name="Used in many places"/>
          <p:cNvSpPr txBox="1"/>
          <p:nvPr>
            <p:ph type="title"/>
          </p:nvPr>
        </p:nvSpPr>
        <p:spPr>
          <a:xfrm>
            <a:off x="2155725" y="-462874"/>
            <a:ext cx="9312376" cy="972718"/>
          </a:xfrm>
          <a:prstGeom prst="rect">
            <a:avLst/>
          </a:prstGeom>
        </p:spPr>
        <p:txBody>
          <a:bodyPr/>
          <a:lstStyle/>
          <a:p>
            <a:pPr/>
            <a:r>
              <a:t>Used in many places</a:t>
            </a:r>
          </a:p>
        </p:txBody>
      </p:sp>
      <p:sp>
        <p:nvSpPr>
          <p:cNvPr id="509" name="Double-click to edit"/>
          <p:cNvSpPr txBox="1"/>
          <p:nvPr>
            <p:ph type="body" idx="1"/>
          </p:nvPr>
        </p:nvSpPr>
        <p:spPr>
          <a:xfrm>
            <a:off x="2155800" y="1325399"/>
            <a:ext cx="9312375" cy="4545579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10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511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02660" y="1684823"/>
            <a:ext cx="964430" cy="51894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2" name="logoill.pdf" descr="logoill.pd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478038" y="2988329"/>
            <a:ext cx="424758" cy="40602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3" name="PSI-Logo_trans.png" descr="PSI-Logo_trans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426064" y="2732949"/>
            <a:ext cx="528707" cy="193562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" name="Image" descr="Image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900864" y="3226018"/>
            <a:ext cx="1005372" cy="263968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" name="Image" descr="Image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2005087" y="3593705"/>
            <a:ext cx="1111988" cy="57198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6" name="Image" descr="Image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3782777" y="5379401"/>
            <a:ext cx="528707" cy="694422"/>
          </a:xfrm>
          <a:prstGeom prst="rect">
            <a:avLst/>
          </a:prstGeom>
          <a:ln w="12700">
            <a:miter lim="400000"/>
          </a:ln>
        </p:spPr>
      </p:pic>
      <p:pic>
        <p:nvPicPr>
          <p:cNvPr id="517" name="Image" descr="Image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2869577" y="4301348"/>
            <a:ext cx="771838" cy="706528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" name="Image" descr="Image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1960135" y="4307078"/>
            <a:ext cx="886830" cy="406019"/>
          </a:xfrm>
          <a:prstGeom prst="rect">
            <a:avLst/>
          </a:prstGeom>
          <a:ln w="12700">
            <a:miter lim="400000"/>
          </a:ln>
        </p:spPr>
      </p:pic>
      <p:pic>
        <p:nvPicPr>
          <p:cNvPr id="519" name="Image" descr="Image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10050334" y="5285320"/>
            <a:ext cx="899354" cy="239828"/>
          </a:xfrm>
          <a:prstGeom prst="rect">
            <a:avLst/>
          </a:prstGeom>
          <a:ln w="12700">
            <a:miter lim="400000"/>
          </a:ln>
        </p:spPr>
      </p:pic>
      <p:pic>
        <p:nvPicPr>
          <p:cNvPr id="520" name="Image" descr="Image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9777965" y="3593705"/>
            <a:ext cx="765843" cy="299678"/>
          </a:xfrm>
          <a:prstGeom prst="rect">
            <a:avLst/>
          </a:prstGeom>
          <a:ln w="12700">
            <a:miter lim="400000"/>
          </a:ln>
        </p:spPr>
      </p:pic>
      <p:pic>
        <p:nvPicPr>
          <p:cNvPr id="521" name="Image" descr="Image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8664812" y="3549816"/>
            <a:ext cx="433995" cy="147954"/>
          </a:xfrm>
          <a:prstGeom prst="rect">
            <a:avLst/>
          </a:prstGeom>
          <a:ln w="12700">
            <a:miter lim="400000"/>
          </a:ln>
        </p:spPr>
      </p:pic>
      <p:pic>
        <p:nvPicPr>
          <p:cNvPr id="522" name="Image" descr="Image"/>
          <p:cNvPicPr>
            <a:picLocks noChangeAspect="1"/>
          </p:cNvPicPr>
          <p:nvPr/>
        </p:nvPicPr>
        <p:blipFill>
          <a:blip r:embed="rId14">
            <a:extLst/>
          </a:blip>
          <a:stretch>
            <a:fillRect/>
          </a:stretch>
        </p:blipFill>
        <p:spPr>
          <a:xfrm>
            <a:off x="8712262" y="3782915"/>
            <a:ext cx="339095" cy="193561"/>
          </a:xfrm>
          <a:prstGeom prst="rect">
            <a:avLst/>
          </a:prstGeom>
          <a:ln w="12700">
            <a:miter lim="400000"/>
          </a:ln>
        </p:spPr>
      </p:pic>
      <p:pic>
        <p:nvPicPr>
          <p:cNvPr id="523" name="Image" descr="Image"/>
          <p:cNvPicPr>
            <a:picLocks noChangeAspect="1"/>
          </p:cNvPicPr>
          <p:nvPr/>
        </p:nvPicPr>
        <p:blipFill>
          <a:blip r:embed="rId15">
            <a:extLst/>
          </a:blip>
          <a:stretch>
            <a:fillRect/>
          </a:stretch>
        </p:blipFill>
        <p:spPr>
          <a:xfrm>
            <a:off x="7024470" y="2642940"/>
            <a:ext cx="242943" cy="239829"/>
          </a:xfrm>
          <a:prstGeom prst="rect">
            <a:avLst/>
          </a:prstGeom>
          <a:ln w="12700">
            <a:miter lim="400000"/>
          </a:ln>
        </p:spPr>
      </p:pic>
      <p:pic>
        <p:nvPicPr>
          <p:cNvPr id="524" name="Image" descr="Image"/>
          <p:cNvPicPr>
            <a:picLocks noChangeAspect="1"/>
          </p:cNvPicPr>
          <p:nvPr/>
        </p:nvPicPr>
        <p:blipFill>
          <a:blip r:embed="rId16">
            <a:extLst/>
          </a:blip>
          <a:stretch>
            <a:fillRect/>
          </a:stretch>
        </p:blipFill>
        <p:spPr>
          <a:xfrm>
            <a:off x="7305974" y="2737994"/>
            <a:ext cx="433994" cy="341363"/>
          </a:xfrm>
          <a:prstGeom prst="rect">
            <a:avLst/>
          </a:prstGeom>
          <a:ln w="12700">
            <a:miter lim="400000"/>
          </a:ln>
        </p:spPr>
      </p:pic>
      <p:pic>
        <p:nvPicPr>
          <p:cNvPr id="525" name="Image" descr="Image"/>
          <p:cNvPicPr>
            <a:picLocks noChangeAspect="1"/>
          </p:cNvPicPr>
          <p:nvPr/>
        </p:nvPicPr>
        <p:blipFill>
          <a:blip r:embed="rId17">
            <a:extLst/>
          </a:blip>
          <a:stretch>
            <a:fillRect/>
          </a:stretch>
        </p:blipFill>
        <p:spPr>
          <a:xfrm>
            <a:off x="5944285" y="2442510"/>
            <a:ext cx="341363" cy="341364"/>
          </a:xfrm>
          <a:prstGeom prst="rect">
            <a:avLst/>
          </a:prstGeom>
          <a:ln w="12700">
            <a:miter lim="400000"/>
          </a:ln>
        </p:spPr>
      </p:pic>
      <p:pic>
        <p:nvPicPr>
          <p:cNvPr id="526" name="Image" descr="Image"/>
          <p:cNvPicPr>
            <a:picLocks noChangeAspect="1"/>
          </p:cNvPicPr>
          <p:nvPr/>
        </p:nvPicPr>
        <p:blipFill>
          <a:blip r:embed="rId18">
            <a:extLst/>
          </a:blip>
          <a:stretch>
            <a:fillRect/>
          </a:stretch>
        </p:blipFill>
        <p:spPr>
          <a:xfrm>
            <a:off x="6476722" y="5674234"/>
            <a:ext cx="771838" cy="450239"/>
          </a:xfrm>
          <a:prstGeom prst="rect">
            <a:avLst/>
          </a:prstGeom>
          <a:ln w="12700">
            <a:miter lim="400000"/>
          </a:ln>
        </p:spPr>
      </p:pic>
      <p:pic>
        <p:nvPicPr>
          <p:cNvPr id="527" name="Image" descr="Image"/>
          <p:cNvPicPr>
            <a:picLocks noChangeAspect="1"/>
          </p:cNvPicPr>
          <p:nvPr/>
        </p:nvPicPr>
        <p:blipFill>
          <a:blip r:embed="rId19">
            <a:extLst/>
          </a:blip>
          <a:stretch>
            <a:fillRect/>
          </a:stretch>
        </p:blipFill>
        <p:spPr>
          <a:xfrm>
            <a:off x="5116179" y="3402764"/>
            <a:ext cx="810737" cy="341363"/>
          </a:xfrm>
          <a:prstGeom prst="rect">
            <a:avLst/>
          </a:prstGeom>
          <a:ln w="12700">
            <a:miter lim="400000"/>
          </a:ln>
        </p:spPr>
      </p:pic>
      <p:pic>
        <p:nvPicPr>
          <p:cNvPr id="528" name="Image" descr="Image"/>
          <p:cNvPicPr>
            <a:picLocks noChangeAspect="1"/>
          </p:cNvPicPr>
          <p:nvPr/>
        </p:nvPicPr>
        <p:blipFill>
          <a:blip r:embed="rId20">
            <a:extLst/>
          </a:blip>
          <a:stretch>
            <a:fillRect/>
          </a:stretch>
        </p:blipFill>
        <p:spPr>
          <a:xfrm>
            <a:off x="5061780" y="3895666"/>
            <a:ext cx="630360" cy="316942"/>
          </a:xfrm>
          <a:prstGeom prst="rect">
            <a:avLst/>
          </a:prstGeom>
          <a:ln w="12700">
            <a:miter lim="400000"/>
          </a:ln>
        </p:spPr>
      </p:pic>
      <p:pic>
        <p:nvPicPr>
          <p:cNvPr id="529" name="Image" descr="Image"/>
          <p:cNvPicPr>
            <a:picLocks noChangeAspect="1"/>
          </p:cNvPicPr>
          <p:nvPr/>
        </p:nvPicPr>
        <p:blipFill>
          <a:blip r:embed="rId21">
            <a:extLst/>
          </a:blip>
          <a:stretch>
            <a:fillRect/>
          </a:stretch>
        </p:blipFill>
        <p:spPr>
          <a:xfrm>
            <a:off x="4654556" y="3635104"/>
            <a:ext cx="630360" cy="20267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What is McStas used for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What is McStas used for?</a:t>
            </a:r>
          </a:p>
        </p:txBody>
      </p:sp>
      <p:sp>
        <p:nvSpPr>
          <p:cNvPr id="532" name="Instrumentation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204951" indent="-204951">
              <a:defRPr sz="2600"/>
            </a:pPr>
            <a:r>
              <a:t>Instrumentation</a:t>
            </a:r>
          </a:p>
          <a:p>
            <a:pPr marL="204951" indent="-204951">
              <a:defRPr sz="2600"/>
            </a:pPr>
            <a:r>
              <a:t>Planning</a:t>
            </a:r>
          </a:p>
          <a:p>
            <a:pPr marL="204951" indent="-204951">
              <a:defRPr sz="2600"/>
            </a:pPr>
            <a:r>
              <a:t>Construction</a:t>
            </a:r>
          </a:p>
          <a:p>
            <a:pPr marL="204951" indent="-204951">
              <a:defRPr sz="2600"/>
            </a:pPr>
            <a:r>
              <a:t>Virtual experiments</a:t>
            </a:r>
          </a:p>
          <a:p>
            <a:pPr marL="204951" indent="-204951">
              <a:defRPr sz="2600"/>
            </a:pPr>
            <a:r>
              <a:t>Data analysis</a:t>
            </a:r>
          </a:p>
          <a:p>
            <a:pPr marL="204951" indent="-204951">
              <a:defRPr sz="2600"/>
            </a:pPr>
            <a:r>
              <a:t>Teaching</a:t>
            </a:r>
          </a:p>
        </p:txBody>
      </p:sp>
      <p:sp>
        <p:nvSpPr>
          <p:cNvPr id="533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537" name="Group"/>
          <p:cNvGrpSpPr/>
          <p:nvPr/>
        </p:nvGrpSpPr>
        <p:grpSpPr>
          <a:xfrm>
            <a:off x="2743782" y="4684940"/>
            <a:ext cx="4506600" cy="1833817"/>
            <a:chOff x="0" y="0"/>
            <a:chExt cx="4506598" cy="1833815"/>
          </a:xfrm>
        </p:grpSpPr>
        <p:pic>
          <p:nvPicPr>
            <p:cNvPr id="534" name="image.png" descr="image.png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2776583" y="243463"/>
              <a:ext cx="1730016" cy="149934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35" name="image.png" descr="image.png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1130366" y="115334"/>
              <a:ext cx="1845350" cy="171848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36" name="droppedImage.png" descr="droppedImage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0"/>
              <a:ext cx="1114900" cy="182024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538" name="(KU, DTU)"/>
          <p:cNvSpPr txBox="1"/>
          <p:nvPr/>
        </p:nvSpPr>
        <p:spPr>
          <a:xfrm>
            <a:off x="2584436" y="4326297"/>
            <a:ext cx="248468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315887">
              <a:lnSpc>
                <a:spcPct val="93000"/>
              </a:lnSpc>
              <a:buClr>
                <a:srgbClr val="000000"/>
              </a:buClr>
              <a:buFont typeface="Wingdings"/>
              <a:tabLst>
                <a:tab pos="368300" algn="l"/>
                <a:tab pos="711200" algn="l"/>
                <a:tab pos="1079500" algn="l"/>
                <a:tab pos="1117600" algn="l"/>
              </a:tabLst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(KU, DTU)</a:t>
            </a:r>
          </a:p>
        </p:txBody>
      </p:sp>
      <p:sp>
        <p:nvSpPr>
          <p:cNvPr id="539" name="Arrow"/>
          <p:cNvSpPr/>
          <p:nvPr/>
        </p:nvSpPr>
        <p:spPr>
          <a:xfrm rot="21326091">
            <a:off x="4520932" y="1692235"/>
            <a:ext cx="2546743" cy="174130"/>
          </a:xfrm>
          <a:prstGeom prst="rightArrow">
            <a:avLst>
              <a:gd name="adj1" fmla="val 32632"/>
              <a:gd name="adj2" fmla="val 153846"/>
            </a:avLst>
          </a:prstGeom>
          <a:ln w="3175">
            <a:solidFill>
              <a:srgbClr val="000000"/>
            </a:solidFill>
            <a:miter lim="400000"/>
          </a:ln>
        </p:spPr>
        <p:txBody>
          <a:bodyPr lIns="20091" tIns="20091" rIns="20091" bIns="20091" anchor="ctr"/>
          <a:lstStyle/>
          <a:p>
            <a:pPr>
              <a:buClr>
                <a:srgbClr val="000000"/>
              </a:buCl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0" name="Arrow"/>
          <p:cNvSpPr/>
          <p:nvPr/>
        </p:nvSpPr>
        <p:spPr>
          <a:xfrm rot="21466648">
            <a:off x="4876849" y="3139230"/>
            <a:ext cx="2292599" cy="194222"/>
          </a:xfrm>
          <a:prstGeom prst="rightArrow">
            <a:avLst>
              <a:gd name="adj1" fmla="val 32000"/>
              <a:gd name="adj2" fmla="val 151724"/>
            </a:avLst>
          </a:prstGeom>
          <a:ln w="3175">
            <a:solidFill>
              <a:srgbClr val="000000"/>
            </a:solidFill>
            <a:miter lim="400000"/>
          </a:ln>
        </p:spPr>
        <p:txBody>
          <a:bodyPr lIns="20091" tIns="20091" rIns="20091" bIns="20091" anchor="ctr"/>
          <a:lstStyle/>
          <a:p>
            <a:pPr>
              <a:buClr>
                <a:srgbClr val="000000"/>
              </a:buCl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1" name="Arrow"/>
          <p:cNvSpPr/>
          <p:nvPr/>
        </p:nvSpPr>
        <p:spPr>
          <a:xfrm rot="587913">
            <a:off x="4076211" y="3980439"/>
            <a:ext cx="3493110" cy="194222"/>
          </a:xfrm>
          <a:prstGeom prst="rightArrow">
            <a:avLst>
              <a:gd name="adj1" fmla="val 32000"/>
              <a:gd name="adj2" fmla="val 151724"/>
            </a:avLst>
          </a:prstGeom>
          <a:ln w="3175">
            <a:solidFill>
              <a:srgbClr val="000000"/>
            </a:solidFill>
            <a:miter lim="400000"/>
          </a:ln>
        </p:spPr>
        <p:txBody>
          <a:bodyPr lIns="20091" tIns="20091" rIns="20091" bIns="20091" anchor="ctr"/>
          <a:lstStyle/>
          <a:p>
            <a:pPr>
              <a:buClr>
                <a:srgbClr val="000000"/>
              </a:buCl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2" name="Arrow"/>
          <p:cNvSpPr/>
          <p:nvPr/>
        </p:nvSpPr>
        <p:spPr>
          <a:xfrm rot="1381362">
            <a:off x="3517974" y="4315276"/>
            <a:ext cx="783581" cy="194221"/>
          </a:xfrm>
          <a:prstGeom prst="rightArrow">
            <a:avLst>
              <a:gd name="adj1" fmla="val 32000"/>
              <a:gd name="adj2" fmla="val 151724"/>
            </a:avLst>
          </a:prstGeom>
          <a:ln w="3175">
            <a:solidFill>
              <a:srgbClr val="000000"/>
            </a:solidFill>
            <a:miter lim="400000"/>
          </a:ln>
        </p:spPr>
        <p:txBody>
          <a:bodyPr lIns="20091" tIns="20091" rIns="20091" bIns="20091" anchor="ctr"/>
          <a:lstStyle/>
          <a:p>
            <a:pPr>
              <a:buClr>
                <a:srgbClr val="000000"/>
              </a:buClr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545" name="Group"/>
          <p:cNvGrpSpPr/>
          <p:nvPr/>
        </p:nvGrpSpPr>
        <p:grpSpPr>
          <a:xfrm>
            <a:off x="7115011" y="128393"/>
            <a:ext cx="5025476" cy="1926222"/>
            <a:chOff x="0" y="0"/>
            <a:chExt cx="5025475" cy="1926220"/>
          </a:xfrm>
        </p:grpSpPr>
        <p:pic>
          <p:nvPicPr>
            <p:cNvPr id="543" name="XESS_chopper_and_elliptic_guide.png" descr="XESS_chopper_and_elliptic_guide.png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0" y="355414"/>
              <a:ext cx="2307190" cy="157080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44" name="XESS_sample_region_plus_detector.png" descr="XESS_sample_region_plus_detector.png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2537572" y="0"/>
              <a:ext cx="2487904" cy="16938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546" name="image.jpeg" descr="image.jpeg"/>
          <p:cNvPicPr>
            <a:picLocks noChangeAspect="0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7674939" y="4006555"/>
            <a:ext cx="2404319" cy="250477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50" name="Group"/>
          <p:cNvGrpSpPr/>
          <p:nvPr/>
        </p:nvGrpSpPr>
        <p:grpSpPr>
          <a:xfrm>
            <a:off x="7358358" y="2096209"/>
            <a:ext cx="4202102" cy="2078957"/>
            <a:chOff x="0" y="0"/>
            <a:chExt cx="4202100" cy="2078956"/>
          </a:xfrm>
        </p:grpSpPr>
        <p:pic>
          <p:nvPicPr>
            <p:cNvPr id="547" name="image.jpeg" descr="image.jpeg"/>
            <p:cNvPicPr>
              <a:picLocks noChangeAspect="0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1143788" y="0"/>
              <a:ext cx="3058313" cy="20789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48" name="image.png" descr="image.png"/>
            <p:cNvPicPr>
              <a:picLocks noChangeAspect="0"/>
            </p:cNvPicPr>
            <p:nvPr/>
          </p:nvPicPr>
          <p:blipFill>
            <a:blip r:embed="rId9">
              <a:extLst/>
            </a:blip>
            <a:srcRect l="7838" t="23248" r="65489" b="56762"/>
            <a:stretch>
              <a:fillRect/>
            </a:stretch>
          </p:blipFill>
          <p:spPr>
            <a:xfrm>
              <a:off x="0" y="816292"/>
              <a:ext cx="836258" cy="6690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49" name="image.png" descr="image.png"/>
            <p:cNvPicPr>
              <a:picLocks noChangeAspect="0"/>
            </p:cNvPicPr>
            <p:nvPr/>
          </p:nvPicPr>
          <p:blipFill>
            <a:blip r:embed="rId10">
              <a:extLst/>
            </a:blip>
            <a:srcRect l="7548" t="18751" r="65811" b="59535"/>
            <a:stretch>
              <a:fillRect/>
            </a:stretch>
          </p:blipFill>
          <p:spPr>
            <a:xfrm>
              <a:off x="0" y="142815"/>
              <a:ext cx="836259" cy="66909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McStas overview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McStas overview</a:t>
            </a:r>
          </a:p>
        </p:txBody>
      </p:sp>
      <p:sp>
        <p:nvSpPr>
          <p:cNvPr id="553" name="Portable code (Unix/Linux/Mac/Windoze)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219999" indent="-219999">
              <a:defRPr sz="2000"/>
            </a:pPr>
            <a:r>
              <a:t>Portable code (Unix/Linux/Mac/Windoze)</a:t>
            </a:r>
          </a:p>
          <a:p>
            <a:pPr marL="219999" indent="-219999">
              <a:defRPr sz="2000"/>
            </a:pPr>
          </a:p>
          <a:p>
            <a:pPr marL="109999" indent="-109999">
              <a:defRPr sz="1000"/>
            </a:pPr>
          </a:p>
          <a:p>
            <a:pPr marL="109999" indent="-109999">
              <a:defRPr sz="1000"/>
            </a:pPr>
          </a:p>
          <a:p>
            <a:pPr marL="109999" indent="-109999">
              <a:defRPr sz="1000"/>
            </a:pPr>
            <a:r>
              <a:t>Ran on everything from iPhone to 1000+ node cluster!</a:t>
            </a:r>
          </a:p>
          <a:p>
            <a:pPr marL="109999" indent="-109999">
              <a:defRPr sz="1000"/>
            </a:pPr>
          </a:p>
          <a:p>
            <a:pPr marL="219999" indent="-219999">
              <a:defRPr sz="2000"/>
            </a:pPr>
            <a:r>
              <a:t>'Component' files (~100) inserted from library</a:t>
            </a:r>
          </a:p>
          <a:p>
            <a:pPr lvl="2" marL="527600" indent="-110000">
              <a:defRPr sz="1000"/>
            </a:pPr>
            <a:r>
              <a:t>Sources</a:t>
            </a:r>
          </a:p>
          <a:p>
            <a:pPr lvl="2" marL="527600" indent="-110000">
              <a:defRPr sz="1000"/>
            </a:pPr>
            <a:r>
              <a:t>Optics</a:t>
            </a:r>
          </a:p>
          <a:p>
            <a:pPr lvl="2" marL="527600" indent="-110000">
              <a:defRPr sz="1000"/>
            </a:pPr>
            <a:r>
              <a:t>Samples</a:t>
            </a:r>
          </a:p>
          <a:p>
            <a:pPr lvl="2" marL="527600" indent="-110000">
              <a:defRPr sz="1000"/>
            </a:pPr>
            <a:r>
              <a:t>Monitors</a:t>
            </a:r>
          </a:p>
          <a:p>
            <a:pPr lvl="2" marL="527600" indent="-110000">
              <a:defRPr sz="1000"/>
            </a:pPr>
            <a:r>
              <a:t>If needed, write your own comps</a:t>
            </a:r>
          </a:p>
          <a:p>
            <a:pPr lvl="2" marL="527600" indent="-110000">
              <a:defRPr sz="1000"/>
            </a:pPr>
          </a:p>
          <a:p>
            <a:pPr marL="219999" indent="-219999">
              <a:defRPr sz="2000"/>
            </a:pPr>
            <a:r>
              <a:t>DSL + ISO-C code gen.</a:t>
            </a:r>
          </a:p>
        </p:txBody>
      </p:sp>
      <p:pic>
        <p:nvPicPr>
          <p:cNvPr id="554" name="article06_image06.jpg" descr="article06_image06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468537" y="3254845"/>
            <a:ext cx="2962583" cy="2914969"/>
          </a:xfrm>
          <a:prstGeom prst="rect">
            <a:avLst/>
          </a:prstGeom>
          <a:ln w="12700">
            <a:miter lim="400000"/>
          </a:ln>
        </p:spPr>
      </p:pic>
      <p:sp>
        <p:nvSpPr>
          <p:cNvPr id="5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560" name="Group"/>
          <p:cNvGrpSpPr/>
          <p:nvPr/>
        </p:nvGrpSpPr>
        <p:grpSpPr>
          <a:xfrm>
            <a:off x="6952629" y="1363821"/>
            <a:ext cx="3321154" cy="1239486"/>
            <a:chOff x="0" y="0"/>
            <a:chExt cx="3321152" cy="1239485"/>
          </a:xfrm>
        </p:grpSpPr>
        <p:pic>
          <p:nvPicPr>
            <p:cNvPr id="556" name="linux.pdf" descr="linux.pdf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129672"/>
              <a:ext cx="809664" cy="9596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57" name="Windows.png" descr="Windows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2081666" y="0"/>
              <a:ext cx="1239487" cy="12394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58" name="Mac.png" descr="Mac.png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932145" y="49706"/>
              <a:ext cx="1119536" cy="111953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59" name="Windesk.png" descr="Windesk.png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2261591" y="185773"/>
              <a:ext cx="881010" cy="6597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Reliability - cross comparisons"/>
          <p:cNvSpPr txBox="1"/>
          <p:nvPr>
            <p:ph type="title"/>
          </p:nvPr>
        </p:nvSpPr>
        <p:spPr>
          <a:xfrm>
            <a:off x="1774800" y="-461158"/>
            <a:ext cx="9312375" cy="972717"/>
          </a:xfrm>
          <a:prstGeom prst="rect">
            <a:avLst/>
          </a:prstGeom>
        </p:spPr>
        <p:txBody>
          <a:bodyPr/>
          <a:lstStyle/>
          <a:p>
            <a:pPr/>
            <a:r>
              <a:t>Reliability - cross comparisons</a:t>
            </a:r>
          </a:p>
        </p:txBody>
      </p:sp>
      <p:sp>
        <p:nvSpPr>
          <p:cNvPr id="563" name="Much effort has gone into this…"/>
          <p:cNvSpPr txBox="1"/>
          <p:nvPr>
            <p:ph type="body" idx="1"/>
          </p:nvPr>
        </p:nvSpPr>
        <p:spPr>
          <a:xfrm>
            <a:off x="1584498" y="678771"/>
            <a:ext cx="9312375" cy="4545579"/>
          </a:xfrm>
          <a:prstGeom prst="rect">
            <a:avLst/>
          </a:prstGeom>
        </p:spPr>
        <p:txBody>
          <a:bodyPr/>
          <a:lstStyle/>
          <a:p>
            <a:pPr marL="75009" indent="-75009">
              <a:defRPr sz="1300"/>
            </a:pPr>
            <a:r>
              <a:t>Much effort has gone into this</a:t>
            </a:r>
          </a:p>
          <a:p>
            <a:pPr marL="75009" indent="-75009">
              <a:defRPr sz="1300"/>
            </a:pPr>
            <a:r>
              <a:t>Here: simulations vs. exp. at powder diffract. DMC, PSI</a:t>
            </a:r>
          </a:p>
          <a:p>
            <a:pPr marL="75009" indent="-75009">
              <a:defRPr sz="1300"/>
            </a:pPr>
            <a:r>
              <a:t>The bottom line is</a:t>
            </a:r>
          </a:p>
          <a:p>
            <a:pPr marL="75009" indent="-75009">
              <a:defRPr sz="1300"/>
            </a:pPr>
            <a:r>
              <a:t>McStas agree very well with other packages (NISP, Vitess, SIMRES, MCViNE)</a:t>
            </a:r>
          </a:p>
          <a:p>
            <a:pPr marL="75009" indent="-75009">
              <a:defRPr sz="1300"/>
            </a:pPr>
            <a:r>
              <a:t>Experimental line shapes are within 5%</a:t>
            </a:r>
          </a:p>
          <a:p>
            <a:pPr marL="75009" indent="-75009">
              <a:defRPr sz="1300"/>
            </a:pPr>
            <a:r>
              <a:t>Absolute intensities are within 10% </a:t>
            </a:r>
          </a:p>
          <a:p>
            <a:pPr marL="75009" indent="-75009">
              <a:defRPr sz="1300"/>
            </a:pPr>
            <a:r>
              <a:t>Common understanding: McStas and similar codes are reliable</a:t>
            </a:r>
          </a:p>
        </p:txBody>
      </p:sp>
      <p:sp>
        <p:nvSpPr>
          <p:cNvPr id="5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565" name="image.png" descr="image.png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65461" y="4758924"/>
            <a:ext cx="2356590" cy="1495042"/>
          </a:xfrm>
          <a:prstGeom prst="rect">
            <a:avLst/>
          </a:prstGeom>
          <a:ln w="12700">
            <a:miter lim="400000"/>
          </a:ln>
        </p:spPr>
      </p:pic>
      <p:sp>
        <p:nvSpPr>
          <p:cNvPr id="566" name="P. Willendrup et al., Physica B, 386, (2006), 1032."/>
          <p:cNvSpPr txBox="1"/>
          <p:nvPr/>
        </p:nvSpPr>
        <p:spPr>
          <a:xfrm>
            <a:off x="549675" y="6283526"/>
            <a:ext cx="2752645" cy="206376"/>
          </a:xfrm>
          <a:prstGeom prst="rect">
            <a:avLst/>
          </a:prstGeom>
          <a:ln w="3175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27562" marR="27562" defTabSz="321468">
              <a:buClr>
                <a:srgbClr val="000000"/>
              </a:buClr>
              <a:buFont typeface="Arial"/>
              <a:tabLst>
                <a:tab pos="12700" algn="l"/>
                <a:tab pos="241300" algn="l"/>
                <a:tab pos="469900" algn="l"/>
                <a:tab pos="711200" algn="l"/>
                <a:tab pos="927100" algn="l"/>
                <a:tab pos="1168400" algn="l"/>
                <a:tab pos="1384300" algn="l"/>
                <a:tab pos="1612900" algn="l"/>
                <a:tab pos="1841500" algn="l"/>
                <a:tab pos="2082800" algn="l"/>
                <a:tab pos="2298700" algn="l"/>
                <a:tab pos="2527300" algn="l"/>
                <a:tab pos="2755900" algn="l"/>
                <a:tab pos="2984500" algn="l"/>
                <a:tab pos="3213100" algn="l"/>
                <a:tab pos="3441700" algn="l"/>
                <a:tab pos="3670300" algn="l"/>
                <a:tab pos="3898900" algn="l"/>
                <a:tab pos="4140200" algn="l"/>
                <a:tab pos="4356100" algn="l"/>
                <a:tab pos="4597400" algn="l"/>
              </a:tabLst>
              <a:defRPr sz="900"/>
            </a:lvl1pPr>
          </a:lstStyle>
          <a:p>
            <a:pPr/>
            <a:r>
              <a:t>P. Willendrup et al., Physica B, 386, (2006), 1032.</a:t>
            </a:r>
          </a:p>
        </p:txBody>
      </p:sp>
      <p:pic>
        <p:nvPicPr>
          <p:cNvPr id="567" name="droppedImage.pdf" descr="droppedImage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59208" y="2461450"/>
            <a:ext cx="2356590" cy="1982528"/>
          </a:xfrm>
          <a:prstGeom prst="rect">
            <a:avLst/>
          </a:prstGeom>
          <a:ln w="12700">
            <a:miter lim="400000"/>
          </a:ln>
        </p:spPr>
      </p:pic>
      <p:sp>
        <p:nvSpPr>
          <p:cNvPr id="568" name="E. Farhi, P. Willendrup, from IN22 benchmark exp."/>
          <p:cNvSpPr txBox="1"/>
          <p:nvPr/>
        </p:nvSpPr>
        <p:spPr>
          <a:xfrm>
            <a:off x="634811" y="4498263"/>
            <a:ext cx="2582372" cy="206376"/>
          </a:xfrm>
          <a:prstGeom prst="rect">
            <a:avLst/>
          </a:prstGeom>
          <a:ln w="3175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27562" marR="27562" defTabSz="321468">
              <a:buClr>
                <a:srgbClr val="000000"/>
              </a:buClr>
              <a:buFont typeface="Arial"/>
              <a:tabLst>
                <a:tab pos="12700" algn="l"/>
                <a:tab pos="241300" algn="l"/>
                <a:tab pos="469900" algn="l"/>
                <a:tab pos="711200" algn="l"/>
                <a:tab pos="927100" algn="l"/>
                <a:tab pos="1168400" algn="l"/>
                <a:tab pos="1384300" algn="l"/>
                <a:tab pos="1612900" algn="l"/>
                <a:tab pos="1841500" algn="l"/>
                <a:tab pos="2082800" algn="l"/>
                <a:tab pos="2298700" algn="l"/>
                <a:tab pos="2527300" algn="l"/>
                <a:tab pos="2755900" algn="l"/>
                <a:tab pos="2984500" algn="l"/>
                <a:tab pos="3213100" algn="l"/>
                <a:tab pos="3441700" algn="l"/>
                <a:tab pos="3670300" algn="l"/>
                <a:tab pos="3898900" algn="l"/>
                <a:tab pos="4140200" algn="l"/>
                <a:tab pos="4356100" algn="l"/>
                <a:tab pos="4597400" algn="l"/>
              </a:tabLst>
              <a:defRPr sz="900"/>
            </a:lvl1pPr>
          </a:lstStyle>
          <a:p>
            <a:pPr/>
            <a:r>
              <a:t>E. Farhi, P. Willendrup, from IN22 benchmark exp.</a:t>
            </a:r>
          </a:p>
        </p:txBody>
      </p:sp>
      <p:pic>
        <p:nvPicPr>
          <p:cNvPr id="569" name="Screenshot 2024-10-03 at 21.00.15.png" descr="Screenshot 2024-10-03 at 21.00.15.png">
            <a:hlinkClick r:id="rId4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036921" y="2574976"/>
            <a:ext cx="3543572" cy="1794730"/>
          </a:xfrm>
          <a:prstGeom prst="rect">
            <a:avLst/>
          </a:prstGeom>
          <a:ln w="3175">
            <a:solidFill>
              <a:srgbClr val="000000"/>
            </a:solidFill>
            <a:miter lim="400000"/>
          </a:ln>
        </p:spPr>
      </p:pic>
      <p:sp>
        <p:nvSpPr>
          <p:cNvPr id="570" name="https://doi.org/10.1016/j.nima.2024.169291"/>
          <p:cNvSpPr txBox="1"/>
          <p:nvPr/>
        </p:nvSpPr>
        <p:spPr>
          <a:xfrm>
            <a:off x="4715698" y="4406826"/>
            <a:ext cx="21860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900" u="sng">
                <a:solidFill>
                  <a:schemeClr val="accent2"/>
                </a:solidFill>
                <a:uFill>
                  <a:solidFill>
                    <a:schemeClr val="accent2"/>
                  </a:solidFill>
                </a:uFill>
                <a:hlinkClick r:id="rId4" invalidUrl="" action="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chemeClr val="accent2"/>
                </a:solidFill>
                <a:uFill>
                  <a:solidFill>
                    <a:schemeClr val="accent2"/>
                  </a:solidFill>
                </a:uFill>
                <a:hlinkClick r:id="rId4" invalidUrl="" action="" tgtFrame="" tooltip="" history="1" highlightClick="0" endSnd="0"/>
              </a:rPr>
              <a:t>https://doi.org/10.1016/j.nima.2024.169291</a:t>
            </a:r>
          </a:p>
        </p:txBody>
      </p:sp>
      <p:grpSp>
        <p:nvGrpSpPr>
          <p:cNvPr id="573" name="Group 6"/>
          <p:cNvGrpSpPr/>
          <p:nvPr/>
        </p:nvGrpSpPr>
        <p:grpSpPr>
          <a:xfrm>
            <a:off x="4261112" y="4577737"/>
            <a:ext cx="3095191" cy="2245974"/>
            <a:chOff x="0" y="0"/>
            <a:chExt cx="3095190" cy="2245972"/>
          </a:xfrm>
        </p:grpSpPr>
        <p:pic>
          <p:nvPicPr>
            <p:cNvPr id="571" name="Picture 11" descr="Picture 11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0" y="277300"/>
              <a:ext cx="2922440" cy="196867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72" name="TextBox 20"/>
            <p:cNvSpPr txBox="1"/>
            <p:nvPr/>
          </p:nvSpPr>
          <p:spPr>
            <a:xfrm>
              <a:off x="108043" y="0"/>
              <a:ext cx="2987148" cy="2784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 algn="ctr">
                <a:spcBef>
                  <a:spcPts val="0"/>
                </a:spcBef>
                <a:defRPr sz="1200">
                  <a:solidFill>
                    <a:srgbClr val="666666"/>
                  </a:solidFill>
                  <a:latin typeface="Segoe UI"/>
                  <a:ea typeface="Segoe UI"/>
                  <a:cs typeface="Segoe UI"/>
                  <a:sym typeface="Segoe UI"/>
                </a:defRPr>
              </a:lvl1pPr>
            </a:lstStyle>
            <a:p>
              <a:pPr/>
              <a:r>
                <a:t>Gold foil intensity measurements</a:t>
              </a:r>
            </a:p>
          </p:txBody>
        </p:sp>
      </p:grpSp>
      <p:grpSp>
        <p:nvGrpSpPr>
          <p:cNvPr id="584" name="Group"/>
          <p:cNvGrpSpPr/>
          <p:nvPr/>
        </p:nvGrpSpPr>
        <p:grpSpPr>
          <a:xfrm>
            <a:off x="8040975" y="411879"/>
            <a:ext cx="5782866" cy="5862742"/>
            <a:chOff x="0" y="0"/>
            <a:chExt cx="5782864" cy="5862740"/>
          </a:xfrm>
        </p:grpSpPr>
        <p:grpSp>
          <p:nvGrpSpPr>
            <p:cNvPr id="578" name="Group 15"/>
            <p:cNvGrpSpPr/>
            <p:nvPr/>
          </p:nvGrpSpPr>
          <p:grpSpPr>
            <a:xfrm>
              <a:off x="0" y="0"/>
              <a:ext cx="3962449" cy="2916290"/>
              <a:chOff x="0" y="0"/>
              <a:chExt cx="3962448" cy="2916289"/>
            </a:xfrm>
          </p:grpSpPr>
          <p:pic>
            <p:nvPicPr>
              <p:cNvPr id="574" name="Picture 8" descr="Picture 8"/>
              <p:cNvPicPr>
                <a:picLocks noChangeAspect="1"/>
              </p:cNvPicPr>
              <p:nvPr/>
            </p:nvPicPr>
            <p:blipFill>
              <a:blip r:embed="rId7">
                <a:extLst/>
              </a:blip>
              <a:stretch>
                <a:fillRect/>
              </a:stretch>
            </p:blipFill>
            <p:spPr>
              <a:xfrm>
                <a:off x="0" y="359342"/>
                <a:ext cx="3835421" cy="255694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575" name="TextBox 12"/>
              <p:cNvSpPr txBox="1"/>
              <p:nvPr/>
            </p:nvSpPr>
            <p:spPr>
              <a:xfrm>
                <a:off x="477841" y="0"/>
                <a:ext cx="2879739" cy="59507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noAutofit/>
              </a:bodyPr>
              <a:lstStyle>
                <a:lvl1pPr>
                  <a:spcBef>
                    <a:spcPts val="0"/>
                  </a:spcBef>
                  <a:defRPr sz="1800">
                    <a:solidFill>
                      <a:srgbClr val="666666"/>
                    </a:solidFill>
                    <a:latin typeface="Segoe UI"/>
                    <a:ea typeface="Segoe UI"/>
                    <a:cs typeface="Segoe UI"/>
                    <a:sym typeface="Segoe UI"/>
                  </a:defRPr>
                </a:lvl1pPr>
              </a:lstStyle>
              <a:p>
                <a:pPr/>
                <a:r>
                  <a:t>KANDI-II 2.47 Å wavelength</a:t>
                </a:r>
              </a:p>
            </p:txBody>
          </p:sp>
          <p:sp>
            <p:nvSpPr>
              <p:cNvPr id="576" name="TextBox 13"/>
              <p:cNvSpPr txBox="1"/>
              <p:nvPr/>
            </p:nvSpPr>
            <p:spPr>
              <a:xfrm>
                <a:off x="1082710" y="470554"/>
                <a:ext cx="2879739" cy="2812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noAutofit/>
              </a:bodyPr>
              <a:lstStyle>
                <a:lvl1pPr>
                  <a:spcBef>
                    <a:spcPts val="0"/>
                  </a:spcBef>
                  <a:defRPr sz="1400">
                    <a:solidFill>
                      <a:srgbClr val="666666"/>
                    </a:solidFill>
                    <a:latin typeface="Segoe UI"/>
                    <a:ea typeface="Segoe UI"/>
                    <a:cs typeface="Segoe UI"/>
                    <a:sym typeface="Segoe UI"/>
                  </a:defRPr>
                </a:lvl1pPr>
              </a:lstStyle>
              <a:p>
                <a:pPr/>
                <a:r>
                  <a:t>Si</a:t>
                </a:r>
              </a:p>
            </p:txBody>
          </p:sp>
          <p:sp>
            <p:nvSpPr>
              <p:cNvPr id="577" name="TextBox 14"/>
              <p:cNvSpPr txBox="1"/>
              <p:nvPr/>
            </p:nvSpPr>
            <p:spPr>
              <a:xfrm>
                <a:off x="913842" y="1701846"/>
                <a:ext cx="2879738" cy="31218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spcBef>
                    <a:spcPts val="0"/>
                  </a:spcBef>
                  <a:defRPr sz="1400">
                    <a:solidFill>
                      <a:srgbClr val="666666"/>
                    </a:solidFill>
                    <a:latin typeface="Segoe UI"/>
                    <a:ea typeface="Segoe UI"/>
                    <a:cs typeface="Segoe UI"/>
                    <a:sym typeface="Segoe UI"/>
                  </a:defRPr>
                </a:pPr>
                <a:r>
                  <a:t>Gr</a:t>
                </a:r>
                <a:r>
                  <a:rPr baseline="-25000"/>
                  <a:t>2</a:t>
                </a:r>
                <a:r>
                  <a:t>GaC</a:t>
                </a:r>
              </a:p>
            </p:txBody>
          </p:sp>
        </p:grpSp>
        <p:grpSp>
          <p:nvGrpSpPr>
            <p:cNvPr id="583" name="Group 19"/>
            <p:cNvGrpSpPr/>
            <p:nvPr/>
          </p:nvGrpSpPr>
          <p:grpSpPr>
            <a:xfrm>
              <a:off x="0" y="2961329"/>
              <a:ext cx="5782865" cy="2901412"/>
              <a:chOff x="0" y="0"/>
              <a:chExt cx="5782865" cy="2901411"/>
            </a:xfrm>
          </p:grpSpPr>
          <p:pic>
            <p:nvPicPr>
              <p:cNvPr id="579" name="Picture 10" descr="Picture 10"/>
              <p:cNvPicPr>
                <a:picLocks noChangeAspect="1"/>
              </p:cNvPicPr>
              <p:nvPr/>
            </p:nvPicPr>
            <p:blipFill>
              <a:blip r:embed="rId8">
                <a:extLst/>
              </a:blip>
              <a:stretch>
                <a:fillRect/>
              </a:stretch>
            </p:blipFill>
            <p:spPr>
              <a:xfrm>
                <a:off x="0" y="344464"/>
                <a:ext cx="3835421" cy="255694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580" name="TextBox 16"/>
              <p:cNvSpPr txBox="1"/>
              <p:nvPr/>
            </p:nvSpPr>
            <p:spPr>
              <a:xfrm>
                <a:off x="477841" y="0"/>
                <a:ext cx="3404678" cy="3393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noAutofit/>
              </a:bodyPr>
              <a:lstStyle>
                <a:lvl1pPr>
                  <a:spcBef>
                    <a:spcPts val="0"/>
                  </a:spcBef>
                  <a:defRPr sz="1800">
                    <a:solidFill>
                      <a:srgbClr val="666666"/>
                    </a:solidFill>
                    <a:latin typeface="Segoe UI"/>
                    <a:ea typeface="Segoe UI"/>
                    <a:cs typeface="Segoe UI"/>
                    <a:sym typeface="Segoe UI"/>
                  </a:defRPr>
                </a:lvl1pPr>
              </a:lstStyle>
              <a:p>
                <a:pPr/>
                <a:r>
                  <a:t>KARL Si sample</a:t>
                </a:r>
              </a:p>
            </p:txBody>
          </p:sp>
          <p:sp>
            <p:nvSpPr>
              <p:cNvPr id="581" name="TextBox 17"/>
              <p:cNvSpPr txBox="1"/>
              <p:nvPr/>
            </p:nvSpPr>
            <p:spPr>
              <a:xfrm>
                <a:off x="2378188" y="460411"/>
                <a:ext cx="3404678" cy="2812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noAutofit/>
              </a:bodyPr>
              <a:lstStyle>
                <a:lvl1pPr>
                  <a:spcBef>
                    <a:spcPts val="0"/>
                  </a:spcBef>
                  <a:defRPr sz="1400">
                    <a:solidFill>
                      <a:srgbClr val="666666"/>
                    </a:solidFill>
                    <a:latin typeface="Segoe UI"/>
                    <a:ea typeface="Segoe UI"/>
                    <a:cs typeface="Segoe UI"/>
                    <a:sym typeface="Segoe UI"/>
                  </a:defRPr>
                </a:lvl1pPr>
              </a:lstStyle>
              <a:p>
                <a:pPr/>
                <a:r>
                  <a:t>PG 2.421 Å</a:t>
                </a:r>
              </a:p>
            </p:txBody>
          </p:sp>
          <p:sp>
            <p:nvSpPr>
              <p:cNvPr id="582" name="TextBox 18"/>
              <p:cNvSpPr txBox="1"/>
              <p:nvPr/>
            </p:nvSpPr>
            <p:spPr>
              <a:xfrm>
                <a:off x="2376605" y="1694628"/>
                <a:ext cx="3404678" cy="2812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noAutofit/>
              </a:bodyPr>
              <a:lstStyle>
                <a:lvl1pPr>
                  <a:spcBef>
                    <a:spcPts val="0"/>
                  </a:spcBef>
                  <a:defRPr sz="1400">
                    <a:solidFill>
                      <a:srgbClr val="666666"/>
                    </a:solidFill>
                    <a:latin typeface="Segoe UI"/>
                    <a:ea typeface="Segoe UI"/>
                    <a:cs typeface="Segoe UI"/>
                    <a:sym typeface="Segoe UI"/>
                  </a:defRPr>
                </a:lvl1pPr>
              </a:lstStyle>
              <a:p>
                <a:pPr/>
                <a:r>
                  <a:t>Cu 0.98 Å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73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Domain-specific-language (DSL) based on compiler technology (LeX+Yacc)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Domain-specific-language (DSL) based on compiler technology (LeX+Yacc)</a:t>
            </a:r>
          </a:p>
          <a:p>
            <a:pPr/>
          </a:p>
          <a:p>
            <a:pPr lvl="2"/>
            <a:r>
              <a:t>Simple Instrument language                        ISO C</a:t>
            </a:r>
          </a:p>
          <a:p>
            <a:pPr/>
          </a:p>
          <a:p>
            <a:pPr/>
            <a:r>
              <a:t>Component codes realizing beamline parts (including user contribs)</a:t>
            </a:r>
          </a:p>
          <a:p>
            <a:pPr/>
          </a:p>
          <a:p>
            <a:pPr/>
            <a:r>
              <a:t>Library of common functions for e.g.</a:t>
            </a:r>
          </a:p>
          <a:p>
            <a:pPr lvl="2"/>
            <a:r>
              <a:t>I/O</a:t>
            </a:r>
          </a:p>
          <a:p>
            <a:pPr lvl="2"/>
            <a:r>
              <a:t>Random numbers</a:t>
            </a:r>
          </a:p>
          <a:p>
            <a:pPr lvl="2"/>
            <a:r>
              <a:t>Physical constants</a:t>
            </a:r>
          </a:p>
          <a:p>
            <a:pPr lvl="2"/>
            <a:r>
              <a:t>Propagation</a:t>
            </a:r>
          </a:p>
          <a:p>
            <a:pPr lvl="2"/>
            <a:r>
              <a:t>Precession in fields</a:t>
            </a:r>
          </a:p>
          <a:p>
            <a:pPr lvl="2"/>
            <a:r>
              <a:t>...</a:t>
            </a:r>
          </a:p>
        </p:txBody>
      </p:sp>
      <p:pic>
        <p:nvPicPr>
          <p:cNvPr id="587" name="droppedImage.png" descr="dropped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249782" y="3221301"/>
            <a:ext cx="4546285" cy="3290033"/>
          </a:xfrm>
          <a:prstGeom prst="rect">
            <a:avLst/>
          </a:prstGeom>
          <a:ln w="12700">
            <a:miter lim="400000"/>
          </a:ln>
        </p:spPr>
      </p:pic>
      <p:sp>
        <p:nvSpPr>
          <p:cNvPr id="588" name="Under-the-hood / inner working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Under-the-hood / inner workings</a:t>
            </a:r>
          </a:p>
        </p:txBody>
      </p:sp>
      <p:sp>
        <p:nvSpPr>
          <p:cNvPr id="589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90" name="Arrow"/>
          <p:cNvSpPr/>
          <p:nvPr/>
        </p:nvSpPr>
        <p:spPr>
          <a:xfrm>
            <a:off x="5453657" y="2457400"/>
            <a:ext cx="1145234" cy="113854"/>
          </a:xfrm>
          <a:prstGeom prst="rightArrow">
            <a:avLst>
              <a:gd name="adj1" fmla="val 32000"/>
              <a:gd name="adj2" fmla="val 258824"/>
            </a:avLst>
          </a:prstGeom>
          <a:ln w="3175">
            <a:solidFill>
              <a:srgbClr val="000000"/>
            </a:solidFill>
            <a:miter lim="400000"/>
          </a:ln>
        </p:spPr>
        <p:txBody>
          <a:bodyPr lIns="20091" tIns="20091" rIns="20091" bIns="20091" anchor="ctr"/>
          <a:lstStyle/>
          <a:p>
            <a:pPr>
              <a:buClr>
                <a:srgbClr val="000000"/>
              </a:buCl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1" name="Code generation"/>
          <p:cNvSpPr txBox="1"/>
          <p:nvPr/>
        </p:nvSpPr>
        <p:spPr>
          <a:xfrm>
            <a:off x="5480446" y="2263179"/>
            <a:ext cx="929927" cy="167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0091" tIns="20091" rIns="20091" bIns="20091">
            <a:spAutoFit/>
          </a:bodyPr>
          <a:lstStyle>
            <a:lvl1pPr defTabSz="910828">
              <a:spcBef>
                <a:spcPts val="300"/>
              </a:spcBef>
              <a:defRPr sz="800"/>
            </a:lvl1pPr>
          </a:lstStyle>
          <a:p>
            <a:pPr/>
            <a:r>
              <a:t>Code generation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Implement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Implementation</a:t>
            </a:r>
          </a:p>
        </p:txBody>
      </p:sp>
      <p:pic>
        <p:nvPicPr>
          <p:cNvPr id="594" name="droppedImage.png" descr="dropped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317198" y="2717669"/>
            <a:ext cx="6461110" cy="2042667"/>
          </a:xfrm>
          <a:prstGeom prst="rect">
            <a:avLst/>
          </a:prstGeom>
          <a:ln w="12700">
            <a:miter lim="400000"/>
          </a:ln>
        </p:spPr>
      </p:pic>
      <p:sp>
        <p:nvSpPr>
          <p:cNvPr id="5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Placing components - sourc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Placing components - source</a:t>
            </a:r>
          </a:p>
        </p:txBody>
      </p:sp>
      <p:sp>
        <p:nvSpPr>
          <p:cNvPr id="598" name="One of the first components in your instrument is typically a source, which has a coordinate system like this…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One of the first components in your instrument is typically a source, which has a coordinate system like this….</a:t>
            </a:r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  <a:r>
              <a:t>z is along neutron beam direction</a:t>
            </a:r>
          </a:p>
          <a:p>
            <a:pPr/>
            <a:r>
              <a:t>y is vertical</a:t>
            </a:r>
          </a:p>
          <a:p>
            <a:pPr/>
            <a:r>
              <a:t>x at an angle of 90° wrt. z,y </a:t>
            </a:r>
          </a:p>
        </p:txBody>
      </p:sp>
      <p:sp>
        <p:nvSpPr>
          <p:cNvPr id="5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00" name="Oval"/>
          <p:cNvSpPr/>
          <p:nvPr/>
        </p:nvSpPr>
        <p:spPr>
          <a:xfrm>
            <a:off x="3232125" y="3228206"/>
            <a:ext cx="284714" cy="150196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601" name="Line"/>
          <p:cNvSpPr/>
          <p:nvPr/>
        </p:nvSpPr>
        <p:spPr>
          <a:xfrm flipV="1">
            <a:off x="3374481" y="2600041"/>
            <a:ext cx="1" cy="1391518"/>
          </a:xfrm>
          <a:prstGeom prst="line">
            <a:avLst/>
          </a:prstGeom>
          <a:ln w="25400">
            <a:solidFill>
              <a:schemeClr val="accent3">
                <a:lumOff val="-9372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2" name="Line"/>
          <p:cNvSpPr/>
          <p:nvPr/>
        </p:nvSpPr>
        <p:spPr>
          <a:xfrm>
            <a:off x="3373910" y="3979252"/>
            <a:ext cx="1138321" cy="1"/>
          </a:xfrm>
          <a:prstGeom prst="line">
            <a:avLst/>
          </a:prstGeom>
          <a:ln w="25400">
            <a:solidFill>
              <a:schemeClr val="accent2">
                <a:satOff val="-15111"/>
                <a:lumOff val="-11019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3" name="Line"/>
          <p:cNvSpPr/>
          <p:nvPr/>
        </p:nvSpPr>
        <p:spPr>
          <a:xfrm flipV="1">
            <a:off x="3365834" y="3285931"/>
            <a:ext cx="679817" cy="685247"/>
          </a:xfrm>
          <a:prstGeom prst="line">
            <a:avLst/>
          </a:prstGeom>
          <a:ln w="25400">
            <a:solidFill>
              <a:schemeClr val="accent1">
                <a:lumOff val="-6000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4" name="Line"/>
          <p:cNvSpPr/>
          <p:nvPr/>
        </p:nvSpPr>
        <p:spPr>
          <a:xfrm>
            <a:off x="3440331" y="3887122"/>
            <a:ext cx="127001" cy="1"/>
          </a:xfrm>
          <a:prstGeom prst="line">
            <a:avLst/>
          </a:prstGeom>
          <a:ln w="25400">
            <a:solidFill>
              <a:schemeClr val="accent1">
                <a:lumOff val="-6000"/>
              </a:scheme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5" name="Line"/>
          <p:cNvSpPr/>
          <p:nvPr/>
        </p:nvSpPr>
        <p:spPr>
          <a:xfrm flipV="1">
            <a:off x="3463510" y="3880913"/>
            <a:ext cx="106042" cy="106232"/>
          </a:xfrm>
          <a:prstGeom prst="line">
            <a:avLst/>
          </a:prstGeom>
          <a:ln w="25400">
            <a:solidFill>
              <a:schemeClr val="accent1">
                <a:lumOff val="-6000"/>
              </a:scheme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6" name="Line"/>
          <p:cNvSpPr/>
          <p:nvPr/>
        </p:nvSpPr>
        <p:spPr>
          <a:xfrm flipV="1">
            <a:off x="3369737" y="3740747"/>
            <a:ext cx="106042" cy="106232"/>
          </a:xfrm>
          <a:prstGeom prst="line">
            <a:avLst/>
          </a:prstGeom>
          <a:ln w="25400">
            <a:solidFill>
              <a:schemeClr val="accent3">
                <a:lumOff val="-9372"/>
              </a:scheme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7" name="Line"/>
          <p:cNvSpPr/>
          <p:nvPr/>
        </p:nvSpPr>
        <p:spPr>
          <a:xfrm flipV="1">
            <a:off x="3463210" y="3743290"/>
            <a:ext cx="1" cy="101146"/>
          </a:xfrm>
          <a:prstGeom prst="line">
            <a:avLst/>
          </a:prstGeom>
          <a:ln w="25400">
            <a:solidFill>
              <a:schemeClr val="accent3">
                <a:lumOff val="-9372"/>
              </a:scheme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8" name="Rectangle"/>
          <p:cNvSpPr/>
          <p:nvPr/>
        </p:nvSpPr>
        <p:spPr>
          <a:xfrm>
            <a:off x="3371958" y="3858309"/>
            <a:ext cx="101601" cy="125108"/>
          </a:xfrm>
          <a:prstGeom prst="rect">
            <a:avLst/>
          </a:prstGeom>
          <a:ln w="25400">
            <a:solidFill>
              <a:schemeClr val="accent2">
                <a:satOff val="-15111"/>
                <a:lumOff val="-11019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609" name="x"/>
          <p:cNvSpPr txBox="1"/>
          <p:nvPr/>
        </p:nvSpPr>
        <p:spPr>
          <a:xfrm>
            <a:off x="3990902" y="2905293"/>
            <a:ext cx="127001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x</a:t>
            </a:r>
          </a:p>
        </p:txBody>
      </p:sp>
      <p:sp>
        <p:nvSpPr>
          <p:cNvPr id="610" name="y"/>
          <p:cNvSpPr txBox="1"/>
          <p:nvPr/>
        </p:nvSpPr>
        <p:spPr>
          <a:xfrm>
            <a:off x="3187954" y="2455042"/>
            <a:ext cx="127001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y</a:t>
            </a:r>
          </a:p>
        </p:txBody>
      </p:sp>
      <p:sp>
        <p:nvSpPr>
          <p:cNvPr id="611" name="z"/>
          <p:cNvSpPr txBox="1"/>
          <p:nvPr/>
        </p:nvSpPr>
        <p:spPr>
          <a:xfrm>
            <a:off x="4268558" y="4038425"/>
            <a:ext cx="12700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z</a:t>
            </a:r>
          </a:p>
        </p:txBody>
      </p:sp>
      <p:pic>
        <p:nvPicPr>
          <p:cNvPr id="612" name="Right Handed.PNG" descr="Right Handed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649967" y="2255907"/>
            <a:ext cx="3026113" cy="2988287"/>
          </a:xfrm>
          <a:prstGeom prst="rect">
            <a:avLst/>
          </a:prstGeom>
          <a:ln w="12700">
            <a:miter lim="400000"/>
          </a:ln>
        </p:spPr>
      </p:pic>
      <p:sp>
        <p:nvSpPr>
          <p:cNvPr id="613" name="Right-handed…"/>
          <p:cNvSpPr txBox="1"/>
          <p:nvPr/>
        </p:nvSpPr>
        <p:spPr>
          <a:xfrm>
            <a:off x="8502591" y="5286600"/>
            <a:ext cx="1661618" cy="5724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Right-handed</a:t>
            </a:r>
          </a:p>
          <a:p>
            <a:pPr/>
            <a:r>
              <a:t>coordinate system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Often the source coordinate system coincides with the “lab” coordinate system, denoted ABSOLUTE in McStas language, i.e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Often the source coordinate system coincides with the “lab” coordinate system, denoted</a:t>
            </a:r>
            <a:br/>
            <a:r>
              <a:t>ABSOLUTE in McStas language, i.e. </a:t>
            </a:r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  <a:r>
              <a:t>COMPONENT Source = Source_simple(…)</a:t>
            </a:r>
            <a:br/>
            <a:r>
              <a:t>AT (0,0,0) ABSOLUTE</a:t>
            </a:r>
          </a:p>
        </p:txBody>
      </p:sp>
      <p:sp>
        <p:nvSpPr>
          <p:cNvPr id="61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17" name="Oval"/>
          <p:cNvSpPr/>
          <p:nvPr/>
        </p:nvSpPr>
        <p:spPr>
          <a:xfrm>
            <a:off x="3232125" y="3228206"/>
            <a:ext cx="284714" cy="150196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618" name="Line"/>
          <p:cNvSpPr/>
          <p:nvPr/>
        </p:nvSpPr>
        <p:spPr>
          <a:xfrm flipV="1">
            <a:off x="3374481" y="2600041"/>
            <a:ext cx="1" cy="1391518"/>
          </a:xfrm>
          <a:prstGeom prst="line">
            <a:avLst/>
          </a:prstGeom>
          <a:ln w="25400">
            <a:solidFill>
              <a:schemeClr val="accent3">
                <a:lumOff val="-9372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9" name="Line"/>
          <p:cNvSpPr/>
          <p:nvPr/>
        </p:nvSpPr>
        <p:spPr>
          <a:xfrm>
            <a:off x="3373910" y="3979252"/>
            <a:ext cx="1138321" cy="1"/>
          </a:xfrm>
          <a:prstGeom prst="line">
            <a:avLst/>
          </a:prstGeom>
          <a:ln w="25400">
            <a:solidFill>
              <a:schemeClr val="accent2">
                <a:satOff val="-15111"/>
                <a:lumOff val="-11019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0" name="Line"/>
          <p:cNvSpPr/>
          <p:nvPr/>
        </p:nvSpPr>
        <p:spPr>
          <a:xfrm flipV="1">
            <a:off x="3365834" y="3285931"/>
            <a:ext cx="679817" cy="685247"/>
          </a:xfrm>
          <a:prstGeom prst="line">
            <a:avLst/>
          </a:prstGeom>
          <a:ln w="25400">
            <a:solidFill>
              <a:schemeClr val="accent1">
                <a:lumOff val="-6000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1" name="Line"/>
          <p:cNvSpPr/>
          <p:nvPr/>
        </p:nvSpPr>
        <p:spPr>
          <a:xfrm>
            <a:off x="3440331" y="3887122"/>
            <a:ext cx="127001" cy="1"/>
          </a:xfrm>
          <a:prstGeom prst="line">
            <a:avLst/>
          </a:prstGeom>
          <a:ln w="25400">
            <a:solidFill>
              <a:schemeClr val="accent1">
                <a:lumOff val="-6000"/>
              </a:scheme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2" name="Line"/>
          <p:cNvSpPr/>
          <p:nvPr/>
        </p:nvSpPr>
        <p:spPr>
          <a:xfrm flipV="1">
            <a:off x="3463510" y="3880913"/>
            <a:ext cx="106042" cy="106232"/>
          </a:xfrm>
          <a:prstGeom prst="line">
            <a:avLst/>
          </a:prstGeom>
          <a:ln w="25400">
            <a:solidFill>
              <a:schemeClr val="accent1">
                <a:lumOff val="-6000"/>
              </a:scheme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3" name="Line"/>
          <p:cNvSpPr/>
          <p:nvPr/>
        </p:nvSpPr>
        <p:spPr>
          <a:xfrm flipV="1">
            <a:off x="3369737" y="3740747"/>
            <a:ext cx="106042" cy="106232"/>
          </a:xfrm>
          <a:prstGeom prst="line">
            <a:avLst/>
          </a:prstGeom>
          <a:ln w="25400">
            <a:solidFill>
              <a:schemeClr val="accent3">
                <a:lumOff val="-9372"/>
              </a:scheme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4" name="Line"/>
          <p:cNvSpPr/>
          <p:nvPr/>
        </p:nvSpPr>
        <p:spPr>
          <a:xfrm flipV="1">
            <a:off x="3463210" y="3743290"/>
            <a:ext cx="1" cy="101146"/>
          </a:xfrm>
          <a:prstGeom prst="line">
            <a:avLst/>
          </a:prstGeom>
          <a:ln w="25400">
            <a:solidFill>
              <a:schemeClr val="accent3">
                <a:lumOff val="-9372"/>
              </a:scheme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5" name="Rectangle"/>
          <p:cNvSpPr/>
          <p:nvPr/>
        </p:nvSpPr>
        <p:spPr>
          <a:xfrm>
            <a:off x="3371958" y="3858309"/>
            <a:ext cx="101601" cy="125108"/>
          </a:xfrm>
          <a:prstGeom prst="rect">
            <a:avLst/>
          </a:prstGeom>
          <a:ln w="25400">
            <a:solidFill>
              <a:schemeClr val="accent2">
                <a:satOff val="-15111"/>
                <a:lumOff val="-11019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626" name="x"/>
          <p:cNvSpPr txBox="1"/>
          <p:nvPr/>
        </p:nvSpPr>
        <p:spPr>
          <a:xfrm>
            <a:off x="3990902" y="2905293"/>
            <a:ext cx="127001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x</a:t>
            </a:r>
          </a:p>
        </p:txBody>
      </p:sp>
      <p:sp>
        <p:nvSpPr>
          <p:cNvPr id="627" name="y"/>
          <p:cNvSpPr txBox="1"/>
          <p:nvPr/>
        </p:nvSpPr>
        <p:spPr>
          <a:xfrm>
            <a:off x="3187954" y="2455042"/>
            <a:ext cx="127001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y</a:t>
            </a:r>
          </a:p>
        </p:txBody>
      </p:sp>
      <p:sp>
        <p:nvSpPr>
          <p:cNvPr id="628" name="z"/>
          <p:cNvSpPr txBox="1"/>
          <p:nvPr/>
        </p:nvSpPr>
        <p:spPr>
          <a:xfrm>
            <a:off x="4268558" y="4038425"/>
            <a:ext cx="12700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z</a:t>
            </a:r>
          </a:p>
        </p:txBody>
      </p:sp>
      <p:sp>
        <p:nvSpPr>
          <p:cNvPr id="629" name="Placing components - sourc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Placing components - source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Rectangle"/>
          <p:cNvSpPr/>
          <p:nvPr/>
        </p:nvSpPr>
        <p:spPr>
          <a:xfrm>
            <a:off x="7680214" y="3544052"/>
            <a:ext cx="5683006" cy="52644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632" name="Placing further components - RELATIV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Placing further components - RELATIVE</a:t>
            </a:r>
          </a:p>
        </p:txBody>
      </p:sp>
      <p:sp>
        <p:nvSpPr>
          <p:cNvPr id="633" name="Placing further components is done by order of  1. Location, i.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Placing further components is done by order of </a:t>
            </a:r>
            <a:br/>
            <a:r>
              <a:t>1. </a:t>
            </a:r>
            <a:r>
              <a:rPr b="1"/>
              <a:t>Location, i.e</a:t>
            </a:r>
            <a:endParaRPr b="1"/>
          </a:p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  <a:r>
              <a:t>COMPONENT Source = Source_simple(…)</a:t>
            </a:r>
            <a:br/>
            <a:r>
              <a:t>AT (0,0,0) ABSOLUTE</a:t>
            </a:r>
          </a:p>
        </p:txBody>
      </p:sp>
      <p:sp>
        <p:nvSpPr>
          <p:cNvPr id="634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35" name="Oval"/>
          <p:cNvSpPr/>
          <p:nvPr/>
        </p:nvSpPr>
        <p:spPr>
          <a:xfrm>
            <a:off x="3232125" y="3228206"/>
            <a:ext cx="284714" cy="150196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636" name="Line"/>
          <p:cNvSpPr/>
          <p:nvPr/>
        </p:nvSpPr>
        <p:spPr>
          <a:xfrm flipV="1">
            <a:off x="3374481" y="2600041"/>
            <a:ext cx="1" cy="1391518"/>
          </a:xfrm>
          <a:prstGeom prst="line">
            <a:avLst/>
          </a:prstGeom>
          <a:ln w="25400">
            <a:solidFill>
              <a:schemeClr val="accent3">
                <a:lumOff val="-9372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7" name="Line"/>
          <p:cNvSpPr/>
          <p:nvPr/>
        </p:nvSpPr>
        <p:spPr>
          <a:xfrm>
            <a:off x="3373910" y="3979252"/>
            <a:ext cx="1138321" cy="1"/>
          </a:xfrm>
          <a:prstGeom prst="line">
            <a:avLst/>
          </a:prstGeom>
          <a:ln w="25400">
            <a:solidFill>
              <a:schemeClr val="accent2">
                <a:satOff val="-15111"/>
                <a:lumOff val="-11019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8" name="Line"/>
          <p:cNvSpPr/>
          <p:nvPr/>
        </p:nvSpPr>
        <p:spPr>
          <a:xfrm flipV="1">
            <a:off x="3365834" y="3285931"/>
            <a:ext cx="679817" cy="685247"/>
          </a:xfrm>
          <a:prstGeom prst="line">
            <a:avLst/>
          </a:prstGeom>
          <a:ln w="25400">
            <a:solidFill>
              <a:schemeClr val="accent1">
                <a:lumOff val="-6000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9" name="Line"/>
          <p:cNvSpPr/>
          <p:nvPr/>
        </p:nvSpPr>
        <p:spPr>
          <a:xfrm>
            <a:off x="3440331" y="3887122"/>
            <a:ext cx="127001" cy="1"/>
          </a:xfrm>
          <a:prstGeom prst="line">
            <a:avLst/>
          </a:prstGeom>
          <a:ln w="25400">
            <a:solidFill>
              <a:schemeClr val="accent1">
                <a:lumOff val="-6000"/>
              </a:scheme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0" name="Line"/>
          <p:cNvSpPr/>
          <p:nvPr/>
        </p:nvSpPr>
        <p:spPr>
          <a:xfrm flipV="1">
            <a:off x="3463510" y="3880913"/>
            <a:ext cx="106042" cy="106232"/>
          </a:xfrm>
          <a:prstGeom prst="line">
            <a:avLst/>
          </a:prstGeom>
          <a:ln w="25400">
            <a:solidFill>
              <a:schemeClr val="accent1">
                <a:lumOff val="-6000"/>
              </a:scheme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1" name="Line"/>
          <p:cNvSpPr/>
          <p:nvPr/>
        </p:nvSpPr>
        <p:spPr>
          <a:xfrm flipV="1">
            <a:off x="3369737" y="3740747"/>
            <a:ext cx="106042" cy="106232"/>
          </a:xfrm>
          <a:prstGeom prst="line">
            <a:avLst/>
          </a:prstGeom>
          <a:ln w="25400">
            <a:solidFill>
              <a:schemeClr val="accent3">
                <a:lumOff val="-9372"/>
              </a:scheme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2" name="Line"/>
          <p:cNvSpPr/>
          <p:nvPr/>
        </p:nvSpPr>
        <p:spPr>
          <a:xfrm flipV="1">
            <a:off x="3463210" y="3743290"/>
            <a:ext cx="1" cy="101146"/>
          </a:xfrm>
          <a:prstGeom prst="line">
            <a:avLst/>
          </a:prstGeom>
          <a:ln w="25400">
            <a:solidFill>
              <a:schemeClr val="accent3">
                <a:lumOff val="-9372"/>
              </a:scheme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3" name="Rectangle"/>
          <p:cNvSpPr/>
          <p:nvPr/>
        </p:nvSpPr>
        <p:spPr>
          <a:xfrm>
            <a:off x="3371958" y="3858309"/>
            <a:ext cx="101601" cy="125108"/>
          </a:xfrm>
          <a:prstGeom prst="rect">
            <a:avLst/>
          </a:prstGeom>
          <a:ln w="25400">
            <a:solidFill>
              <a:schemeClr val="accent2">
                <a:satOff val="-15111"/>
                <a:lumOff val="-11019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644" name="x"/>
          <p:cNvSpPr txBox="1"/>
          <p:nvPr/>
        </p:nvSpPr>
        <p:spPr>
          <a:xfrm>
            <a:off x="3990902" y="2905293"/>
            <a:ext cx="127001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x</a:t>
            </a:r>
          </a:p>
        </p:txBody>
      </p:sp>
      <p:sp>
        <p:nvSpPr>
          <p:cNvPr id="645" name="y"/>
          <p:cNvSpPr txBox="1"/>
          <p:nvPr/>
        </p:nvSpPr>
        <p:spPr>
          <a:xfrm>
            <a:off x="3187954" y="2455042"/>
            <a:ext cx="127001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y</a:t>
            </a:r>
          </a:p>
        </p:txBody>
      </p:sp>
      <p:sp>
        <p:nvSpPr>
          <p:cNvPr id="646" name="z"/>
          <p:cNvSpPr txBox="1"/>
          <p:nvPr/>
        </p:nvSpPr>
        <p:spPr>
          <a:xfrm>
            <a:off x="4268558" y="4038425"/>
            <a:ext cx="12700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z</a:t>
            </a:r>
          </a:p>
        </p:txBody>
      </p:sp>
      <p:sp>
        <p:nvSpPr>
          <p:cNvPr id="647" name="Rectangle"/>
          <p:cNvSpPr/>
          <p:nvPr/>
        </p:nvSpPr>
        <p:spPr>
          <a:xfrm>
            <a:off x="7477014" y="3747791"/>
            <a:ext cx="5683006" cy="526448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648" name="Line"/>
          <p:cNvSpPr/>
          <p:nvPr/>
        </p:nvSpPr>
        <p:spPr>
          <a:xfrm flipV="1">
            <a:off x="7481105" y="3545571"/>
            <a:ext cx="203993" cy="203993"/>
          </a:xfrm>
          <a:prstGeom prst="line">
            <a:avLst/>
          </a:prstGeom>
          <a:ln w="25400">
            <a:solidFill>
              <a:srgbClr val="00000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9" name="Line"/>
          <p:cNvSpPr/>
          <p:nvPr/>
        </p:nvSpPr>
        <p:spPr>
          <a:xfrm flipV="1">
            <a:off x="7481105" y="4060880"/>
            <a:ext cx="203993" cy="203993"/>
          </a:xfrm>
          <a:prstGeom prst="line">
            <a:avLst/>
          </a:prstGeom>
          <a:ln w="25400">
            <a:solidFill>
              <a:srgbClr val="00000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grpSp>
        <p:nvGrpSpPr>
          <p:cNvPr id="661" name="Group"/>
          <p:cNvGrpSpPr/>
          <p:nvPr/>
        </p:nvGrpSpPr>
        <p:grpSpPr>
          <a:xfrm>
            <a:off x="7378954" y="2467742"/>
            <a:ext cx="1324277" cy="1805337"/>
            <a:chOff x="0" y="0"/>
            <a:chExt cx="1324276" cy="1805336"/>
          </a:xfrm>
        </p:grpSpPr>
        <p:sp>
          <p:nvSpPr>
            <p:cNvPr id="650" name="Line"/>
            <p:cNvSpPr/>
            <p:nvPr/>
          </p:nvSpPr>
          <p:spPr>
            <a:xfrm flipV="1">
              <a:off x="186527" y="144999"/>
              <a:ext cx="1" cy="1391517"/>
            </a:xfrm>
            <a:prstGeom prst="line">
              <a:avLst/>
            </a:prstGeom>
            <a:noFill/>
            <a:ln w="25400" cap="flat">
              <a:solidFill>
                <a:schemeClr val="accent3">
                  <a:lumOff val="-9372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51" name="Line"/>
            <p:cNvSpPr/>
            <p:nvPr/>
          </p:nvSpPr>
          <p:spPr>
            <a:xfrm>
              <a:off x="185956" y="1524210"/>
              <a:ext cx="1138321" cy="1"/>
            </a:xfrm>
            <a:prstGeom prst="line">
              <a:avLst/>
            </a:prstGeom>
            <a:noFill/>
            <a:ln w="25400" cap="flat">
              <a:solidFill>
                <a:schemeClr val="accent2">
                  <a:satOff val="-15111"/>
                  <a:lumOff val="-11019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52" name="Line"/>
            <p:cNvSpPr/>
            <p:nvPr/>
          </p:nvSpPr>
          <p:spPr>
            <a:xfrm flipV="1">
              <a:off x="177880" y="830889"/>
              <a:ext cx="679817" cy="685247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6000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53" name="Line"/>
            <p:cNvSpPr/>
            <p:nvPr/>
          </p:nvSpPr>
          <p:spPr>
            <a:xfrm>
              <a:off x="252376" y="1432080"/>
              <a:ext cx="127001" cy="1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6000"/>
                </a:schemeClr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54" name="Line"/>
            <p:cNvSpPr/>
            <p:nvPr/>
          </p:nvSpPr>
          <p:spPr>
            <a:xfrm flipV="1">
              <a:off x="275556" y="1425871"/>
              <a:ext cx="106042" cy="106232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6000"/>
                </a:schemeClr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55" name="Line"/>
            <p:cNvSpPr/>
            <p:nvPr/>
          </p:nvSpPr>
          <p:spPr>
            <a:xfrm flipV="1">
              <a:off x="181783" y="1285705"/>
              <a:ext cx="106042" cy="106232"/>
            </a:xfrm>
            <a:prstGeom prst="line">
              <a:avLst/>
            </a:prstGeom>
            <a:noFill/>
            <a:ln w="25400" cap="flat">
              <a:solidFill>
                <a:schemeClr val="accent3">
                  <a:lumOff val="-9372"/>
                </a:schemeClr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56" name="Line"/>
            <p:cNvSpPr/>
            <p:nvPr/>
          </p:nvSpPr>
          <p:spPr>
            <a:xfrm flipV="1">
              <a:off x="275256" y="1288248"/>
              <a:ext cx="1" cy="101146"/>
            </a:xfrm>
            <a:prstGeom prst="line">
              <a:avLst/>
            </a:prstGeom>
            <a:noFill/>
            <a:ln w="25400" cap="flat">
              <a:solidFill>
                <a:schemeClr val="accent3">
                  <a:lumOff val="-9372"/>
                </a:schemeClr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57" name="Rectangle"/>
            <p:cNvSpPr/>
            <p:nvPr/>
          </p:nvSpPr>
          <p:spPr>
            <a:xfrm>
              <a:off x="184004" y="1403267"/>
              <a:ext cx="101601" cy="125108"/>
            </a:xfrm>
            <a:prstGeom prst="rect">
              <a:avLst/>
            </a:prstGeom>
            <a:noFill/>
            <a:ln w="25400" cap="flat">
              <a:solidFill>
                <a:schemeClr val="accent2">
                  <a:satOff val="-15111"/>
                  <a:lumOff val="-11019"/>
                </a:schemeClr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sp>
          <p:nvSpPr>
            <p:cNvPr id="658" name="x´"/>
            <p:cNvSpPr txBox="1"/>
            <p:nvPr/>
          </p:nvSpPr>
          <p:spPr>
            <a:xfrm>
              <a:off x="802948" y="450251"/>
              <a:ext cx="181968" cy="221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/>
            <a:p>
              <a:pPr/>
              <a:r>
                <a:t>x´</a:t>
              </a:r>
            </a:p>
          </p:txBody>
        </p:sp>
        <p:sp>
          <p:nvSpPr>
            <p:cNvPr id="659" name="y´"/>
            <p:cNvSpPr txBox="1"/>
            <p:nvPr/>
          </p:nvSpPr>
          <p:spPr>
            <a:xfrm>
              <a:off x="0" y="0"/>
              <a:ext cx="181968" cy="221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/>
            <a:p>
              <a:pPr/>
              <a:r>
                <a:t>y´</a:t>
              </a:r>
            </a:p>
          </p:txBody>
        </p:sp>
        <p:sp>
          <p:nvSpPr>
            <p:cNvPr id="660" name="z’"/>
            <p:cNvSpPr txBox="1"/>
            <p:nvPr/>
          </p:nvSpPr>
          <p:spPr>
            <a:xfrm>
              <a:off x="1080603" y="1583383"/>
              <a:ext cx="159446" cy="221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/>
            <a:p>
              <a:pPr/>
              <a:r>
                <a:t>z’</a:t>
              </a:r>
            </a:p>
          </p:txBody>
        </p:sp>
      </p:grpSp>
      <p:sp>
        <p:nvSpPr>
          <p:cNvPr id="662" name="Line"/>
          <p:cNvSpPr/>
          <p:nvPr/>
        </p:nvSpPr>
        <p:spPr>
          <a:xfrm flipV="1">
            <a:off x="4517098" y="3985035"/>
            <a:ext cx="3029736" cy="2102"/>
          </a:xfrm>
          <a:prstGeom prst="line">
            <a:avLst/>
          </a:prstGeom>
          <a:ln w="25400">
            <a:solidFill>
              <a:srgbClr val="A7A7A7"/>
            </a:solidFill>
            <a:prstDash val="sysDot"/>
            <a:miter lim="400000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3" name="COMPONENT Guide = Guide(…) AT (0,0,1) RELATIVE Source"/>
          <p:cNvSpPr txBox="1"/>
          <p:nvPr/>
        </p:nvSpPr>
        <p:spPr>
          <a:xfrm>
            <a:off x="7145844" y="5096689"/>
            <a:ext cx="3419377" cy="525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ts val="400"/>
              </a:spcBef>
              <a:defRPr sz="1800"/>
            </a:pPr>
            <a:r>
              <a:t>COMPONENT Guide = Guide(…)</a:t>
            </a:r>
            <a:br/>
            <a:r>
              <a:rPr b="1"/>
              <a:t>AT (0,0,1) RELATIVE Source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Placing further components is done by order of  2. Rotation, i.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Placing further components is done by order of </a:t>
            </a:r>
            <a:br/>
            <a:r>
              <a:t>2. </a:t>
            </a:r>
            <a:r>
              <a:rPr b="1"/>
              <a:t>Rotation, i.e</a:t>
            </a:r>
            <a:endParaRPr b="1"/>
          </a:p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  <a:r>
              <a:t>COMPONENT Source = Source_simple(…)</a:t>
            </a:r>
            <a:br/>
            <a:r>
              <a:t>AT (0,0,0) ABSOLUTE</a:t>
            </a:r>
          </a:p>
        </p:txBody>
      </p:sp>
      <p:sp>
        <p:nvSpPr>
          <p:cNvPr id="666" name="Rectangle"/>
          <p:cNvSpPr/>
          <p:nvPr/>
        </p:nvSpPr>
        <p:spPr>
          <a:xfrm>
            <a:off x="7680214" y="3544052"/>
            <a:ext cx="5683006" cy="52644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667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68" name="Oval"/>
          <p:cNvSpPr/>
          <p:nvPr/>
        </p:nvSpPr>
        <p:spPr>
          <a:xfrm>
            <a:off x="3232125" y="3228206"/>
            <a:ext cx="284714" cy="150196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669" name="Line"/>
          <p:cNvSpPr/>
          <p:nvPr/>
        </p:nvSpPr>
        <p:spPr>
          <a:xfrm flipV="1">
            <a:off x="3374481" y="2600041"/>
            <a:ext cx="1" cy="1391518"/>
          </a:xfrm>
          <a:prstGeom prst="line">
            <a:avLst/>
          </a:prstGeom>
          <a:ln w="25400">
            <a:solidFill>
              <a:schemeClr val="accent3">
                <a:lumOff val="-9372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0" name="Line"/>
          <p:cNvSpPr/>
          <p:nvPr/>
        </p:nvSpPr>
        <p:spPr>
          <a:xfrm>
            <a:off x="3373910" y="3979252"/>
            <a:ext cx="1138321" cy="1"/>
          </a:xfrm>
          <a:prstGeom prst="line">
            <a:avLst/>
          </a:prstGeom>
          <a:ln w="25400">
            <a:solidFill>
              <a:schemeClr val="accent2">
                <a:satOff val="-15111"/>
                <a:lumOff val="-11019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1" name="Line"/>
          <p:cNvSpPr/>
          <p:nvPr/>
        </p:nvSpPr>
        <p:spPr>
          <a:xfrm flipV="1">
            <a:off x="3365834" y="3285931"/>
            <a:ext cx="679817" cy="685247"/>
          </a:xfrm>
          <a:prstGeom prst="line">
            <a:avLst/>
          </a:prstGeom>
          <a:ln w="25400">
            <a:solidFill>
              <a:schemeClr val="accent1">
                <a:lumOff val="-6000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2" name="Line"/>
          <p:cNvSpPr/>
          <p:nvPr/>
        </p:nvSpPr>
        <p:spPr>
          <a:xfrm>
            <a:off x="3440331" y="3887122"/>
            <a:ext cx="127001" cy="1"/>
          </a:xfrm>
          <a:prstGeom prst="line">
            <a:avLst/>
          </a:prstGeom>
          <a:ln w="25400">
            <a:solidFill>
              <a:schemeClr val="accent1">
                <a:lumOff val="-6000"/>
              </a:scheme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3" name="Line"/>
          <p:cNvSpPr/>
          <p:nvPr/>
        </p:nvSpPr>
        <p:spPr>
          <a:xfrm flipV="1">
            <a:off x="3463510" y="3880913"/>
            <a:ext cx="106042" cy="106232"/>
          </a:xfrm>
          <a:prstGeom prst="line">
            <a:avLst/>
          </a:prstGeom>
          <a:ln w="25400">
            <a:solidFill>
              <a:schemeClr val="accent1">
                <a:lumOff val="-6000"/>
              </a:scheme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4" name="Line"/>
          <p:cNvSpPr/>
          <p:nvPr/>
        </p:nvSpPr>
        <p:spPr>
          <a:xfrm flipV="1">
            <a:off x="3369737" y="3740747"/>
            <a:ext cx="106042" cy="106232"/>
          </a:xfrm>
          <a:prstGeom prst="line">
            <a:avLst/>
          </a:prstGeom>
          <a:ln w="25400">
            <a:solidFill>
              <a:schemeClr val="accent3">
                <a:lumOff val="-9372"/>
              </a:scheme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5" name="Line"/>
          <p:cNvSpPr/>
          <p:nvPr/>
        </p:nvSpPr>
        <p:spPr>
          <a:xfrm flipV="1">
            <a:off x="3463210" y="3743290"/>
            <a:ext cx="1" cy="101146"/>
          </a:xfrm>
          <a:prstGeom prst="line">
            <a:avLst/>
          </a:prstGeom>
          <a:ln w="25400">
            <a:solidFill>
              <a:schemeClr val="accent3">
                <a:lumOff val="-9372"/>
              </a:scheme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6" name="Rectangle"/>
          <p:cNvSpPr/>
          <p:nvPr/>
        </p:nvSpPr>
        <p:spPr>
          <a:xfrm>
            <a:off x="3371958" y="3858309"/>
            <a:ext cx="101601" cy="125108"/>
          </a:xfrm>
          <a:prstGeom prst="rect">
            <a:avLst/>
          </a:prstGeom>
          <a:ln w="25400">
            <a:solidFill>
              <a:schemeClr val="accent2">
                <a:satOff val="-15111"/>
                <a:lumOff val="-11019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677" name="x"/>
          <p:cNvSpPr txBox="1"/>
          <p:nvPr/>
        </p:nvSpPr>
        <p:spPr>
          <a:xfrm>
            <a:off x="3990902" y="2905293"/>
            <a:ext cx="127001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x</a:t>
            </a:r>
          </a:p>
        </p:txBody>
      </p:sp>
      <p:sp>
        <p:nvSpPr>
          <p:cNvPr id="678" name="y"/>
          <p:cNvSpPr txBox="1"/>
          <p:nvPr/>
        </p:nvSpPr>
        <p:spPr>
          <a:xfrm>
            <a:off x="3187954" y="2455042"/>
            <a:ext cx="127001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y</a:t>
            </a:r>
          </a:p>
        </p:txBody>
      </p:sp>
      <p:sp>
        <p:nvSpPr>
          <p:cNvPr id="679" name="z"/>
          <p:cNvSpPr txBox="1"/>
          <p:nvPr/>
        </p:nvSpPr>
        <p:spPr>
          <a:xfrm>
            <a:off x="4268558" y="4038425"/>
            <a:ext cx="12700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z</a:t>
            </a:r>
          </a:p>
        </p:txBody>
      </p:sp>
      <p:sp>
        <p:nvSpPr>
          <p:cNvPr id="680" name="Rectangle"/>
          <p:cNvSpPr/>
          <p:nvPr/>
        </p:nvSpPr>
        <p:spPr>
          <a:xfrm>
            <a:off x="7477014" y="3747791"/>
            <a:ext cx="5683006" cy="526448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681" name="Line"/>
          <p:cNvSpPr/>
          <p:nvPr/>
        </p:nvSpPr>
        <p:spPr>
          <a:xfrm flipV="1">
            <a:off x="7481105" y="3545571"/>
            <a:ext cx="203993" cy="203993"/>
          </a:xfrm>
          <a:prstGeom prst="line">
            <a:avLst/>
          </a:prstGeom>
          <a:ln w="25400">
            <a:solidFill>
              <a:srgbClr val="00000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2" name="Line"/>
          <p:cNvSpPr/>
          <p:nvPr/>
        </p:nvSpPr>
        <p:spPr>
          <a:xfrm flipV="1">
            <a:off x="7481105" y="4060880"/>
            <a:ext cx="203993" cy="203993"/>
          </a:xfrm>
          <a:prstGeom prst="line">
            <a:avLst/>
          </a:prstGeom>
          <a:ln w="25400">
            <a:solidFill>
              <a:srgbClr val="00000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grpSp>
        <p:nvGrpSpPr>
          <p:cNvPr id="697" name="Group"/>
          <p:cNvGrpSpPr/>
          <p:nvPr/>
        </p:nvGrpSpPr>
        <p:grpSpPr>
          <a:xfrm>
            <a:off x="7367771" y="2467742"/>
            <a:ext cx="1419148" cy="1805337"/>
            <a:chOff x="0" y="0"/>
            <a:chExt cx="1419146" cy="1805336"/>
          </a:xfrm>
        </p:grpSpPr>
        <p:sp>
          <p:nvSpPr>
            <p:cNvPr id="683" name="Line"/>
            <p:cNvSpPr/>
            <p:nvPr/>
          </p:nvSpPr>
          <p:spPr>
            <a:xfrm flipV="1">
              <a:off x="186527" y="144999"/>
              <a:ext cx="1" cy="1391517"/>
            </a:xfrm>
            <a:prstGeom prst="line">
              <a:avLst/>
            </a:prstGeom>
            <a:noFill/>
            <a:ln w="25400" cap="flat">
              <a:solidFill>
                <a:schemeClr val="accent3">
                  <a:lumOff val="-9372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84" name="Line"/>
            <p:cNvSpPr/>
            <p:nvPr/>
          </p:nvSpPr>
          <p:spPr>
            <a:xfrm>
              <a:off x="185956" y="1524210"/>
              <a:ext cx="1138321" cy="1"/>
            </a:xfrm>
            <a:prstGeom prst="line">
              <a:avLst/>
            </a:prstGeom>
            <a:noFill/>
            <a:ln w="25400" cap="flat">
              <a:solidFill>
                <a:schemeClr val="accent2">
                  <a:satOff val="-15111"/>
                  <a:lumOff val="-11019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85" name="Line"/>
            <p:cNvSpPr/>
            <p:nvPr/>
          </p:nvSpPr>
          <p:spPr>
            <a:xfrm flipV="1">
              <a:off x="177880" y="830889"/>
              <a:ext cx="679817" cy="685247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6000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86" name="Line"/>
            <p:cNvSpPr/>
            <p:nvPr/>
          </p:nvSpPr>
          <p:spPr>
            <a:xfrm>
              <a:off x="252376" y="1432080"/>
              <a:ext cx="127001" cy="1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6000"/>
                </a:schemeClr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87" name="Line"/>
            <p:cNvSpPr/>
            <p:nvPr/>
          </p:nvSpPr>
          <p:spPr>
            <a:xfrm flipV="1">
              <a:off x="275556" y="1425871"/>
              <a:ext cx="106042" cy="106232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6000"/>
                </a:schemeClr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88" name="Line"/>
            <p:cNvSpPr/>
            <p:nvPr/>
          </p:nvSpPr>
          <p:spPr>
            <a:xfrm flipV="1">
              <a:off x="181783" y="1285705"/>
              <a:ext cx="106042" cy="106232"/>
            </a:xfrm>
            <a:prstGeom prst="line">
              <a:avLst/>
            </a:prstGeom>
            <a:noFill/>
            <a:ln w="25400" cap="flat">
              <a:solidFill>
                <a:schemeClr val="accent3">
                  <a:lumOff val="-9372"/>
                </a:schemeClr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89" name="Line"/>
            <p:cNvSpPr/>
            <p:nvPr/>
          </p:nvSpPr>
          <p:spPr>
            <a:xfrm flipV="1">
              <a:off x="275256" y="1288248"/>
              <a:ext cx="1" cy="101146"/>
            </a:xfrm>
            <a:prstGeom prst="line">
              <a:avLst/>
            </a:prstGeom>
            <a:noFill/>
            <a:ln w="25400" cap="flat">
              <a:solidFill>
                <a:schemeClr val="accent3">
                  <a:lumOff val="-9372"/>
                </a:schemeClr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90" name="Rectangle"/>
            <p:cNvSpPr/>
            <p:nvPr/>
          </p:nvSpPr>
          <p:spPr>
            <a:xfrm>
              <a:off x="184004" y="1403267"/>
              <a:ext cx="101601" cy="125108"/>
            </a:xfrm>
            <a:prstGeom prst="rect">
              <a:avLst/>
            </a:prstGeom>
            <a:noFill/>
            <a:ln w="25400" cap="flat">
              <a:solidFill>
                <a:schemeClr val="accent2">
                  <a:satOff val="-15111"/>
                  <a:lumOff val="-11019"/>
                </a:schemeClr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sp>
          <p:nvSpPr>
            <p:cNvPr id="691" name="x´"/>
            <p:cNvSpPr txBox="1"/>
            <p:nvPr/>
          </p:nvSpPr>
          <p:spPr>
            <a:xfrm>
              <a:off x="909421" y="729781"/>
              <a:ext cx="181968" cy="221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/>
            <a:p>
              <a:pPr/>
              <a:r>
                <a:t>x´</a:t>
              </a:r>
            </a:p>
          </p:txBody>
        </p:sp>
        <p:sp>
          <p:nvSpPr>
            <p:cNvPr id="692" name="y´"/>
            <p:cNvSpPr txBox="1"/>
            <p:nvPr/>
          </p:nvSpPr>
          <p:spPr>
            <a:xfrm>
              <a:off x="0" y="0"/>
              <a:ext cx="181968" cy="221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/>
            <a:p>
              <a:pPr/>
              <a:r>
                <a:t>y´</a:t>
              </a:r>
            </a:p>
          </p:txBody>
        </p:sp>
        <p:sp>
          <p:nvSpPr>
            <p:cNvPr id="693" name="z’"/>
            <p:cNvSpPr txBox="1"/>
            <p:nvPr/>
          </p:nvSpPr>
          <p:spPr>
            <a:xfrm>
              <a:off x="1080603" y="1583383"/>
              <a:ext cx="159446" cy="221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/>
            <a:p>
              <a:pPr/>
              <a:r>
                <a:t>z’</a:t>
              </a:r>
            </a:p>
          </p:txBody>
        </p:sp>
        <p:sp>
          <p:nvSpPr>
            <p:cNvPr id="694" name="Line"/>
            <p:cNvSpPr/>
            <p:nvPr/>
          </p:nvSpPr>
          <p:spPr>
            <a:xfrm flipV="1">
              <a:off x="148411" y="746598"/>
              <a:ext cx="541666" cy="781368"/>
            </a:xfrm>
            <a:prstGeom prst="line">
              <a:avLst/>
            </a:prstGeom>
            <a:noFill/>
            <a:ln w="25400" cap="flat">
              <a:solidFill>
                <a:srgbClr val="A7A7A7"/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95" name="x”"/>
            <p:cNvSpPr txBox="1"/>
            <p:nvPr/>
          </p:nvSpPr>
          <p:spPr>
            <a:xfrm>
              <a:off x="708765" y="584684"/>
              <a:ext cx="181968" cy="221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/>
            <a:p>
              <a:pPr/>
              <a:r>
                <a:t>x”</a:t>
              </a:r>
            </a:p>
          </p:txBody>
        </p:sp>
        <p:sp>
          <p:nvSpPr>
            <p:cNvPr id="696" name="z”"/>
            <p:cNvSpPr txBox="1"/>
            <p:nvPr/>
          </p:nvSpPr>
          <p:spPr>
            <a:xfrm>
              <a:off x="1237179" y="1067008"/>
              <a:ext cx="181968" cy="221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/>
            <a:p>
              <a:pPr/>
              <a:r>
                <a:t>z”</a:t>
              </a:r>
            </a:p>
          </p:txBody>
        </p:sp>
      </p:grpSp>
      <p:sp>
        <p:nvSpPr>
          <p:cNvPr id="698" name="Line"/>
          <p:cNvSpPr/>
          <p:nvPr/>
        </p:nvSpPr>
        <p:spPr>
          <a:xfrm flipV="1">
            <a:off x="4517098" y="3985035"/>
            <a:ext cx="3029736" cy="2102"/>
          </a:xfrm>
          <a:prstGeom prst="line">
            <a:avLst/>
          </a:prstGeom>
          <a:ln w="25400">
            <a:solidFill>
              <a:srgbClr val="A7A7A7"/>
            </a:solidFill>
            <a:prstDash val="sysDot"/>
            <a:miter lim="400000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9" name="COMPONENT Guide = Guide(…) AT (0,0,1) RELATIVE Source…"/>
          <p:cNvSpPr txBox="1"/>
          <p:nvPr/>
        </p:nvSpPr>
        <p:spPr>
          <a:xfrm>
            <a:off x="7145844" y="5096689"/>
            <a:ext cx="3950358" cy="847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ts val="400"/>
              </a:spcBef>
              <a:defRPr sz="1800"/>
            </a:pPr>
            <a:r>
              <a:t>COMPONENT Guide = Guide(…)</a:t>
            </a:r>
            <a:br/>
            <a:r>
              <a:t>AT (0,0,1) RELATIVE Source</a:t>
            </a:r>
          </a:p>
          <a:p>
            <a:pPr>
              <a:spcBef>
                <a:spcPts val="400"/>
              </a:spcBef>
              <a:defRPr b="1" sz="1800"/>
            </a:pPr>
            <a:r>
              <a:t>ROTATED (0,30,0) RELATIVE Source</a:t>
            </a:r>
          </a:p>
        </p:txBody>
      </p:sp>
      <p:sp>
        <p:nvSpPr>
          <p:cNvPr id="700" name="Line"/>
          <p:cNvSpPr/>
          <p:nvPr/>
        </p:nvSpPr>
        <p:spPr>
          <a:xfrm flipV="1">
            <a:off x="7561662" y="3713485"/>
            <a:ext cx="1135257" cy="274736"/>
          </a:xfrm>
          <a:prstGeom prst="line">
            <a:avLst/>
          </a:prstGeom>
          <a:ln w="25400">
            <a:solidFill>
              <a:srgbClr val="A7A7A7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4" name="Connection Line"/>
          <p:cNvSpPr/>
          <p:nvPr/>
        </p:nvSpPr>
        <p:spPr>
          <a:xfrm>
            <a:off x="8425141" y="3772965"/>
            <a:ext cx="95746" cy="2021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6205" h="21600" fill="norm" stroke="1" extrusionOk="0">
                <a:moveTo>
                  <a:pt x="1095" y="0"/>
                </a:moveTo>
                <a:cubicBezTo>
                  <a:pt x="21600" y="7808"/>
                  <a:pt x="21235" y="15008"/>
                  <a:pt x="0" y="21600"/>
                </a:cubicBezTo>
              </a:path>
            </a:pathLst>
          </a:custGeom>
          <a:ln w="25400">
            <a:solidFill>
              <a:srgbClr val="A7A7A7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702" name="(Reference labels can also be PREVIOUS or PREVIOUS+1 etc.)"/>
          <p:cNvSpPr txBox="1"/>
          <p:nvPr/>
        </p:nvSpPr>
        <p:spPr>
          <a:xfrm>
            <a:off x="6237641" y="6239579"/>
            <a:ext cx="5834659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(Reference labels can also be PREVIOUS or PREVIOUS+1 etc.)</a:t>
            </a:r>
          </a:p>
        </p:txBody>
      </p:sp>
      <p:sp>
        <p:nvSpPr>
          <p:cNvPr id="703" name="Placing further components - RELATIV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Placing further components - RELATIVE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Components often have their origin at the centre of mass, i.e. for samples … but not  for neutron guid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896111">
              <a:defRPr sz="2940"/>
            </a:pPr>
            <a:r>
              <a:t>Components often have their origin at the centre of mass, i.e. for </a:t>
            </a:r>
            <a:r>
              <a:rPr>
                <a:solidFill>
                  <a:schemeClr val="accent2">
                    <a:lumOff val="22450"/>
                  </a:schemeClr>
                </a:solidFill>
              </a:rPr>
              <a:t>samples</a:t>
            </a:r>
            <a:r>
              <a:t> … but not  for </a:t>
            </a:r>
            <a:r>
              <a:rPr>
                <a:solidFill>
                  <a:schemeClr val="accent6"/>
                </a:solidFill>
              </a:rPr>
              <a:t>neutron guides</a:t>
            </a:r>
          </a:p>
        </p:txBody>
      </p:sp>
      <p:sp>
        <p:nvSpPr>
          <p:cNvPr id="707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724" name="Group"/>
          <p:cNvGrpSpPr/>
          <p:nvPr/>
        </p:nvGrpSpPr>
        <p:grpSpPr>
          <a:xfrm>
            <a:off x="8674362" y="1776860"/>
            <a:ext cx="7563622" cy="3304280"/>
            <a:chOff x="0" y="0"/>
            <a:chExt cx="7563621" cy="3304278"/>
          </a:xfrm>
        </p:grpSpPr>
        <p:sp>
          <p:nvSpPr>
            <p:cNvPr id="708" name="Rectangle"/>
            <p:cNvSpPr/>
            <p:nvPr/>
          </p:nvSpPr>
          <p:spPr>
            <a:xfrm>
              <a:off x="394165" y="1968688"/>
              <a:ext cx="7169457" cy="962930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sp>
          <p:nvSpPr>
            <p:cNvPr id="709" name="Rectangle"/>
            <p:cNvSpPr/>
            <p:nvPr/>
          </p:nvSpPr>
          <p:spPr>
            <a:xfrm>
              <a:off x="137816" y="2341348"/>
              <a:ext cx="7169457" cy="962931"/>
            </a:xfrm>
            <a:prstGeom prst="rect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sp>
          <p:nvSpPr>
            <p:cNvPr id="710" name="Line"/>
            <p:cNvSpPr/>
            <p:nvPr/>
          </p:nvSpPr>
          <p:spPr>
            <a:xfrm flipV="1">
              <a:off x="142977" y="1971466"/>
              <a:ext cx="257349" cy="373124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11" name="Line"/>
            <p:cNvSpPr/>
            <p:nvPr/>
          </p:nvSpPr>
          <p:spPr>
            <a:xfrm flipV="1">
              <a:off x="142977" y="2914022"/>
              <a:ext cx="257349" cy="373124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723" name="Group"/>
            <p:cNvGrpSpPr/>
            <p:nvPr/>
          </p:nvGrpSpPr>
          <p:grpSpPr>
            <a:xfrm>
              <a:off x="0" y="-1"/>
              <a:ext cx="1670655" cy="3302157"/>
              <a:chOff x="0" y="0"/>
              <a:chExt cx="1670654" cy="3302155"/>
            </a:xfrm>
          </p:grpSpPr>
          <p:sp>
            <p:nvSpPr>
              <p:cNvPr id="712" name="Line"/>
              <p:cNvSpPr/>
              <p:nvPr/>
            </p:nvSpPr>
            <p:spPr>
              <a:xfrm flipV="1">
                <a:off x="235315" y="265220"/>
                <a:ext cx="1" cy="2545235"/>
              </a:xfrm>
              <a:prstGeom prst="line">
                <a:avLst/>
              </a:prstGeom>
              <a:noFill/>
              <a:ln w="25400" cap="flat">
                <a:solidFill>
                  <a:schemeClr val="accent3">
                    <a:lumOff val="-9372"/>
                  </a:schemeClr>
                </a:solidFill>
                <a:prstDash val="solid"/>
                <a:round/>
                <a:tailEnd type="triangle" w="med" len="med"/>
              </a:ln>
              <a:effectLst>
                <a:outerShdw sx="100000" sy="100000" kx="0" ky="0" algn="b" rotWithShape="0" blurRad="38100" dist="20000" dir="540000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13" name="Line"/>
              <p:cNvSpPr/>
              <p:nvPr/>
            </p:nvSpPr>
            <p:spPr>
              <a:xfrm>
                <a:off x="234594" y="2787946"/>
                <a:ext cx="1436061" cy="1"/>
              </a:xfrm>
              <a:prstGeom prst="line">
                <a:avLst/>
              </a:prstGeom>
              <a:noFill/>
              <a:ln w="25400" cap="flat">
                <a:solidFill>
                  <a:schemeClr val="accent2">
                    <a:satOff val="-15111"/>
                    <a:lumOff val="-11019"/>
                  </a:schemeClr>
                </a:solidFill>
                <a:prstDash val="solid"/>
                <a:round/>
                <a:tailEnd type="triangle" w="med" len="med"/>
              </a:ln>
              <a:effectLst>
                <a:outerShdw sx="100000" sy="100000" kx="0" ky="0" algn="b" rotWithShape="0" blurRad="38100" dist="20000" dir="540000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14" name="Line"/>
              <p:cNvSpPr/>
              <p:nvPr/>
            </p:nvSpPr>
            <p:spPr>
              <a:xfrm flipV="1">
                <a:off x="224406" y="1519786"/>
                <a:ext cx="857630" cy="1253390"/>
              </a:xfrm>
              <a:prstGeom prst="line">
                <a:avLst/>
              </a:prstGeom>
              <a:noFill/>
              <a:ln w="25400" cap="flat">
                <a:solidFill>
                  <a:schemeClr val="accent1">
                    <a:lumOff val="-6000"/>
                  </a:schemeClr>
                </a:solidFill>
                <a:prstDash val="solid"/>
                <a:round/>
                <a:tailEnd type="triangle" w="med" len="med"/>
              </a:ln>
              <a:effectLst>
                <a:outerShdw sx="100000" sy="100000" kx="0" ky="0" algn="b" rotWithShape="0" blurRad="38100" dist="20000" dir="540000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15" name="Line"/>
              <p:cNvSpPr/>
              <p:nvPr/>
            </p:nvSpPr>
            <p:spPr>
              <a:xfrm>
                <a:off x="318388" y="2619429"/>
                <a:ext cx="160219" cy="1"/>
              </a:xfrm>
              <a:prstGeom prst="line">
                <a:avLst/>
              </a:prstGeom>
              <a:noFill/>
              <a:ln w="25400" cap="flat">
                <a:solidFill>
                  <a:schemeClr val="accent1">
                    <a:lumOff val="-6000"/>
                  </a:schemeClr>
                </a:solidFill>
                <a:prstDash val="solid"/>
                <a:round/>
              </a:ln>
              <a:effectLst>
                <a:outerShdw sx="100000" sy="100000" kx="0" ky="0" algn="b" rotWithShape="0" blurRad="38100" dist="20000" dir="540000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16" name="Line"/>
              <p:cNvSpPr/>
              <p:nvPr/>
            </p:nvSpPr>
            <p:spPr>
              <a:xfrm flipV="1">
                <a:off x="347630" y="2608073"/>
                <a:ext cx="133779" cy="194309"/>
              </a:xfrm>
              <a:prstGeom prst="line">
                <a:avLst/>
              </a:prstGeom>
              <a:noFill/>
              <a:ln w="25400" cap="flat">
                <a:solidFill>
                  <a:schemeClr val="accent1">
                    <a:lumOff val="-6000"/>
                  </a:schemeClr>
                </a:solidFill>
                <a:prstDash val="solid"/>
                <a:round/>
              </a:ln>
              <a:effectLst>
                <a:outerShdw sx="100000" sy="100000" kx="0" ky="0" algn="b" rotWithShape="0" blurRad="38100" dist="20000" dir="540000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17" name="Line"/>
              <p:cNvSpPr/>
              <p:nvPr/>
            </p:nvSpPr>
            <p:spPr>
              <a:xfrm flipV="1">
                <a:off x="229331" y="2351695"/>
                <a:ext cx="133778" cy="194309"/>
              </a:xfrm>
              <a:prstGeom prst="line">
                <a:avLst/>
              </a:prstGeom>
              <a:noFill/>
              <a:ln w="25400" cap="flat">
                <a:solidFill>
                  <a:schemeClr val="accent3">
                    <a:lumOff val="-9372"/>
                  </a:schemeClr>
                </a:solidFill>
                <a:prstDash val="solid"/>
                <a:round/>
              </a:ln>
              <a:effectLst>
                <a:outerShdw sx="100000" sy="100000" kx="0" ky="0" algn="b" rotWithShape="0" blurRad="38100" dist="20000" dir="540000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18" name="Line"/>
              <p:cNvSpPr/>
              <p:nvPr/>
            </p:nvSpPr>
            <p:spPr>
              <a:xfrm flipV="1">
                <a:off x="347252" y="2356346"/>
                <a:ext cx="1" cy="185006"/>
              </a:xfrm>
              <a:prstGeom prst="line">
                <a:avLst/>
              </a:prstGeom>
              <a:noFill/>
              <a:ln w="25400" cap="flat">
                <a:solidFill>
                  <a:schemeClr val="accent3">
                    <a:lumOff val="-9372"/>
                  </a:schemeClr>
                </a:solidFill>
                <a:prstDash val="solid"/>
                <a:round/>
              </a:ln>
              <a:effectLst>
                <a:outerShdw sx="100000" sy="100000" kx="0" ky="0" algn="b" rotWithShape="0" blurRad="38100" dist="20000" dir="540000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19" name="Rectangle"/>
              <p:cNvSpPr/>
              <p:nvPr/>
            </p:nvSpPr>
            <p:spPr>
              <a:xfrm>
                <a:off x="232132" y="2566728"/>
                <a:ext cx="128176" cy="228835"/>
              </a:xfrm>
              <a:prstGeom prst="rect">
                <a:avLst/>
              </a:prstGeom>
              <a:noFill/>
              <a:ln w="25400" cap="flat">
                <a:solidFill>
                  <a:schemeClr val="accent2">
                    <a:satOff val="-15111"/>
                    <a:lumOff val="-11019"/>
                  </a:schemeClr>
                </a:solidFill>
                <a:prstDash val="solid"/>
                <a:round/>
              </a:ln>
              <a:effectLst/>
            </p:spPr>
            <p:txBody>
              <a:bodyPr wrap="square" lIns="46799" tIns="46799" rIns="46799" bIns="46799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20" name="x´"/>
              <p:cNvSpPr txBox="1"/>
              <p:nvPr/>
            </p:nvSpPr>
            <p:spPr>
              <a:xfrm>
                <a:off x="1147290" y="1334850"/>
                <a:ext cx="229563" cy="40597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noAutofit/>
              </a:bodyPr>
              <a:lstStyle/>
              <a:p>
                <a:pPr/>
                <a:r>
                  <a:t>x´</a:t>
                </a:r>
              </a:p>
            </p:txBody>
          </p:sp>
          <p:sp>
            <p:nvSpPr>
              <p:cNvPr id="721" name="y´"/>
              <p:cNvSpPr txBox="1"/>
              <p:nvPr/>
            </p:nvSpPr>
            <p:spPr>
              <a:xfrm>
                <a:off x="0" y="0"/>
                <a:ext cx="229563" cy="40597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noAutofit/>
              </a:bodyPr>
              <a:lstStyle/>
              <a:p>
                <a:pPr/>
                <a:r>
                  <a:t>y´</a:t>
                </a:r>
              </a:p>
            </p:txBody>
          </p:sp>
          <p:sp>
            <p:nvSpPr>
              <p:cNvPr id="722" name="z’"/>
              <p:cNvSpPr txBox="1"/>
              <p:nvPr/>
            </p:nvSpPr>
            <p:spPr>
              <a:xfrm>
                <a:off x="1363247" y="2896180"/>
                <a:ext cx="201150" cy="4059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noAutofit/>
              </a:bodyPr>
              <a:lstStyle/>
              <a:p>
                <a:pPr/>
                <a:r>
                  <a:t>z’</a:t>
                </a:r>
              </a:p>
            </p:txBody>
          </p:sp>
        </p:grpSp>
      </p:grpSp>
      <p:grpSp>
        <p:nvGrpSpPr>
          <p:cNvPr id="740" name="Group"/>
          <p:cNvGrpSpPr/>
          <p:nvPr/>
        </p:nvGrpSpPr>
        <p:grpSpPr>
          <a:xfrm>
            <a:off x="3025008" y="2040660"/>
            <a:ext cx="2376901" cy="3213815"/>
            <a:chOff x="0" y="0"/>
            <a:chExt cx="2376899" cy="3213813"/>
          </a:xfrm>
        </p:grpSpPr>
        <p:sp>
          <p:nvSpPr>
            <p:cNvPr id="725" name="Oval"/>
            <p:cNvSpPr/>
            <p:nvPr/>
          </p:nvSpPr>
          <p:spPr>
            <a:xfrm>
              <a:off x="-1" y="2854700"/>
              <a:ext cx="950679" cy="359114"/>
            </a:xfrm>
            <a:prstGeom prst="ellips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sp>
          <p:nvSpPr>
            <p:cNvPr id="726" name="Line"/>
            <p:cNvSpPr/>
            <p:nvPr/>
          </p:nvSpPr>
          <p:spPr>
            <a:xfrm flipV="1">
              <a:off x="475338" y="226312"/>
              <a:ext cx="1" cy="2171848"/>
            </a:xfrm>
            <a:prstGeom prst="line">
              <a:avLst/>
            </a:prstGeom>
            <a:noFill/>
            <a:ln w="25400" cap="flat">
              <a:solidFill>
                <a:schemeClr val="accent3">
                  <a:lumOff val="-9372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27" name="Line"/>
            <p:cNvSpPr/>
            <p:nvPr/>
          </p:nvSpPr>
          <p:spPr>
            <a:xfrm>
              <a:off x="474383" y="2378953"/>
              <a:ext cx="1902517" cy="1"/>
            </a:xfrm>
            <a:prstGeom prst="line">
              <a:avLst/>
            </a:prstGeom>
            <a:noFill/>
            <a:ln w="25400" cap="flat">
              <a:solidFill>
                <a:schemeClr val="accent2">
                  <a:satOff val="-15111"/>
                  <a:lumOff val="-11019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28" name="Line"/>
            <p:cNvSpPr/>
            <p:nvPr/>
          </p:nvSpPr>
          <p:spPr>
            <a:xfrm flipV="1">
              <a:off x="460887" y="1296833"/>
              <a:ext cx="1136202" cy="1069517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6000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29" name="Line"/>
            <p:cNvSpPr/>
            <p:nvPr/>
          </p:nvSpPr>
          <p:spPr>
            <a:xfrm>
              <a:off x="585395" y="2235157"/>
              <a:ext cx="212260" cy="1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6000"/>
                </a:schemeClr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30" name="Line"/>
            <p:cNvSpPr/>
            <p:nvPr/>
          </p:nvSpPr>
          <p:spPr>
            <a:xfrm flipV="1">
              <a:off x="624136" y="2225467"/>
              <a:ext cx="177231" cy="165804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6000"/>
                </a:schemeClr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31" name="Line"/>
            <p:cNvSpPr/>
            <p:nvPr/>
          </p:nvSpPr>
          <p:spPr>
            <a:xfrm flipV="1">
              <a:off x="467410" y="2006700"/>
              <a:ext cx="177231" cy="165804"/>
            </a:xfrm>
            <a:prstGeom prst="line">
              <a:avLst/>
            </a:prstGeom>
            <a:noFill/>
            <a:ln w="25400" cap="flat">
              <a:solidFill>
                <a:schemeClr val="accent3">
                  <a:lumOff val="-9372"/>
                </a:schemeClr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32" name="Line"/>
            <p:cNvSpPr/>
            <p:nvPr/>
          </p:nvSpPr>
          <p:spPr>
            <a:xfrm flipV="1">
              <a:off x="623634" y="2010669"/>
              <a:ext cx="1" cy="157866"/>
            </a:xfrm>
            <a:prstGeom prst="line">
              <a:avLst/>
            </a:prstGeom>
            <a:noFill/>
            <a:ln w="25400" cap="flat">
              <a:solidFill>
                <a:schemeClr val="accent3">
                  <a:lumOff val="-9372"/>
                </a:schemeClr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33" name="Rectangle"/>
            <p:cNvSpPr/>
            <p:nvPr/>
          </p:nvSpPr>
          <p:spPr>
            <a:xfrm>
              <a:off x="471121" y="2190188"/>
              <a:ext cx="169809" cy="195265"/>
            </a:xfrm>
            <a:prstGeom prst="rect">
              <a:avLst/>
            </a:prstGeom>
            <a:noFill/>
            <a:ln w="25400" cap="flat">
              <a:solidFill>
                <a:schemeClr val="accent2">
                  <a:satOff val="-15111"/>
                  <a:lumOff val="-11019"/>
                </a:schemeClr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sp>
          <p:nvSpPr>
            <p:cNvPr id="734" name="x"/>
            <p:cNvSpPr txBox="1"/>
            <p:nvPr/>
          </p:nvSpPr>
          <p:spPr>
            <a:xfrm>
              <a:off x="1505586" y="702742"/>
              <a:ext cx="212260" cy="3464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/>
            <a:p>
              <a:pPr/>
              <a:r>
                <a:t>x</a:t>
              </a:r>
            </a:p>
          </p:txBody>
        </p:sp>
        <p:sp>
          <p:nvSpPr>
            <p:cNvPr id="735" name="y"/>
            <p:cNvSpPr txBox="1"/>
            <p:nvPr/>
          </p:nvSpPr>
          <p:spPr>
            <a:xfrm>
              <a:off x="163589" y="0"/>
              <a:ext cx="212260" cy="3464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/>
            <a:p>
              <a:pPr/>
              <a:r>
                <a:t>y</a:t>
              </a:r>
            </a:p>
          </p:txBody>
        </p:sp>
        <p:sp>
          <p:nvSpPr>
            <p:cNvPr id="736" name="z"/>
            <p:cNvSpPr txBox="1"/>
            <p:nvPr/>
          </p:nvSpPr>
          <p:spPr>
            <a:xfrm>
              <a:off x="1969641" y="2471309"/>
              <a:ext cx="212260" cy="3464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/>
            <a:p>
              <a:pPr/>
              <a:r>
                <a:t>z</a:t>
              </a:r>
            </a:p>
          </p:txBody>
        </p:sp>
        <p:sp>
          <p:nvSpPr>
            <p:cNvPr id="737" name="Oval"/>
            <p:cNvSpPr/>
            <p:nvPr/>
          </p:nvSpPr>
          <p:spPr>
            <a:xfrm>
              <a:off x="-1" y="1249129"/>
              <a:ext cx="950679" cy="359114"/>
            </a:xfrm>
            <a:prstGeom prst="ellips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sp>
          <p:nvSpPr>
            <p:cNvPr id="738" name="Line"/>
            <p:cNvSpPr/>
            <p:nvPr/>
          </p:nvSpPr>
          <p:spPr>
            <a:xfrm flipV="1">
              <a:off x="9406" y="1457255"/>
              <a:ext cx="1" cy="1595449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39" name="Line"/>
            <p:cNvSpPr/>
            <p:nvPr/>
          </p:nvSpPr>
          <p:spPr>
            <a:xfrm flipV="1">
              <a:off x="943349" y="1477077"/>
              <a:ext cx="1" cy="1595449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741" name="Line"/>
          <p:cNvSpPr/>
          <p:nvPr/>
        </p:nvSpPr>
        <p:spPr>
          <a:xfrm flipH="1">
            <a:off x="3726515" y="1440167"/>
            <a:ext cx="1093627" cy="1557363"/>
          </a:xfrm>
          <a:prstGeom prst="line">
            <a:avLst/>
          </a:prstGeom>
          <a:ln w="25400">
            <a:solidFill>
              <a:schemeClr val="accent2">
                <a:lumOff val="22450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2" name="Line"/>
          <p:cNvSpPr/>
          <p:nvPr/>
        </p:nvSpPr>
        <p:spPr>
          <a:xfrm>
            <a:off x="9326117" y="1542994"/>
            <a:ext cx="1" cy="1733267"/>
          </a:xfrm>
          <a:prstGeom prst="line">
            <a:avLst/>
          </a:prstGeom>
          <a:ln w="25400">
            <a:solidFill>
              <a:schemeClr val="accent6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3" name="Generally speaking, the component author can choose…"/>
          <p:cNvSpPr txBox="1"/>
          <p:nvPr/>
        </p:nvSpPr>
        <p:spPr>
          <a:xfrm>
            <a:off x="3654647" y="5494111"/>
            <a:ext cx="8746716" cy="902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1800"/>
            </a:pPr>
            <a:r>
              <a:t>Generally speaking, the component author can choose </a:t>
            </a:r>
          </a:p>
          <a:p>
            <a:pPr>
              <a:spcBef>
                <a:spcPts val="400"/>
              </a:spcBef>
              <a:defRPr b="1" sz="1800"/>
            </a:pPr>
            <a:r>
              <a:t>the meaningful coordinate system for the given problem!</a:t>
            </a:r>
          </a:p>
          <a:p>
            <a:pPr>
              <a:spcBef>
                <a:spcPts val="400"/>
              </a:spcBef>
              <a:defRPr sz="1800"/>
            </a:pPr>
            <a:r>
              <a:t>- The McStas system takes care of the transformation between them….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Component geometries are typically simple objects… But some have polygon-description of the surfac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77823">
              <a:defRPr sz="2880"/>
            </a:lvl1pPr>
          </a:lstStyle>
          <a:p>
            <a:pPr/>
            <a:r>
              <a:t>Component geometries are typically simple objects… But some have polygon-description of the surface</a:t>
            </a:r>
          </a:p>
        </p:txBody>
      </p:sp>
      <p:sp>
        <p:nvSpPr>
          <p:cNvPr id="74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747" name="Rectangle"/>
          <p:cNvSpPr/>
          <p:nvPr/>
        </p:nvSpPr>
        <p:spPr>
          <a:xfrm>
            <a:off x="2145121" y="2349194"/>
            <a:ext cx="2145976" cy="947317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748" name="Oval"/>
          <p:cNvSpPr/>
          <p:nvPr/>
        </p:nvSpPr>
        <p:spPr>
          <a:xfrm>
            <a:off x="4789195" y="2349194"/>
            <a:ext cx="987675" cy="947317"/>
          </a:xfrm>
          <a:prstGeom prst="ellipse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749" name="Rectangle"/>
          <p:cNvSpPr/>
          <p:nvPr/>
        </p:nvSpPr>
        <p:spPr>
          <a:xfrm>
            <a:off x="2145121" y="4635194"/>
            <a:ext cx="2145976" cy="947317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750" name="Line"/>
          <p:cNvSpPr/>
          <p:nvPr/>
        </p:nvSpPr>
        <p:spPr>
          <a:xfrm flipV="1">
            <a:off x="2139206" y="4394947"/>
            <a:ext cx="244825" cy="244825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1" name="Line"/>
          <p:cNvSpPr/>
          <p:nvPr/>
        </p:nvSpPr>
        <p:spPr>
          <a:xfrm flipV="1">
            <a:off x="4290928" y="5328471"/>
            <a:ext cx="244824" cy="244825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2" name="Line"/>
          <p:cNvSpPr/>
          <p:nvPr/>
        </p:nvSpPr>
        <p:spPr>
          <a:xfrm flipV="1">
            <a:off x="4290928" y="4394947"/>
            <a:ext cx="244824" cy="244825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3" name="Line"/>
          <p:cNvSpPr/>
          <p:nvPr/>
        </p:nvSpPr>
        <p:spPr>
          <a:xfrm flipV="1">
            <a:off x="4523013" y="4417614"/>
            <a:ext cx="1" cy="916976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4" name="Line"/>
          <p:cNvSpPr/>
          <p:nvPr/>
        </p:nvSpPr>
        <p:spPr>
          <a:xfrm flipH="1">
            <a:off x="2365025" y="4399345"/>
            <a:ext cx="2171375" cy="1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5" name="Oval"/>
          <p:cNvSpPr/>
          <p:nvPr/>
        </p:nvSpPr>
        <p:spPr>
          <a:xfrm>
            <a:off x="4789195" y="4402443"/>
            <a:ext cx="987675" cy="947317"/>
          </a:xfrm>
          <a:prstGeom prst="ellipse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765" name="Connection Line"/>
          <p:cNvSpPr/>
          <p:nvPr/>
        </p:nvSpPr>
        <p:spPr>
          <a:xfrm>
            <a:off x="4785934" y="4927600"/>
            <a:ext cx="992566" cy="1439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31" fill="norm" stroke="1" extrusionOk="0">
                <a:moveTo>
                  <a:pt x="0" y="2727"/>
                </a:moveTo>
                <a:cubicBezTo>
                  <a:pt x="6228" y="21600"/>
                  <a:pt x="13428" y="20691"/>
                  <a:pt x="21600" y="0"/>
                </a:cubicBezTo>
              </a:path>
            </a:pathLst>
          </a:custGeom>
          <a:ln w="25400">
            <a:solidFill>
              <a:schemeClr val="accent1"/>
            </a:solidFill>
          </a:ln>
        </p:spPr>
        <p:txBody>
          <a:bodyPr/>
          <a:lstStyle/>
          <a:p>
            <a:pPr/>
          </a:p>
        </p:txBody>
      </p:sp>
      <p:sp>
        <p:nvSpPr>
          <p:cNvPr id="757" name="2D"/>
          <p:cNvSpPr txBox="1"/>
          <p:nvPr/>
        </p:nvSpPr>
        <p:spPr>
          <a:xfrm>
            <a:off x="2433645" y="1940638"/>
            <a:ext cx="272455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2D</a:t>
            </a:r>
          </a:p>
        </p:txBody>
      </p:sp>
      <p:sp>
        <p:nvSpPr>
          <p:cNvPr id="758" name="3D"/>
          <p:cNvSpPr txBox="1"/>
          <p:nvPr/>
        </p:nvSpPr>
        <p:spPr>
          <a:xfrm>
            <a:off x="2433645" y="4052828"/>
            <a:ext cx="272455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3D</a:t>
            </a:r>
          </a:p>
        </p:txBody>
      </p:sp>
      <p:sp>
        <p:nvSpPr>
          <p:cNvPr id="759" name="Oval"/>
          <p:cNvSpPr/>
          <p:nvPr/>
        </p:nvSpPr>
        <p:spPr>
          <a:xfrm>
            <a:off x="6195530" y="5363966"/>
            <a:ext cx="1004556" cy="317070"/>
          </a:xfrm>
          <a:prstGeom prst="ellipse">
            <a:avLst/>
          </a:prstGeom>
          <a:ln w="25400">
            <a:solidFill>
              <a:schemeClr val="accent1">
                <a:lumOff val="-6000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760" name="Oval"/>
          <p:cNvSpPr/>
          <p:nvPr/>
        </p:nvSpPr>
        <p:spPr>
          <a:xfrm>
            <a:off x="6195530" y="3946371"/>
            <a:ext cx="1004556" cy="317070"/>
          </a:xfrm>
          <a:prstGeom prst="ellipse">
            <a:avLst/>
          </a:prstGeom>
          <a:ln w="25400">
            <a:solidFill>
              <a:schemeClr val="accent1">
                <a:lumOff val="-6000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761" name="Line"/>
          <p:cNvSpPr/>
          <p:nvPr/>
        </p:nvSpPr>
        <p:spPr>
          <a:xfrm flipV="1">
            <a:off x="6192770" y="4130130"/>
            <a:ext cx="1" cy="1408658"/>
          </a:xfrm>
          <a:prstGeom prst="line">
            <a:avLst/>
          </a:prstGeom>
          <a:ln w="25400">
            <a:solidFill>
              <a:schemeClr val="accent1">
                <a:lumOff val="-6000"/>
              </a:scheme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62" name="Line"/>
          <p:cNvSpPr/>
          <p:nvPr/>
        </p:nvSpPr>
        <p:spPr>
          <a:xfrm flipV="1">
            <a:off x="7205042" y="4134932"/>
            <a:ext cx="1" cy="1408658"/>
          </a:xfrm>
          <a:prstGeom prst="line">
            <a:avLst/>
          </a:prstGeom>
          <a:ln w="25400">
            <a:solidFill>
              <a:schemeClr val="accent1">
                <a:lumOff val="-6000"/>
              </a:scheme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63" name="Rectangle"/>
          <p:cNvSpPr/>
          <p:nvPr/>
        </p:nvSpPr>
        <p:spPr>
          <a:xfrm>
            <a:off x="6208831" y="5043899"/>
            <a:ext cx="977953" cy="46200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/>
          </a:p>
        </p:txBody>
      </p:sp>
      <p:pic>
        <p:nvPicPr>
          <p:cNvPr id="764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028999" y="1940638"/>
            <a:ext cx="3277769" cy="337189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7" name="Unknown.png" descr="Unknow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100105" y="4538229"/>
            <a:ext cx="1881832" cy="1349239"/>
          </a:xfrm>
          <a:prstGeom prst="rect">
            <a:avLst/>
          </a:prstGeom>
          <a:ln w="12700">
            <a:miter lim="400000"/>
          </a:ln>
        </p:spPr>
      </p:pic>
      <p:pic>
        <p:nvPicPr>
          <p:cNvPr id="768" name="images.jpeg" descr="images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389647" y="2722882"/>
            <a:ext cx="1412235" cy="1412236"/>
          </a:xfrm>
          <a:prstGeom prst="rect">
            <a:avLst/>
          </a:prstGeom>
          <a:ln w="12700">
            <a:miter lim="400000"/>
          </a:ln>
        </p:spPr>
      </p:pic>
      <p:sp>
        <p:nvSpPr>
          <p:cNvPr id="769" name="Component class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Component classes</a:t>
            </a:r>
          </a:p>
        </p:txBody>
      </p:sp>
      <p:sp>
        <p:nvSpPr>
          <p:cNvPr id="770" name="Sources - these define MC starting conditions / “inject” neutrons to our simulation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Sources - these define MC starting conditions / “inject” neutrons to our simulation</a:t>
            </a:r>
          </a:p>
          <a:p>
            <a:pPr/>
          </a:p>
          <a:p>
            <a:pPr/>
            <a:r>
              <a:t>Optics - used to tailor properties of the neutron beam</a:t>
            </a:r>
          </a:p>
          <a:p>
            <a:pPr lvl="1">
              <a:buChar char="•"/>
            </a:pPr>
            <a:r>
              <a:t>Examples are mirrors, guides, choppers, collimators, slits, …</a:t>
            </a:r>
          </a:p>
          <a:p>
            <a:pPr lvl="1">
              <a:buChar char="•"/>
            </a:pPr>
          </a:p>
          <a:p>
            <a:pPr/>
            <a:r>
              <a:t>Samples - “matter” of some form</a:t>
            </a:r>
          </a:p>
          <a:p>
            <a:pPr lvl="1">
              <a:buChar char="•"/>
            </a:pPr>
            <a:r>
              <a:t>Powders, single crystals, liquids, micelles in solution, reflecting surfaces…</a:t>
            </a:r>
          </a:p>
          <a:p>
            <a:pPr lvl="1">
              <a:buChar char="•"/>
            </a:pPr>
          </a:p>
          <a:p>
            <a:pPr/>
            <a:r>
              <a:t>Monitors - may probe the state of the neutron beam and store histograms / event lists</a:t>
            </a:r>
          </a:p>
          <a:p>
            <a:pPr/>
          </a:p>
          <a:p>
            <a:pPr/>
            <a:r>
              <a:t>Misc, obsolete</a:t>
            </a:r>
          </a:p>
          <a:p>
            <a:pPr lvl="1">
              <a:buChar char="•"/>
            </a:pPr>
            <a:r>
              <a:t>“Other stuff” and “Old stuff”</a:t>
            </a:r>
          </a:p>
        </p:txBody>
      </p:sp>
      <p:sp>
        <p:nvSpPr>
          <p:cNvPr id="771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772" name="csm_BL08_@_JPARC_-_super_HRPD_guide_dbde3d9df8.png" descr="csm_BL08_@_JPARC_-_super_HRPD_guide_dbde3d9df8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513491" y="2010764"/>
            <a:ext cx="2129661" cy="1461722"/>
          </a:xfrm>
          <a:prstGeom prst="rect">
            <a:avLst/>
          </a:prstGeom>
          <a:ln w="12700">
            <a:miter lim="400000"/>
          </a:ln>
        </p:spPr>
      </p:pic>
      <p:pic>
        <p:nvPicPr>
          <p:cNvPr id="773" name="Top-view-to-the-active-zone-of-the-ILL-high-flux-reactor.png.jpeg" descr="Top-view-to-the-active-zone-of-the-ILL-high-flux-reactor.png.jpe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0168015" y="1138313"/>
            <a:ext cx="2002095" cy="1349239"/>
          </a:xfrm>
          <a:prstGeom prst="rect">
            <a:avLst/>
          </a:prstGeom>
          <a:ln w="12700">
            <a:miter lim="400000"/>
          </a:ln>
        </p:spPr>
      </p:pic>
      <p:pic>
        <p:nvPicPr>
          <p:cNvPr id="774" name="Unknown.jpeg" descr="Unknown.jpe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3943838" y="5616276"/>
            <a:ext cx="1329989" cy="744795"/>
          </a:xfrm>
          <a:prstGeom prst="rect">
            <a:avLst/>
          </a:prstGeom>
          <a:ln w="12700">
            <a:miter lim="400000"/>
          </a:ln>
        </p:spPr>
      </p:pic>
      <p:pic>
        <p:nvPicPr>
          <p:cNvPr id="775" name="Unknown.png" descr="Unknown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2003450" y="5573814"/>
            <a:ext cx="1246845" cy="8297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7" name="Unknown.png" descr="Unknow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100105" y="4538229"/>
            <a:ext cx="1881832" cy="1349239"/>
          </a:xfrm>
          <a:prstGeom prst="rect">
            <a:avLst/>
          </a:prstGeom>
          <a:ln w="12700">
            <a:miter lim="400000"/>
          </a:ln>
        </p:spPr>
      </p:pic>
      <p:pic>
        <p:nvPicPr>
          <p:cNvPr id="778" name="images.jpeg" descr="images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389647" y="2722882"/>
            <a:ext cx="1412235" cy="1412236"/>
          </a:xfrm>
          <a:prstGeom prst="rect">
            <a:avLst/>
          </a:prstGeom>
          <a:ln w="12700">
            <a:miter lim="400000"/>
          </a:ln>
        </p:spPr>
      </p:pic>
      <p:sp>
        <p:nvSpPr>
          <p:cNvPr id="779" name="Component class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Component classes</a:t>
            </a:r>
          </a:p>
        </p:txBody>
      </p:sp>
      <p:sp>
        <p:nvSpPr>
          <p:cNvPr id="780" name="Sources - these define MC starting conditions / “inject” neutrons to our simulation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Sources - these define MC starting conditions / “inject” neutrons to our simulation</a:t>
            </a:r>
          </a:p>
          <a:p>
            <a:pPr/>
          </a:p>
          <a:p>
            <a:pPr/>
            <a:r>
              <a:t>Optics - used to tailor properties of the neutron beam</a:t>
            </a:r>
          </a:p>
          <a:p>
            <a:pPr lvl="1">
              <a:buChar char="•"/>
            </a:pPr>
            <a:r>
              <a:t>Examples are mirrors, guides, choppers, collimators, slits, …</a:t>
            </a:r>
          </a:p>
          <a:p>
            <a:pPr lvl="1">
              <a:buChar char="•"/>
            </a:pPr>
          </a:p>
          <a:p>
            <a:pPr/>
            <a:r>
              <a:t>Samples - “matter” of some form</a:t>
            </a:r>
          </a:p>
          <a:p>
            <a:pPr lvl="1">
              <a:buChar char="•"/>
            </a:pPr>
            <a:r>
              <a:t>Powders, single crystals, liquids, micelles in solution, reflecting surfaces…</a:t>
            </a:r>
          </a:p>
          <a:p>
            <a:pPr lvl="1">
              <a:buChar char="•"/>
            </a:pPr>
          </a:p>
          <a:p>
            <a:pPr/>
            <a:r>
              <a:t>Monitors - may probe the state of the neutron beam and store histograms / event lists</a:t>
            </a:r>
          </a:p>
          <a:p>
            <a:pPr/>
          </a:p>
          <a:p>
            <a:pPr/>
            <a:r>
              <a:t>Misc, obsolete</a:t>
            </a:r>
          </a:p>
          <a:p>
            <a:pPr lvl="1">
              <a:buChar char="•"/>
            </a:pPr>
            <a:r>
              <a:t>“Other stuff” and “Old stuff”</a:t>
            </a:r>
          </a:p>
        </p:txBody>
      </p:sp>
      <p:sp>
        <p:nvSpPr>
          <p:cNvPr id="7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782" name="csm_BL08_@_JPARC_-_super_HRPD_guide_dbde3d9df8.png" descr="csm_BL08_@_JPARC_-_super_HRPD_guide_dbde3d9df8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513491" y="2010764"/>
            <a:ext cx="2129661" cy="1461722"/>
          </a:xfrm>
          <a:prstGeom prst="rect">
            <a:avLst/>
          </a:prstGeom>
          <a:ln w="12700">
            <a:miter lim="400000"/>
          </a:ln>
        </p:spPr>
      </p:pic>
      <p:pic>
        <p:nvPicPr>
          <p:cNvPr id="783" name="Top-view-to-the-active-zone-of-the-ILL-high-flux-reactor.png.jpeg" descr="Top-view-to-the-active-zone-of-the-ILL-high-flux-reactor.png.jpe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0168015" y="1138313"/>
            <a:ext cx="2002095" cy="1349239"/>
          </a:xfrm>
          <a:prstGeom prst="rect">
            <a:avLst/>
          </a:prstGeom>
          <a:ln w="12700">
            <a:miter lim="400000"/>
          </a:ln>
        </p:spPr>
      </p:pic>
      <p:pic>
        <p:nvPicPr>
          <p:cNvPr id="784" name="Unknown.jpeg" descr="Unknown.jpe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3943838" y="5616276"/>
            <a:ext cx="1329989" cy="744795"/>
          </a:xfrm>
          <a:prstGeom prst="rect">
            <a:avLst/>
          </a:prstGeom>
          <a:ln w="12700">
            <a:miter lim="400000"/>
          </a:ln>
        </p:spPr>
      </p:pic>
      <p:pic>
        <p:nvPicPr>
          <p:cNvPr id="785" name="Unknown.png" descr="Unknown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2003450" y="5573814"/>
            <a:ext cx="1246845" cy="829719"/>
          </a:xfrm>
          <a:prstGeom prst="rect">
            <a:avLst/>
          </a:prstGeom>
          <a:ln w="12700">
            <a:miter lim="400000"/>
          </a:ln>
        </p:spPr>
      </p:pic>
      <p:sp>
        <p:nvSpPr>
          <p:cNvPr id="786" name="Common to all components:…"/>
          <p:cNvSpPr txBox="1"/>
          <p:nvPr/>
        </p:nvSpPr>
        <p:spPr>
          <a:xfrm>
            <a:off x="4158963" y="3810824"/>
            <a:ext cx="7189441" cy="1590277"/>
          </a:xfrm>
          <a:prstGeom prst="rect">
            <a:avLst/>
          </a:prstGeom>
          <a:solidFill>
            <a:srgbClr val="FFFFFF"/>
          </a:solidFill>
          <a:ln w="635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3000"/>
            </a:pPr>
            <a:r>
              <a:t>Common to all components:</a:t>
            </a:r>
          </a:p>
          <a:p>
            <a:pPr>
              <a:defRPr sz="3000"/>
            </a:pPr>
            <a:r>
              <a:t>They set, manipulate/interact with</a:t>
            </a:r>
          </a:p>
          <a:p>
            <a:pPr>
              <a:defRPr sz="3000"/>
            </a:pPr>
            <a:r>
              <a:t>or measure the </a:t>
            </a:r>
            <a:r>
              <a:rPr b="1"/>
              <a:t>state of the neutron </a:t>
            </a:r>
            <a:r>
              <a:t>(ray)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To first order emit uniformly into       steradian"/>
          <p:cNvSpPr txBox="1"/>
          <p:nvPr>
            <p:ph type="body" idx="1"/>
          </p:nvPr>
        </p:nvSpPr>
        <p:spPr>
          <a:xfrm>
            <a:off x="4800631" y="1598299"/>
            <a:ext cx="9312375" cy="4545579"/>
          </a:xfrm>
          <a:prstGeom prst="rect">
            <a:avLst/>
          </a:prstGeom>
        </p:spPr>
        <p:txBody>
          <a:bodyPr/>
          <a:lstStyle/>
          <a:p>
            <a:pPr/>
            <a:r>
              <a:t>To first order emit uniformly into       steradian</a:t>
            </a:r>
          </a:p>
        </p:txBody>
      </p:sp>
      <p:sp>
        <p:nvSpPr>
          <p:cNvPr id="789" name="Neutron sources, i.e. moderator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Neutron sources, i.e. moderators </a:t>
            </a:r>
          </a:p>
        </p:txBody>
      </p:sp>
      <p:sp>
        <p:nvSpPr>
          <p:cNvPr id="790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802" name="Group"/>
          <p:cNvGrpSpPr/>
          <p:nvPr/>
        </p:nvGrpSpPr>
        <p:grpSpPr>
          <a:xfrm>
            <a:off x="1642044" y="1934376"/>
            <a:ext cx="3040396" cy="2989248"/>
            <a:chOff x="0" y="0"/>
            <a:chExt cx="3040394" cy="2989247"/>
          </a:xfrm>
        </p:grpSpPr>
        <p:sp>
          <p:nvSpPr>
            <p:cNvPr id="791" name="Line"/>
            <p:cNvSpPr/>
            <p:nvPr/>
          </p:nvSpPr>
          <p:spPr>
            <a:xfrm flipV="1">
              <a:off x="1818705" y="785843"/>
              <a:ext cx="1221690" cy="441148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92" name="Oval"/>
            <p:cNvSpPr/>
            <p:nvPr/>
          </p:nvSpPr>
          <p:spPr>
            <a:xfrm>
              <a:off x="764605" y="477225"/>
              <a:ext cx="1270001" cy="388591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sp>
          <p:nvSpPr>
            <p:cNvPr id="793" name="Oval"/>
            <p:cNvSpPr/>
            <p:nvPr/>
          </p:nvSpPr>
          <p:spPr>
            <a:xfrm>
              <a:off x="764605" y="2013925"/>
              <a:ext cx="1270001" cy="388591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sp>
          <p:nvSpPr>
            <p:cNvPr id="794" name="Line"/>
            <p:cNvSpPr/>
            <p:nvPr/>
          </p:nvSpPr>
          <p:spPr>
            <a:xfrm flipV="1">
              <a:off x="2034605" y="687525"/>
              <a:ext cx="1" cy="151690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95" name="Line"/>
            <p:cNvSpPr/>
            <p:nvPr/>
          </p:nvSpPr>
          <p:spPr>
            <a:xfrm>
              <a:off x="1679005" y="1541452"/>
              <a:ext cx="1009660" cy="278637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96" name="Line"/>
            <p:cNvSpPr/>
            <p:nvPr/>
          </p:nvSpPr>
          <p:spPr>
            <a:xfrm>
              <a:off x="1463105" y="2141779"/>
              <a:ext cx="183420" cy="847469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97" name="Line"/>
            <p:cNvSpPr/>
            <p:nvPr/>
          </p:nvSpPr>
          <p:spPr>
            <a:xfrm flipH="1">
              <a:off x="-1" y="1621079"/>
              <a:ext cx="1005252" cy="737932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98" name="Line"/>
            <p:cNvSpPr/>
            <p:nvPr/>
          </p:nvSpPr>
          <p:spPr>
            <a:xfrm flipH="1" flipV="1">
              <a:off x="285891" y="655790"/>
              <a:ext cx="746066" cy="578855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99" name="Line"/>
            <p:cNvSpPr/>
            <p:nvPr/>
          </p:nvSpPr>
          <p:spPr>
            <a:xfrm flipV="1">
              <a:off x="1414937" y="0"/>
              <a:ext cx="843472" cy="993883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00" name="Line"/>
            <p:cNvSpPr/>
            <p:nvPr/>
          </p:nvSpPr>
          <p:spPr>
            <a:xfrm flipH="1">
              <a:off x="885178" y="1616183"/>
              <a:ext cx="437443" cy="943513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01" name="Line"/>
            <p:cNvSpPr/>
            <p:nvPr/>
          </p:nvSpPr>
          <p:spPr>
            <a:xfrm flipV="1">
              <a:off x="751905" y="687525"/>
              <a:ext cx="1" cy="151690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803" name="4_pi.pdf" descr="4_pi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278514" y="1625417"/>
            <a:ext cx="298834" cy="20446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enerally we are intersted in the input to a single instrument, characterised by a certain solid angle    , often corresponding to a rectangle       x       at a distance         from the source"/>
          <p:cNvSpPr txBox="1"/>
          <p:nvPr>
            <p:ph type="body" idx="1"/>
          </p:nvPr>
        </p:nvSpPr>
        <p:spPr>
          <a:xfrm>
            <a:off x="2177807" y="3580138"/>
            <a:ext cx="9312375" cy="4545579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  <a:r>
              <a:t>Generally we are intersted in the input to a single instrument, characterised by a certain solid angle    , often corresponding to a rectangle       x       at a distance         from the source</a:t>
            </a:r>
          </a:p>
        </p:txBody>
      </p:sp>
      <p:sp>
        <p:nvSpPr>
          <p:cNvPr id="806" name="Neutron sources, i.e. moderator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Neutron sources, i.e. moderators </a:t>
            </a:r>
          </a:p>
        </p:txBody>
      </p:sp>
      <p:sp>
        <p:nvSpPr>
          <p:cNvPr id="807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819" name="Group"/>
          <p:cNvGrpSpPr/>
          <p:nvPr/>
        </p:nvGrpSpPr>
        <p:grpSpPr>
          <a:xfrm>
            <a:off x="1642044" y="1934376"/>
            <a:ext cx="3040396" cy="2989248"/>
            <a:chOff x="0" y="0"/>
            <a:chExt cx="3040394" cy="2989247"/>
          </a:xfrm>
        </p:grpSpPr>
        <p:sp>
          <p:nvSpPr>
            <p:cNvPr id="808" name="Line"/>
            <p:cNvSpPr/>
            <p:nvPr/>
          </p:nvSpPr>
          <p:spPr>
            <a:xfrm flipV="1">
              <a:off x="1818705" y="785843"/>
              <a:ext cx="1221690" cy="441148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09" name="Oval"/>
            <p:cNvSpPr/>
            <p:nvPr/>
          </p:nvSpPr>
          <p:spPr>
            <a:xfrm>
              <a:off x="764605" y="477225"/>
              <a:ext cx="1270001" cy="388591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sp>
          <p:nvSpPr>
            <p:cNvPr id="810" name="Oval"/>
            <p:cNvSpPr/>
            <p:nvPr/>
          </p:nvSpPr>
          <p:spPr>
            <a:xfrm>
              <a:off x="764605" y="2013925"/>
              <a:ext cx="1270001" cy="388591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sp>
          <p:nvSpPr>
            <p:cNvPr id="811" name="Line"/>
            <p:cNvSpPr/>
            <p:nvPr/>
          </p:nvSpPr>
          <p:spPr>
            <a:xfrm flipV="1">
              <a:off x="2034605" y="687525"/>
              <a:ext cx="1" cy="151690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12" name="Line"/>
            <p:cNvSpPr/>
            <p:nvPr/>
          </p:nvSpPr>
          <p:spPr>
            <a:xfrm>
              <a:off x="1679005" y="1541452"/>
              <a:ext cx="1009660" cy="278637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13" name="Line"/>
            <p:cNvSpPr/>
            <p:nvPr/>
          </p:nvSpPr>
          <p:spPr>
            <a:xfrm>
              <a:off x="1463105" y="2141779"/>
              <a:ext cx="183420" cy="847469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14" name="Line"/>
            <p:cNvSpPr/>
            <p:nvPr/>
          </p:nvSpPr>
          <p:spPr>
            <a:xfrm flipH="1">
              <a:off x="-1" y="1621079"/>
              <a:ext cx="1005252" cy="737932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15" name="Line"/>
            <p:cNvSpPr/>
            <p:nvPr/>
          </p:nvSpPr>
          <p:spPr>
            <a:xfrm flipH="1" flipV="1">
              <a:off x="285891" y="655790"/>
              <a:ext cx="746066" cy="578855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16" name="Line"/>
            <p:cNvSpPr/>
            <p:nvPr/>
          </p:nvSpPr>
          <p:spPr>
            <a:xfrm flipV="1">
              <a:off x="1414937" y="0"/>
              <a:ext cx="843472" cy="993883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17" name="Line"/>
            <p:cNvSpPr/>
            <p:nvPr/>
          </p:nvSpPr>
          <p:spPr>
            <a:xfrm flipH="1">
              <a:off x="885178" y="1616183"/>
              <a:ext cx="437443" cy="943513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18" name="Line"/>
            <p:cNvSpPr/>
            <p:nvPr/>
          </p:nvSpPr>
          <p:spPr>
            <a:xfrm flipV="1">
              <a:off x="751905" y="687525"/>
              <a:ext cx="1" cy="151690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824" name="Group"/>
          <p:cNvGrpSpPr/>
          <p:nvPr/>
        </p:nvGrpSpPr>
        <p:grpSpPr>
          <a:xfrm>
            <a:off x="10344149" y="222901"/>
            <a:ext cx="309606" cy="1166292"/>
            <a:chOff x="0" y="0"/>
            <a:chExt cx="309604" cy="1166291"/>
          </a:xfrm>
        </p:grpSpPr>
        <p:sp>
          <p:nvSpPr>
            <p:cNvPr id="820" name="Line"/>
            <p:cNvSpPr/>
            <p:nvPr/>
          </p:nvSpPr>
          <p:spPr>
            <a:xfrm flipV="1">
              <a:off x="12621" y="0"/>
              <a:ext cx="1" cy="896945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21" name="Line"/>
            <p:cNvSpPr/>
            <p:nvPr/>
          </p:nvSpPr>
          <p:spPr>
            <a:xfrm flipV="1">
              <a:off x="302907" y="269346"/>
              <a:ext cx="1" cy="896946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22" name="Line"/>
            <p:cNvSpPr/>
            <p:nvPr/>
          </p:nvSpPr>
          <p:spPr>
            <a:xfrm flipH="1" flipV="1">
              <a:off x="-1" y="-1"/>
              <a:ext cx="296985" cy="275562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23" name="Line"/>
            <p:cNvSpPr/>
            <p:nvPr/>
          </p:nvSpPr>
          <p:spPr>
            <a:xfrm flipH="1" flipV="1">
              <a:off x="12621" y="890014"/>
              <a:ext cx="296984" cy="275562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825" name="Line"/>
          <p:cNvSpPr/>
          <p:nvPr/>
        </p:nvSpPr>
        <p:spPr>
          <a:xfrm flipV="1">
            <a:off x="4747369" y="764258"/>
            <a:ext cx="5749976" cy="1934154"/>
          </a:xfrm>
          <a:prstGeom prst="line">
            <a:avLst/>
          </a:prstGeom>
          <a:ln w="12700">
            <a:solidFill>
              <a:schemeClr val="accent2">
                <a:lumOff val="11225"/>
              </a:schemeClr>
            </a:solidFill>
            <a:custDash>
              <a:ds d="200000" sp="200000"/>
            </a:custDash>
            <a:miter lim="400000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826" name="Omega.pdf" descr="Omega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18891" y="5459156"/>
            <a:ext cx="181748" cy="204466"/>
          </a:xfrm>
          <a:prstGeom prst="rect">
            <a:avLst/>
          </a:prstGeom>
          <a:ln w="12700">
            <a:miter lim="400000"/>
          </a:ln>
        </p:spPr>
      </p:pic>
      <p:pic>
        <p:nvPicPr>
          <p:cNvPr id="827" name="xw.pdf" descr="xw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330863" y="1435930"/>
            <a:ext cx="298834" cy="112893"/>
          </a:xfrm>
          <a:prstGeom prst="rect">
            <a:avLst/>
          </a:prstGeom>
          <a:ln w="12700">
            <a:miter lim="400000"/>
          </a:ln>
        </p:spPr>
      </p:pic>
      <p:pic>
        <p:nvPicPr>
          <p:cNvPr id="828" name="yh.pdf" descr="yh.pd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725398" y="810252"/>
            <a:ext cx="235445" cy="204466"/>
          </a:xfrm>
          <a:prstGeom prst="rect">
            <a:avLst/>
          </a:prstGeom>
          <a:ln w="12700">
            <a:miter lim="400000"/>
          </a:ln>
        </p:spPr>
      </p:pic>
      <p:pic>
        <p:nvPicPr>
          <p:cNvPr id="829" name="dist.pdf" descr="dist.pdf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 rot="20488059">
            <a:off x="6626643" y="2446270"/>
            <a:ext cx="414703" cy="182752"/>
          </a:xfrm>
          <a:prstGeom prst="rect">
            <a:avLst/>
          </a:prstGeom>
          <a:ln w="12700">
            <a:miter lim="400000"/>
          </a:ln>
        </p:spPr>
      </p:pic>
      <p:pic>
        <p:nvPicPr>
          <p:cNvPr id="830" name="xw.pdf" descr="xw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434839" y="5538029"/>
            <a:ext cx="298834" cy="112893"/>
          </a:xfrm>
          <a:prstGeom prst="rect">
            <a:avLst/>
          </a:prstGeom>
          <a:ln w="12700">
            <a:miter lim="400000"/>
          </a:ln>
        </p:spPr>
      </p:pic>
      <p:pic>
        <p:nvPicPr>
          <p:cNvPr id="831" name="yh.pdf" descr="yh.pd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025896" y="5492243"/>
            <a:ext cx="235446" cy="204465"/>
          </a:xfrm>
          <a:prstGeom prst="rect">
            <a:avLst/>
          </a:prstGeom>
          <a:ln w="12700">
            <a:miter lim="400000"/>
          </a:ln>
        </p:spPr>
      </p:pic>
      <p:pic>
        <p:nvPicPr>
          <p:cNvPr id="832" name="dist.pdf" descr="dist.pdf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9695477" y="5478708"/>
            <a:ext cx="419612" cy="184914"/>
          </a:xfrm>
          <a:prstGeom prst="rect">
            <a:avLst/>
          </a:prstGeom>
          <a:ln w="12700">
            <a:miter lim="400000"/>
          </a:ln>
        </p:spPr>
      </p:pic>
      <p:pic>
        <p:nvPicPr>
          <p:cNvPr id="833" name="latex-image.pdf" descr="latex-image.pdf"/>
          <p:cNvPicPr>
            <a:picLocks noChangeAspect="0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 rot="4260423">
            <a:off x="6602362" y="-1830899"/>
            <a:ext cx="394651" cy="8043728"/>
          </a:xfrm>
          <a:prstGeom prst="rect">
            <a:avLst/>
          </a:prstGeom>
          <a:ln w="12700">
            <a:miter lim="400000"/>
          </a:ln>
        </p:spPr>
      </p:pic>
      <p:sp>
        <p:nvSpPr>
          <p:cNvPr id="834" name="E.g. the beamport?"/>
          <p:cNvSpPr txBox="1"/>
          <p:nvPr/>
        </p:nvSpPr>
        <p:spPr>
          <a:xfrm>
            <a:off x="10277137" y="1620358"/>
            <a:ext cx="1740993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E.g. the beamport?</a:t>
            </a:r>
          </a:p>
        </p:txBody>
      </p:sp>
      <p:pic>
        <p:nvPicPr>
          <p:cNvPr id="835" name="Omega.pdf" descr="Omega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551919" y="574542"/>
            <a:ext cx="181748" cy="204465"/>
          </a:xfrm>
          <a:prstGeom prst="rect">
            <a:avLst/>
          </a:prstGeom>
          <a:ln w="12700">
            <a:miter lim="400000"/>
          </a:ln>
        </p:spPr>
      </p:pic>
      <p:sp>
        <p:nvSpPr>
          <p:cNvPr id="836" name="Line"/>
          <p:cNvSpPr/>
          <p:nvPr/>
        </p:nvSpPr>
        <p:spPr>
          <a:xfrm>
            <a:off x="11005376" y="676737"/>
            <a:ext cx="509141" cy="1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Neutron sources, i.e. moderator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Neutron sources, i.e. moderators </a:t>
            </a:r>
          </a:p>
        </p:txBody>
      </p:sp>
      <p:sp>
        <p:nvSpPr>
          <p:cNvPr id="839" name="The emmission intensity into our chosen solid angle     can be a function of wavelength, time (pulsed sources) and possibly point of origin on the source surface…"/>
          <p:cNvSpPr txBox="1"/>
          <p:nvPr>
            <p:ph type="body" idx="1"/>
          </p:nvPr>
        </p:nvSpPr>
        <p:spPr>
          <a:xfrm>
            <a:off x="1774725" y="1456421"/>
            <a:ext cx="9312376" cy="5027201"/>
          </a:xfrm>
          <a:prstGeom prst="rect">
            <a:avLst/>
          </a:prstGeom>
        </p:spPr>
        <p:txBody>
          <a:bodyPr/>
          <a:lstStyle/>
          <a:p>
            <a:pPr marL="180180" indent="-180180" defTabSz="832104">
              <a:spcBef>
                <a:spcPts val="300"/>
              </a:spcBef>
              <a:defRPr sz="1638"/>
            </a:pPr>
            <a:r>
              <a:t>The emmission intensity into our chosen solid angle     can be a function of wavelength, time (pulsed sources) and possibly point of origin on the source surface</a:t>
            </a:r>
            <a:br/>
            <a:br/>
            <a:br/>
            <a:br/>
          </a:p>
          <a:p>
            <a:pPr marL="180180" indent="-180180" defTabSz="832104">
              <a:spcBef>
                <a:spcPts val="300"/>
              </a:spcBef>
              <a:defRPr sz="1638"/>
            </a:pPr>
          </a:p>
          <a:p>
            <a:pPr marL="180180" indent="-180180" defTabSz="832104">
              <a:spcBef>
                <a:spcPts val="300"/>
              </a:spcBef>
              <a:defRPr sz="1638"/>
            </a:pPr>
          </a:p>
          <a:p>
            <a:pPr marL="180180" indent="-180180" defTabSz="832104">
              <a:spcBef>
                <a:spcPts val="300"/>
              </a:spcBef>
              <a:defRPr sz="1638"/>
            </a:pPr>
          </a:p>
          <a:p>
            <a:pPr marL="180180" indent="-180180" defTabSz="832104">
              <a:spcBef>
                <a:spcPts val="300"/>
              </a:spcBef>
              <a:defRPr sz="1638"/>
            </a:pPr>
          </a:p>
          <a:p>
            <a:pPr marL="180180" indent="-180180" defTabSz="832104">
              <a:spcBef>
                <a:spcPts val="300"/>
              </a:spcBef>
              <a:defRPr sz="1638"/>
            </a:pPr>
          </a:p>
          <a:p>
            <a:pPr marL="180180" indent="-180180" defTabSz="832104">
              <a:spcBef>
                <a:spcPts val="300"/>
              </a:spcBef>
              <a:defRPr sz="1638"/>
            </a:pPr>
          </a:p>
          <a:p>
            <a:pPr marL="180180" indent="-180180" defTabSz="832104">
              <a:spcBef>
                <a:spcPts val="300"/>
              </a:spcBef>
              <a:defRPr sz="1638"/>
            </a:pPr>
          </a:p>
          <a:p>
            <a:pPr marL="180180" indent="-180180" defTabSz="832104">
              <a:spcBef>
                <a:spcPts val="300"/>
              </a:spcBef>
              <a:defRPr sz="1638"/>
            </a:pPr>
            <a:r>
              <a:t>The emission of particles into the solid angle     is in fact an </a:t>
            </a:r>
            <a:br/>
            <a:r>
              <a:t>integration and leads to a simulated “intensity” of               . </a:t>
            </a:r>
          </a:p>
          <a:p>
            <a:pPr marL="180180" indent="-180180" defTabSz="832104">
              <a:spcBef>
                <a:spcPts val="300"/>
              </a:spcBef>
              <a:defRPr sz="1638"/>
            </a:pPr>
            <a:r>
              <a:t>In McStas, that integrated intensity is partitioned over a given set of particle </a:t>
            </a:r>
            <a:r>
              <a:rPr i="1"/>
              <a:t>rays</a:t>
            </a:r>
            <a:r>
              <a:t> referred to as </a:t>
            </a:r>
            <a:r>
              <a:rPr b="1"/>
              <a:t>ncount</a:t>
            </a:r>
            <a:r>
              <a:t>, -</a:t>
            </a:r>
            <a:r>
              <a:rPr b="1"/>
              <a:t>n</a:t>
            </a:r>
            <a:r>
              <a:t> or </a:t>
            </a:r>
            <a:r>
              <a:rPr b="1"/>
              <a:t>--ncount</a:t>
            </a:r>
          </a:p>
          <a:p>
            <a:pPr marL="180180" indent="-180180" defTabSz="832104">
              <a:spcBef>
                <a:spcPts val="300"/>
              </a:spcBef>
              <a:defRPr sz="1638"/>
            </a:pPr>
            <a:r>
              <a:t>The default </a:t>
            </a:r>
            <a:r>
              <a:rPr b="1"/>
              <a:t>ncount</a:t>
            </a:r>
            <a:r>
              <a:t> is 1e6 rays</a:t>
            </a:r>
          </a:p>
        </p:txBody>
      </p:sp>
      <p:sp>
        <p:nvSpPr>
          <p:cNvPr id="8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852" name="Group"/>
          <p:cNvGrpSpPr/>
          <p:nvPr/>
        </p:nvGrpSpPr>
        <p:grpSpPr>
          <a:xfrm>
            <a:off x="1642044" y="1934376"/>
            <a:ext cx="3040396" cy="2989248"/>
            <a:chOff x="0" y="0"/>
            <a:chExt cx="3040394" cy="2989247"/>
          </a:xfrm>
        </p:grpSpPr>
        <p:sp>
          <p:nvSpPr>
            <p:cNvPr id="841" name="Line"/>
            <p:cNvSpPr/>
            <p:nvPr/>
          </p:nvSpPr>
          <p:spPr>
            <a:xfrm flipV="1">
              <a:off x="1818705" y="785843"/>
              <a:ext cx="1221690" cy="441148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42" name="Oval"/>
            <p:cNvSpPr/>
            <p:nvPr/>
          </p:nvSpPr>
          <p:spPr>
            <a:xfrm>
              <a:off x="764605" y="477225"/>
              <a:ext cx="1270001" cy="388591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sp>
          <p:nvSpPr>
            <p:cNvPr id="843" name="Oval"/>
            <p:cNvSpPr/>
            <p:nvPr/>
          </p:nvSpPr>
          <p:spPr>
            <a:xfrm>
              <a:off x="764605" y="2013925"/>
              <a:ext cx="1270001" cy="388591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sp>
          <p:nvSpPr>
            <p:cNvPr id="844" name="Line"/>
            <p:cNvSpPr/>
            <p:nvPr/>
          </p:nvSpPr>
          <p:spPr>
            <a:xfrm flipV="1">
              <a:off x="2034605" y="687525"/>
              <a:ext cx="1" cy="151690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45" name="Line"/>
            <p:cNvSpPr/>
            <p:nvPr/>
          </p:nvSpPr>
          <p:spPr>
            <a:xfrm>
              <a:off x="1679005" y="1541452"/>
              <a:ext cx="1009660" cy="278637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46" name="Line"/>
            <p:cNvSpPr/>
            <p:nvPr/>
          </p:nvSpPr>
          <p:spPr>
            <a:xfrm>
              <a:off x="1463105" y="2141779"/>
              <a:ext cx="183420" cy="847469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47" name="Line"/>
            <p:cNvSpPr/>
            <p:nvPr/>
          </p:nvSpPr>
          <p:spPr>
            <a:xfrm flipH="1">
              <a:off x="-1" y="1621079"/>
              <a:ext cx="1005252" cy="737932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48" name="Line"/>
            <p:cNvSpPr/>
            <p:nvPr/>
          </p:nvSpPr>
          <p:spPr>
            <a:xfrm flipH="1" flipV="1">
              <a:off x="285891" y="655790"/>
              <a:ext cx="746066" cy="578855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49" name="Line"/>
            <p:cNvSpPr/>
            <p:nvPr/>
          </p:nvSpPr>
          <p:spPr>
            <a:xfrm flipV="1">
              <a:off x="1414937" y="0"/>
              <a:ext cx="843472" cy="993883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50" name="Line"/>
            <p:cNvSpPr/>
            <p:nvPr/>
          </p:nvSpPr>
          <p:spPr>
            <a:xfrm flipH="1">
              <a:off x="885178" y="1616183"/>
              <a:ext cx="437443" cy="943513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51" name="Line"/>
            <p:cNvSpPr/>
            <p:nvPr/>
          </p:nvSpPr>
          <p:spPr>
            <a:xfrm flipV="1">
              <a:off x="751905" y="687525"/>
              <a:ext cx="1" cy="151690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853" name="I(_lambda)_&amp;&amp;_n∕.pdf" descr="I(_lambda)_&amp;&amp;_n∕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956260" y="2439447"/>
            <a:ext cx="5058481" cy="1247415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858" name="Group"/>
          <p:cNvGrpSpPr/>
          <p:nvPr/>
        </p:nvGrpSpPr>
        <p:grpSpPr>
          <a:xfrm>
            <a:off x="10344149" y="222901"/>
            <a:ext cx="309606" cy="1166292"/>
            <a:chOff x="0" y="0"/>
            <a:chExt cx="309604" cy="1166291"/>
          </a:xfrm>
        </p:grpSpPr>
        <p:sp>
          <p:nvSpPr>
            <p:cNvPr id="854" name="Line"/>
            <p:cNvSpPr/>
            <p:nvPr/>
          </p:nvSpPr>
          <p:spPr>
            <a:xfrm flipV="1">
              <a:off x="12621" y="0"/>
              <a:ext cx="1" cy="896945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55" name="Line"/>
            <p:cNvSpPr/>
            <p:nvPr/>
          </p:nvSpPr>
          <p:spPr>
            <a:xfrm flipV="1">
              <a:off x="302907" y="269346"/>
              <a:ext cx="1" cy="896946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56" name="Line"/>
            <p:cNvSpPr/>
            <p:nvPr/>
          </p:nvSpPr>
          <p:spPr>
            <a:xfrm flipH="1" flipV="1">
              <a:off x="-1" y="-1"/>
              <a:ext cx="296985" cy="275562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57" name="Line"/>
            <p:cNvSpPr/>
            <p:nvPr/>
          </p:nvSpPr>
          <p:spPr>
            <a:xfrm flipH="1" flipV="1">
              <a:off x="12621" y="890014"/>
              <a:ext cx="296984" cy="275562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859" name="Line"/>
          <p:cNvSpPr/>
          <p:nvPr/>
        </p:nvSpPr>
        <p:spPr>
          <a:xfrm flipV="1">
            <a:off x="4747369" y="764258"/>
            <a:ext cx="5749976" cy="1934154"/>
          </a:xfrm>
          <a:prstGeom prst="line">
            <a:avLst/>
          </a:prstGeom>
          <a:ln w="12700">
            <a:solidFill>
              <a:schemeClr val="accent2">
                <a:lumOff val="11225"/>
              </a:schemeClr>
            </a:solidFill>
            <a:custDash>
              <a:ds d="200000" sp="200000"/>
            </a:custDash>
            <a:miter lim="400000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860" name="Omega.pdf" descr="Omega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420779" y="2746996"/>
            <a:ext cx="181747" cy="204466"/>
          </a:xfrm>
          <a:prstGeom prst="rect">
            <a:avLst/>
          </a:prstGeom>
          <a:ln w="12700">
            <a:miter lim="400000"/>
          </a:ln>
        </p:spPr>
      </p:pic>
      <p:pic>
        <p:nvPicPr>
          <p:cNvPr id="861" name="Omega.pdf" descr="Omega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769265" y="1456421"/>
            <a:ext cx="181747" cy="204466"/>
          </a:xfrm>
          <a:prstGeom prst="rect">
            <a:avLst/>
          </a:prstGeom>
          <a:ln w="12700">
            <a:miter lim="400000"/>
          </a:ln>
        </p:spPr>
      </p:pic>
      <p:pic>
        <p:nvPicPr>
          <p:cNvPr id="862" name="Omega.pdf" descr="Omega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100376" y="4987707"/>
            <a:ext cx="181748" cy="204466"/>
          </a:xfrm>
          <a:prstGeom prst="rect">
            <a:avLst/>
          </a:prstGeom>
          <a:ln w="12700">
            <a:miter lim="400000"/>
          </a:ln>
        </p:spPr>
      </p:pic>
      <p:pic>
        <p:nvPicPr>
          <p:cNvPr id="863" name="I_Omega_n∕s.pdf" descr="I_Omega_n∕s.pd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470617" y="5252451"/>
            <a:ext cx="779080" cy="23627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Neutron sources, i.e. moderator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Neutron sources, i.e. moderators </a:t>
            </a:r>
          </a:p>
        </p:txBody>
      </p:sp>
      <p:sp>
        <p:nvSpPr>
          <p:cNvPr id="866" name="Our neutron rays are emitted randomly, sampling     and all variables of the  source “spectrum”, i.e. wavelength, time and area…"/>
          <p:cNvSpPr txBox="1"/>
          <p:nvPr>
            <p:ph type="body" idx="1"/>
          </p:nvPr>
        </p:nvSpPr>
        <p:spPr>
          <a:xfrm>
            <a:off x="3994920" y="3063459"/>
            <a:ext cx="9312375" cy="4545579"/>
          </a:xfrm>
          <a:prstGeom prst="rect">
            <a:avLst/>
          </a:prstGeom>
        </p:spPr>
        <p:txBody>
          <a:bodyPr/>
          <a:lstStyle/>
          <a:p>
            <a:pPr/>
            <a:r>
              <a:t>Our neutron rays are emitted randomly, sampling     and all variables of the </a:t>
            </a:r>
            <a:br/>
            <a:r>
              <a:t>source “spectrum”, i.e. wavelength, time and area</a:t>
            </a:r>
          </a:p>
          <a:p>
            <a:pPr/>
          </a:p>
          <a:p>
            <a:pPr/>
          </a:p>
          <a:p>
            <a:pPr/>
            <a:r>
              <a:t>assigning neutron weights       such that</a:t>
            </a:r>
          </a:p>
        </p:txBody>
      </p:sp>
      <p:sp>
        <p:nvSpPr>
          <p:cNvPr id="867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879" name="Group"/>
          <p:cNvGrpSpPr/>
          <p:nvPr/>
        </p:nvGrpSpPr>
        <p:grpSpPr>
          <a:xfrm>
            <a:off x="1642044" y="1934376"/>
            <a:ext cx="3040396" cy="2989248"/>
            <a:chOff x="0" y="0"/>
            <a:chExt cx="3040394" cy="2989247"/>
          </a:xfrm>
        </p:grpSpPr>
        <p:sp>
          <p:nvSpPr>
            <p:cNvPr id="868" name="Line"/>
            <p:cNvSpPr/>
            <p:nvPr/>
          </p:nvSpPr>
          <p:spPr>
            <a:xfrm flipV="1">
              <a:off x="1818705" y="785843"/>
              <a:ext cx="1221690" cy="441148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69" name="Oval"/>
            <p:cNvSpPr/>
            <p:nvPr/>
          </p:nvSpPr>
          <p:spPr>
            <a:xfrm>
              <a:off x="764605" y="477225"/>
              <a:ext cx="1270001" cy="388591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sp>
          <p:nvSpPr>
            <p:cNvPr id="870" name="Oval"/>
            <p:cNvSpPr/>
            <p:nvPr/>
          </p:nvSpPr>
          <p:spPr>
            <a:xfrm>
              <a:off x="764605" y="2013925"/>
              <a:ext cx="1270001" cy="388591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sp>
          <p:nvSpPr>
            <p:cNvPr id="871" name="Line"/>
            <p:cNvSpPr/>
            <p:nvPr/>
          </p:nvSpPr>
          <p:spPr>
            <a:xfrm flipV="1">
              <a:off x="2034605" y="687525"/>
              <a:ext cx="1" cy="151690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72" name="Line"/>
            <p:cNvSpPr/>
            <p:nvPr/>
          </p:nvSpPr>
          <p:spPr>
            <a:xfrm>
              <a:off x="1679005" y="1541452"/>
              <a:ext cx="1009660" cy="278637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73" name="Line"/>
            <p:cNvSpPr/>
            <p:nvPr/>
          </p:nvSpPr>
          <p:spPr>
            <a:xfrm>
              <a:off x="1463105" y="2141779"/>
              <a:ext cx="183420" cy="847469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74" name="Line"/>
            <p:cNvSpPr/>
            <p:nvPr/>
          </p:nvSpPr>
          <p:spPr>
            <a:xfrm flipH="1">
              <a:off x="-1" y="1621079"/>
              <a:ext cx="1005252" cy="737932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75" name="Line"/>
            <p:cNvSpPr/>
            <p:nvPr/>
          </p:nvSpPr>
          <p:spPr>
            <a:xfrm flipH="1" flipV="1">
              <a:off x="285891" y="655790"/>
              <a:ext cx="746066" cy="578855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76" name="Line"/>
            <p:cNvSpPr/>
            <p:nvPr/>
          </p:nvSpPr>
          <p:spPr>
            <a:xfrm flipV="1">
              <a:off x="1414937" y="0"/>
              <a:ext cx="843472" cy="993883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77" name="Line"/>
            <p:cNvSpPr/>
            <p:nvPr/>
          </p:nvSpPr>
          <p:spPr>
            <a:xfrm flipH="1">
              <a:off x="885178" y="1616183"/>
              <a:ext cx="437443" cy="943513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78" name="Line"/>
            <p:cNvSpPr/>
            <p:nvPr/>
          </p:nvSpPr>
          <p:spPr>
            <a:xfrm flipV="1">
              <a:off x="751905" y="687525"/>
              <a:ext cx="1" cy="151690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884" name="Group"/>
          <p:cNvGrpSpPr/>
          <p:nvPr/>
        </p:nvGrpSpPr>
        <p:grpSpPr>
          <a:xfrm>
            <a:off x="10344149" y="222901"/>
            <a:ext cx="309606" cy="1166292"/>
            <a:chOff x="0" y="0"/>
            <a:chExt cx="309604" cy="1166291"/>
          </a:xfrm>
        </p:grpSpPr>
        <p:sp>
          <p:nvSpPr>
            <p:cNvPr id="880" name="Line"/>
            <p:cNvSpPr/>
            <p:nvPr/>
          </p:nvSpPr>
          <p:spPr>
            <a:xfrm flipV="1">
              <a:off x="12621" y="0"/>
              <a:ext cx="1" cy="896945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81" name="Line"/>
            <p:cNvSpPr/>
            <p:nvPr/>
          </p:nvSpPr>
          <p:spPr>
            <a:xfrm flipV="1">
              <a:off x="302907" y="269346"/>
              <a:ext cx="1" cy="896946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82" name="Line"/>
            <p:cNvSpPr/>
            <p:nvPr/>
          </p:nvSpPr>
          <p:spPr>
            <a:xfrm flipH="1" flipV="1">
              <a:off x="-1" y="-1"/>
              <a:ext cx="296985" cy="275562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83" name="Line"/>
            <p:cNvSpPr/>
            <p:nvPr/>
          </p:nvSpPr>
          <p:spPr>
            <a:xfrm flipH="1" flipV="1">
              <a:off x="12621" y="890014"/>
              <a:ext cx="296984" cy="275562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885" name="Line"/>
          <p:cNvSpPr/>
          <p:nvPr/>
        </p:nvSpPr>
        <p:spPr>
          <a:xfrm flipV="1">
            <a:off x="4747369" y="764258"/>
            <a:ext cx="5749976" cy="1934154"/>
          </a:xfrm>
          <a:prstGeom prst="line">
            <a:avLst/>
          </a:prstGeom>
          <a:ln w="12700">
            <a:solidFill>
              <a:schemeClr val="accent2">
                <a:lumOff val="11225"/>
              </a:schemeClr>
            </a:solidFill>
            <a:custDash>
              <a:ds d="200000" sp="200000"/>
            </a:custDash>
            <a:miter lim="400000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886" name="Omega.pdf" descr="Omega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201579" y="3102897"/>
            <a:ext cx="181747" cy="204465"/>
          </a:xfrm>
          <a:prstGeom prst="rect">
            <a:avLst/>
          </a:prstGeom>
          <a:ln w="12700">
            <a:miter lim="400000"/>
          </a:ln>
        </p:spPr>
      </p:pic>
      <p:pic>
        <p:nvPicPr>
          <p:cNvPr id="887" name="p.pdf" descr="p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007659" y="4381634"/>
            <a:ext cx="181748" cy="218097"/>
          </a:xfrm>
          <a:prstGeom prst="rect">
            <a:avLst/>
          </a:prstGeom>
          <a:ln w="12700">
            <a:miter lim="400000"/>
          </a:ln>
        </p:spPr>
      </p:pic>
      <p:pic>
        <p:nvPicPr>
          <p:cNvPr id="888" name="sum_j=1^textrm_n.pdf" descr="sum_j=1^textrm_n.pd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728613" y="4870991"/>
            <a:ext cx="3824500" cy="930515"/>
          </a:xfrm>
          <a:prstGeom prst="rect">
            <a:avLst/>
          </a:prstGeom>
          <a:ln w="12700">
            <a:miter lim="400000"/>
          </a:ln>
        </p:spPr>
      </p:pic>
      <p:pic>
        <p:nvPicPr>
          <p:cNvPr id="889" name="I_Omega_(_lambda.pdf" descr="I_Omega_(_lambda.pdf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342316" y="3763814"/>
            <a:ext cx="2597093" cy="41241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Neutron rays in McStas - what are they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Neutron rays in McStas - what are they?</a:t>
            </a:r>
          </a:p>
        </p:txBody>
      </p:sp>
      <p:sp>
        <p:nvSpPr>
          <p:cNvPr id="892" name="The starting point on the surface, i.e.     (in the code variables x,y,z)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  <a:p>
            <a:pPr/>
          </a:p>
          <a:p>
            <a:pPr/>
            <a:r>
              <a:t>The </a:t>
            </a:r>
            <a:r>
              <a:rPr b="1"/>
              <a:t>starting point</a:t>
            </a:r>
            <a:r>
              <a:t> on the surface, i.e.     (in the code variables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x,y,z</a:t>
            </a:r>
            <a:r>
              <a:t>)</a:t>
            </a:r>
          </a:p>
          <a:p>
            <a:pPr/>
          </a:p>
          <a:p>
            <a:pPr/>
            <a:r>
              <a:t>The </a:t>
            </a:r>
            <a:r>
              <a:rPr b="1"/>
              <a:t>direction</a:t>
            </a:r>
            <a:r>
              <a:t> into     and our    /        (in the code variables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vx,vy,vz</a:t>
            </a:r>
            <a:r>
              <a:t>)</a:t>
            </a:r>
          </a:p>
          <a:p>
            <a:pPr/>
          </a:p>
          <a:p>
            <a:pPr/>
            <a:r>
              <a:t>The </a:t>
            </a:r>
            <a:r>
              <a:rPr b="1"/>
              <a:t>starting time</a:t>
            </a:r>
            <a:r>
              <a:t> (in the code the variable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t</a:t>
            </a:r>
            <a:r>
              <a:t>)</a:t>
            </a:r>
          </a:p>
          <a:p>
            <a:pPr/>
          </a:p>
          <a:p>
            <a:pPr/>
            <a:r>
              <a:t>The initial </a:t>
            </a:r>
            <a:r>
              <a:rPr b="1"/>
              <a:t>intensity</a:t>
            </a:r>
            <a:r>
              <a:t> / weight of the neutron ray (in the code the variable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p</a:t>
            </a:r>
            <a:r>
              <a:t>)</a:t>
            </a:r>
          </a:p>
          <a:p>
            <a:pPr/>
          </a:p>
          <a:p>
            <a:pPr/>
            <a:r>
              <a:t>If needed the initial </a:t>
            </a:r>
            <a:r>
              <a:rPr b="1"/>
              <a:t>polarisation</a:t>
            </a:r>
            <a:r>
              <a:t> (in the code the variables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sx,sy,sz</a:t>
            </a:r>
            <a:r>
              <a:t>)</a:t>
            </a:r>
          </a:p>
        </p:txBody>
      </p:sp>
      <p:sp>
        <p:nvSpPr>
          <p:cNvPr id="8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894" name="vec_r.pdf" descr="vec_r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15614" y="2346848"/>
            <a:ext cx="181747" cy="223053"/>
          </a:xfrm>
          <a:prstGeom prst="rect">
            <a:avLst/>
          </a:prstGeom>
          <a:ln w="12700">
            <a:miter lim="400000"/>
          </a:ln>
        </p:spPr>
      </p:pic>
      <p:pic>
        <p:nvPicPr>
          <p:cNvPr id="895" name="Omega.pdf" descr="Omega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894442" y="3036780"/>
            <a:ext cx="181748" cy="204466"/>
          </a:xfrm>
          <a:prstGeom prst="rect">
            <a:avLst/>
          </a:prstGeom>
          <a:ln w="12700">
            <a:miter lim="400000"/>
          </a:ln>
        </p:spPr>
      </p:pic>
      <p:pic>
        <p:nvPicPr>
          <p:cNvPr id="896" name="lambda.pdf" descr="lambda.pd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011901" y="3045494"/>
            <a:ext cx="136681" cy="187038"/>
          </a:xfrm>
          <a:prstGeom prst="rect">
            <a:avLst/>
          </a:prstGeom>
          <a:ln w="12700">
            <a:miter lim="400000"/>
          </a:ln>
        </p:spPr>
      </p:pic>
      <p:pic>
        <p:nvPicPr>
          <p:cNvPr id="897" name="E_kin.pdf" descr="E_kin.pdf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244905" y="3070894"/>
            <a:ext cx="416308" cy="187038"/>
          </a:xfrm>
          <a:prstGeom prst="rect">
            <a:avLst/>
          </a:prstGeom>
          <a:ln w="12700">
            <a:miter lim="400000"/>
          </a:ln>
        </p:spPr>
      </p:pic>
      <p:sp>
        <p:nvSpPr>
          <p:cNvPr id="898" name="Neutron ray in McStas:…"/>
          <p:cNvSpPr txBox="1"/>
          <p:nvPr/>
        </p:nvSpPr>
        <p:spPr>
          <a:xfrm>
            <a:off x="9677341" y="1044254"/>
            <a:ext cx="2313882" cy="2109391"/>
          </a:xfrm>
          <a:prstGeom prst="rect">
            <a:avLst/>
          </a:prstGeom>
          <a:ln w="38100">
            <a:solidFill>
              <a:schemeClr val="accent1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Neutron </a:t>
            </a:r>
            <a:r>
              <a:rPr b="1"/>
              <a:t>ray</a:t>
            </a:r>
            <a:r>
              <a:t> in McStas:</a:t>
            </a:r>
          </a:p>
          <a:p>
            <a:pPr/>
            <a:r>
              <a:t>Location        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x,y,z</a:t>
            </a:r>
          </a:p>
          <a:p>
            <a:pPr/>
            <a:r>
              <a:t>Velocity         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vx,vy,vz</a:t>
            </a:r>
          </a:p>
          <a:p>
            <a:pPr/>
            <a:r>
              <a:t>Time              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t</a:t>
            </a:r>
          </a:p>
          <a:p>
            <a:pPr/>
            <a:r>
              <a:t>Polarisation.  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sx,sy,sz</a:t>
            </a:r>
          </a:p>
          <a:p>
            <a:pPr/>
            <a:r>
              <a:t>Intensity        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p</a:t>
            </a:r>
          </a:p>
        </p:txBody>
      </p:sp>
      <p:sp>
        <p:nvSpPr>
          <p:cNvPr id="899" name="Defining the neutron starting conditions imply setting:"/>
          <p:cNvSpPr txBox="1"/>
          <p:nvPr/>
        </p:nvSpPr>
        <p:spPr>
          <a:xfrm>
            <a:off x="1571117" y="1662832"/>
            <a:ext cx="5573090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198000" indent="-198000">
              <a:spcBef>
                <a:spcPts val="400"/>
              </a:spcBef>
              <a:buSzPct val="100000"/>
              <a:buChar char="•"/>
              <a:defRPr sz="1800"/>
            </a:lvl1pPr>
          </a:lstStyle>
          <a:p>
            <a:pPr/>
            <a:r>
              <a:t>Defining the neutron starting conditions imply setting: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Neutron (ray)-matter interaction 1: reflecting surfac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Neutron (ray)-matter interaction 1: reflecting surface</a:t>
            </a:r>
          </a:p>
        </p:txBody>
      </p:sp>
      <p:sp>
        <p:nvSpPr>
          <p:cNvPr id="902" name="1 starting situation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1 starting situation</a:t>
            </a:r>
          </a:p>
        </p:txBody>
      </p:sp>
      <p:sp>
        <p:nvSpPr>
          <p:cNvPr id="9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914" name="Group"/>
          <p:cNvGrpSpPr/>
          <p:nvPr/>
        </p:nvGrpSpPr>
        <p:grpSpPr>
          <a:xfrm>
            <a:off x="6005601" y="2326369"/>
            <a:ext cx="2202150" cy="2035714"/>
            <a:chOff x="0" y="460122"/>
            <a:chExt cx="2202148" cy="2035712"/>
          </a:xfrm>
        </p:grpSpPr>
        <p:sp>
          <p:nvSpPr>
            <p:cNvPr id="904" name="Line"/>
            <p:cNvSpPr/>
            <p:nvPr/>
          </p:nvSpPr>
          <p:spPr>
            <a:xfrm flipH="1">
              <a:off x="1414812" y="1597502"/>
              <a:ext cx="124045" cy="65680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913" name="Group"/>
            <p:cNvGrpSpPr/>
            <p:nvPr/>
          </p:nvGrpSpPr>
          <p:grpSpPr>
            <a:xfrm>
              <a:off x="-1" y="460122"/>
              <a:ext cx="2202150" cy="2035714"/>
              <a:chOff x="0" y="460122"/>
              <a:chExt cx="2202148" cy="2035712"/>
            </a:xfrm>
          </p:grpSpPr>
          <p:grpSp>
            <p:nvGrpSpPr>
              <p:cNvPr id="909" name="Group"/>
              <p:cNvGrpSpPr/>
              <p:nvPr/>
            </p:nvGrpSpPr>
            <p:grpSpPr>
              <a:xfrm>
                <a:off x="776921" y="460122"/>
                <a:ext cx="1425228" cy="2035714"/>
                <a:chOff x="0" y="460122"/>
                <a:chExt cx="1425226" cy="2035712"/>
              </a:xfrm>
            </p:grpSpPr>
            <p:sp>
              <p:nvSpPr>
                <p:cNvPr id="905" name="Line"/>
                <p:cNvSpPr/>
                <p:nvPr/>
              </p:nvSpPr>
              <p:spPr>
                <a:xfrm flipV="1">
                  <a:off x="25400" y="466037"/>
                  <a:ext cx="1" cy="1561032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</a:ln>
                <a:effectLst>
                  <a:outerShdw sx="100000" sy="100000" kx="0" ky="0" algn="b" rotWithShape="0" blurRad="38100" dist="20000" dir="540000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06" name="Line"/>
                <p:cNvSpPr/>
                <p:nvPr/>
              </p:nvSpPr>
              <p:spPr>
                <a:xfrm flipV="1">
                  <a:off x="1393657" y="934804"/>
                  <a:ext cx="1" cy="1561032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</a:ln>
                <a:effectLst>
                  <a:outerShdw sx="100000" sy="100000" kx="0" ky="0" algn="b" rotWithShape="0" blurRad="38100" dist="20000" dir="540000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07" name="Line"/>
                <p:cNvSpPr/>
                <p:nvPr/>
              </p:nvSpPr>
              <p:spPr>
                <a:xfrm flipH="1" flipV="1">
                  <a:off x="0" y="460122"/>
                  <a:ext cx="1399827" cy="479583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</a:ln>
                <a:effectLst>
                  <a:outerShdw sx="100000" sy="100000" kx="0" ky="0" algn="b" rotWithShape="0" blurRad="38100" dist="20000" dir="540000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08" name="Line"/>
                <p:cNvSpPr/>
                <p:nvPr/>
              </p:nvSpPr>
              <p:spPr>
                <a:xfrm flipH="1" flipV="1">
                  <a:off x="25400" y="2015006"/>
                  <a:ext cx="1399827" cy="479583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</a:ln>
                <a:effectLst>
                  <a:outerShdw sx="100000" sy="100000" kx="0" ky="0" algn="b" rotWithShape="0" blurRad="38100" dist="20000" dir="540000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910" name="Line"/>
              <p:cNvSpPr/>
              <p:nvPr/>
            </p:nvSpPr>
            <p:spPr>
              <a:xfrm flipH="1">
                <a:off x="-1" y="1488209"/>
                <a:ext cx="1419374" cy="751644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>
                <a:outerShdw sx="100000" sy="100000" kx="0" ky="0" algn="b" rotWithShape="0" blurRad="38100" dist="20000" dir="540000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11" name="Line"/>
              <p:cNvSpPr/>
              <p:nvPr/>
            </p:nvSpPr>
            <p:spPr>
              <a:xfrm flipH="1" flipV="1">
                <a:off x="1414812" y="1484842"/>
                <a:ext cx="109040" cy="109040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>
                <a:outerShdw sx="100000" sy="100000" kx="0" ky="0" algn="b" rotWithShape="0" blurRad="38100" dist="20000" dir="540000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12" name="Line"/>
              <p:cNvSpPr/>
              <p:nvPr/>
            </p:nvSpPr>
            <p:spPr>
              <a:xfrm flipH="1" flipV="1">
                <a:off x="1313212" y="1548342"/>
                <a:ext cx="109040" cy="109040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>
                <a:outerShdw sx="100000" sy="100000" kx="0" ky="0" algn="b" rotWithShape="0" blurRad="38100" dist="20000" dir="540000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</p:grpSp>
      <p:sp>
        <p:nvSpPr>
          <p:cNvPr id="915" name="Line"/>
          <p:cNvSpPr/>
          <p:nvPr/>
        </p:nvSpPr>
        <p:spPr>
          <a:xfrm flipV="1">
            <a:off x="2088202" y="4008733"/>
            <a:ext cx="1288206" cy="200582"/>
          </a:xfrm>
          <a:prstGeom prst="line">
            <a:avLst/>
          </a:prstGeom>
          <a:ln w="25400">
            <a:solidFill>
              <a:schemeClr val="accent2">
                <a:satOff val="-15111"/>
                <a:lumOff val="-11019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6" name="Neutron ray"/>
          <p:cNvSpPr txBox="1"/>
          <p:nvPr/>
        </p:nvSpPr>
        <p:spPr>
          <a:xfrm>
            <a:off x="2083713" y="3184823"/>
            <a:ext cx="1074342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Neutron ray</a:t>
            </a:r>
          </a:p>
        </p:txBody>
      </p:sp>
      <p:sp>
        <p:nvSpPr>
          <p:cNvPr id="917" name="Mirror surface"/>
          <p:cNvSpPr txBox="1"/>
          <p:nvPr/>
        </p:nvSpPr>
        <p:spPr>
          <a:xfrm>
            <a:off x="7168051" y="2154789"/>
            <a:ext cx="1265933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Mirror surface</a:t>
            </a:r>
          </a:p>
        </p:txBody>
      </p:sp>
      <p:grpSp>
        <p:nvGrpSpPr>
          <p:cNvPr id="920" name="Group"/>
          <p:cNvGrpSpPr/>
          <p:nvPr/>
        </p:nvGrpSpPr>
        <p:grpSpPr>
          <a:xfrm>
            <a:off x="1199323" y="4284893"/>
            <a:ext cx="4160684" cy="591821"/>
            <a:chOff x="0" y="0"/>
            <a:chExt cx="4160683" cy="591819"/>
          </a:xfrm>
        </p:grpSpPr>
        <p:sp>
          <p:nvSpPr>
            <p:cNvPr id="918" name="(x,y,z,vx,vy,vz,t,sx,sy,sz,p)"/>
            <p:cNvSpPr txBox="1"/>
            <p:nvPr/>
          </p:nvSpPr>
          <p:spPr>
            <a:xfrm>
              <a:off x="0" y="0"/>
              <a:ext cx="4160684" cy="5918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/>
            <a:p>
              <a:pPr/>
              <a:r>
                <a:t>(</a:t>
              </a:r>
              <a:r>
                <a:rPr>
                  <a:latin typeface="Courier"/>
                  <a:ea typeface="Courier"/>
                  <a:cs typeface="Courier"/>
                  <a:sym typeface="Courier"/>
                </a:rPr>
                <a:t>x,y,z,vx,vy,vz,t,sx,sy,sz,p)</a:t>
              </a:r>
            </a:p>
          </p:txBody>
        </p:sp>
        <p:sp>
          <p:nvSpPr>
            <p:cNvPr id="919" name="0"/>
            <p:cNvSpPr txBox="1"/>
            <p:nvPr/>
          </p:nvSpPr>
          <p:spPr>
            <a:xfrm>
              <a:off x="3451546" y="86407"/>
              <a:ext cx="126910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>
                <a:defRPr baseline="-5999"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pPr>
                <a:defRPr baseline="0">
                  <a:latin typeface="+mn-lt"/>
                  <a:ea typeface="+mn-ea"/>
                  <a:cs typeface="+mn-cs"/>
                  <a:sym typeface="Arial"/>
                </a:defRPr>
              </a:pPr>
              <a:r>
                <a:rPr baseline="-5999">
                  <a:latin typeface="Courier"/>
                  <a:ea typeface="Courier"/>
                  <a:cs typeface="Courier"/>
                  <a:sym typeface="Courier"/>
                </a:rPr>
                <a:t>0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Neutron (ray)-matter interaction 1: reflecting surfac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Neutron (ray)-matter interaction 1: reflecting surface</a:t>
            </a:r>
          </a:p>
        </p:txBody>
      </p:sp>
      <p:sp>
        <p:nvSpPr>
          <p:cNvPr id="923" name="2. Propagate to the mirror surface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2. Propagate to the mirror surface</a:t>
            </a:r>
          </a:p>
        </p:txBody>
      </p:sp>
      <p:sp>
        <p:nvSpPr>
          <p:cNvPr id="924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935" name="Group"/>
          <p:cNvGrpSpPr/>
          <p:nvPr/>
        </p:nvGrpSpPr>
        <p:grpSpPr>
          <a:xfrm>
            <a:off x="6005601" y="2326369"/>
            <a:ext cx="2202150" cy="2035714"/>
            <a:chOff x="0" y="460122"/>
            <a:chExt cx="2202148" cy="2035712"/>
          </a:xfrm>
        </p:grpSpPr>
        <p:sp>
          <p:nvSpPr>
            <p:cNvPr id="925" name="Line"/>
            <p:cNvSpPr/>
            <p:nvPr/>
          </p:nvSpPr>
          <p:spPr>
            <a:xfrm flipH="1">
              <a:off x="1414812" y="1597502"/>
              <a:ext cx="124045" cy="65680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934" name="Group"/>
            <p:cNvGrpSpPr/>
            <p:nvPr/>
          </p:nvGrpSpPr>
          <p:grpSpPr>
            <a:xfrm>
              <a:off x="-1" y="460122"/>
              <a:ext cx="2202150" cy="2035714"/>
              <a:chOff x="0" y="460122"/>
              <a:chExt cx="2202148" cy="2035712"/>
            </a:xfrm>
          </p:grpSpPr>
          <p:grpSp>
            <p:nvGrpSpPr>
              <p:cNvPr id="930" name="Group"/>
              <p:cNvGrpSpPr/>
              <p:nvPr/>
            </p:nvGrpSpPr>
            <p:grpSpPr>
              <a:xfrm>
                <a:off x="776921" y="460122"/>
                <a:ext cx="1425228" cy="2035714"/>
                <a:chOff x="0" y="460122"/>
                <a:chExt cx="1425226" cy="2035712"/>
              </a:xfrm>
            </p:grpSpPr>
            <p:sp>
              <p:nvSpPr>
                <p:cNvPr id="926" name="Line"/>
                <p:cNvSpPr/>
                <p:nvPr/>
              </p:nvSpPr>
              <p:spPr>
                <a:xfrm flipV="1">
                  <a:off x="25400" y="466037"/>
                  <a:ext cx="1" cy="1561032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</a:ln>
                <a:effectLst>
                  <a:outerShdw sx="100000" sy="100000" kx="0" ky="0" algn="b" rotWithShape="0" blurRad="38100" dist="20000" dir="540000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27" name="Line"/>
                <p:cNvSpPr/>
                <p:nvPr/>
              </p:nvSpPr>
              <p:spPr>
                <a:xfrm flipV="1">
                  <a:off x="1393657" y="934804"/>
                  <a:ext cx="1" cy="1561032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</a:ln>
                <a:effectLst>
                  <a:outerShdw sx="100000" sy="100000" kx="0" ky="0" algn="b" rotWithShape="0" blurRad="38100" dist="20000" dir="540000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28" name="Line"/>
                <p:cNvSpPr/>
                <p:nvPr/>
              </p:nvSpPr>
              <p:spPr>
                <a:xfrm flipH="1" flipV="1">
                  <a:off x="0" y="460122"/>
                  <a:ext cx="1399827" cy="479583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</a:ln>
                <a:effectLst>
                  <a:outerShdw sx="100000" sy="100000" kx="0" ky="0" algn="b" rotWithShape="0" blurRad="38100" dist="20000" dir="540000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29" name="Line"/>
                <p:cNvSpPr/>
                <p:nvPr/>
              </p:nvSpPr>
              <p:spPr>
                <a:xfrm flipH="1" flipV="1">
                  <a:off x="25400" y="2015006"/>
                  <a:ext cx="1399827" cy="479583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</a:ln>
                <a:effectLst>
                  <a:outerShdw sx="100000" sy="100000" kx="0" ky="0" algn="b" rotWithShape="0" blurRad="38100" dist="20000" dir="540000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931" name="Line"/>
              <p:cNvSpPr/>
              <p:nvPr/>
            </p:nvSpPr>
            <p:spPr>
              <a:xfrm flipH="1">
                <a:off x="-1" y="1488209"/>
                <a:ext cx="1419374" cy="751644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>
                <a:outerShdw sx="100000" sy="100000" kx="0" ky="0" algn="b" rotWithShape="0" blurRad="38100" dist="20000" dir="540000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32" name="Line"/>
              <p:cNvSpPr/>
              <p:nvPr/>
            </p:nvSpPr>
            <p:spPr>
              <a:xfrm flipH="1" flipV="1">
                <a:off x="1414812" y="1484842"/>
                <a:ext cx="109040" cy="109040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>
                <a:outerShdw sx="100000" sy="100000" kx="0" ky="0" algn="b" rotWithShape="0" blurRad="38100" dist="20000" dir="540000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33" name="Line"/>
              <p:cNvSpPr/>
              <p:nvPr/>
            </p:nvSpPr>
            <p:spPr>
              <a:xfrm flipH="1" flipV="1">
                <a:off x="1313212" y="1548342"/>
                <a:ext cx="109040" cy="109040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>
                <a:outerShdw sx="100000" sy="100000" kx="0" ky="0" algn="b" rotWithShape="0" blurRad="38100" dist="20000" dir="540000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</p:grpSp>
      <p:grpSp>
        <p:nvGrpSpPr>
          <p:cNvPr id="938" name="Group"/>
          <p:cNvGrpSpPr/>
          <p:nvPr/>
        </p:nvGrpSpPr>
        <p:grpSpPr>
          <a:xfrm>
            <a:off x="8386728" y="3257961"/>
            <a:ext cx="4163663" cy="591821"/>
            <a:chOff x="0" y="0"/>
            <a:chExt cx="4163662" cy="591819"/>
          </a:xfrm>
        </p:grpSpPr>
        <p:sp>
          <p:nvSpPr>
            <p:cNvPr id="936" name="(x,y,z,vx,vy,vz,t,sx,sy,sz,p)"/>
            <p:cNvSpPr txBox="1"/>
            <p:nvPr/>
          </p:nvSpPr>
          <p:spPr>
            <a:xfrm>
              <a:off x="0" y="0"/>
              <a:ext cx="4163663" cy="5918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/>
              <a:r>
                <a:t>(</a:t>
              </a:r>
              <a:r>
                <a:rPr>
                  <a:latin typeface="Courier"/>
                  <a:ea typeface="Courier"/>
                  <a:cs typeface="Courier"/>
                  <a:sym typeface="Courier"/>
                </a:rPr>
                <a:t>x,y,z,vx,vy,vz,t,sx,sy,sz,p)</a:t>
              </a:r>
            </a:p>
          </p:txBody>
        </p:sp>
        <p:sp>
          <p:nvSpPr>
            <p:cNvPr id="937" name="1"/>
            <p:cNvSpPr txBox="1"/>
            <p:nvPr/>
          </p:nvSpPr>
          <p:spPr>
            <a:xfrm>
              <a:off x="3454017" y="86407"/>
              <a:ext cx="127001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baseline="-5999"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pPr>
                <a:defRPr baseline="0">
                  <a:latin typeface="+mn-lt"/>
                  <a:ea typeface="+mn-ea"/>
                  <a:cs typeface="+mn-cs"/>
                  <a:sym typeface="Arial"/>
                </a:defRPr>
              </a:pPr>
              <a:r>
                <a:rPr baseline="-5999">
                  <a:latin typeface="Courier"/>
                  <a:ea typeface="Courier"/>
                  <a:cs typeface="Courier"/>
                  <a:sym typeface="Courier"/>
                </a:rPr>
                <a:t>1</a:t>
              </a:r>
            </a:p>
          </p:txBody>
        </p:sp>
      </p:grpSp>
      <p:sp>
        <p:nvSpPr>
          <p:cNvPr id="939" name="Line"/>
          <p:cNvSpPr/>
          <p:nvPr/>
        </p:nvSpPr>
        <p:spPr>
          <a:xfrm flipV="1">
            <a:off x="2088202" y="4008733"/>
            <a:ext cx="1288206" cy="200582"/>
          </a:xfrm>
          <a:prstGeom prst="line">
            <a:avLst/>
          </a:prstGeom>
          <a:ln w="25400">
            <a:solidFill>
              <a:schemeClr val="accent2">
                <a:satOff val="-15111"/>
                <a:lumOff val="-11019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0" name="Line"/>
          <p:cNvSpPr/>
          <p:nvPr/>
        </p:nvSpPr>
        <p:spPr>
          <a:xfrm flipV="1">
            <a:off x="3383851" y="3377369"/>
            <a:ext cx="3996775" cy="633386"/>
          </a:xfrm>
          <a:prstGeom prst="line">
            <a:avLst/>
          </a:prstGeom>
          <a:ln w="25400">
            <a:solidFill>
              <a:schemeClr val="accent2">
                <a:satOff val="-15111"/>
                <a:lumOff val="-11019"/>
              </a:schemeClr>
            </a:solidFill>
            <a:prstDash val="sysDot"/>
            <a:miter lim="400000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1" name="Line"/>
          <p:cNvSpPr/>
          <p:nvPr/>
        </p:nvSpPr>
        <p:spPr>
          <a:xfrm flipV="1">
            <a:off x="7415092" y="3162379"/>
            <a:ext cx="1288207" cy="200582"/>
          </a:xfrm>
          <a:prstGeom prst="line">
            <a:avLst/>
          </a:prstGeom>
          <a:ln w="25400">
            <a:solidFill>
              <a:schemeClr val="accent2">
                <a:satOff val="-15111"/>
                <a:lumOff val="-11019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grpSp>
        <p:nvGrpSpPr>
          <p:cNvPr id="944" name="Group"/>
          <p:cNvGrpSpPr/>
          <p:nvPr/>
        </p:nvGrpSpPr>
        <p:grpSpPr>
          <a:xfrm>
            <a:off x="1199323" y="4284893"/>
            <a:ext cx="4160684" cy="591821"/>
            <a:chOff x="0" y="0"/>
            <a:chExt cx="4160683" cy="591819"/>
          </a:xfrm>
        </p:grpSpPr>
        <p:sp>
          <p:nvSpPr>
            <p:cNvPr id="942" name="(x,y,z,vx,vy,vz,t,sx,sy,sz,p)"/>
            <p:cNvSpPr txBox="1"/>
            <p:nvPr/>
          </p:nvSpPr>
          <p:spPr>
            <a:xfrm>
              <a:off x="0" y="0"/>
              <a:ext cx="4160684" cy="5918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/>
            <a:p>
              <a:pPr/>
              <a:r>
                <a:t>(</a:t>
              </a:r>
              <a:r>
                <a:rPr>
                  <a:latin typeface="Courier"/>
                  <a:ea typeface="Courier"/>
                  <a:cs typeface="Courier"/>
                  <a:sym typeface="Courier"/>
                </a:rPr>
                <a:t>x,y,z,vx,vy,vz,t,sx,sy,sz,p)</a:t>
              </a:r>
            </a:p>
          </p:txBody>
        </p:sp>
        <p:sp>
          <p:nvSpPr>
            <p:cNvPr id="943" name="0"/>
            <p:cNvSpPr txBox="1"/>
            <p:nvPr/>
          </p:nvSpPr>
          <p:spPr>
            <a:xfrm>
              <a:off x="3451546" y="86407"/>
              <a:ext cx="126910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>
                <a:defRPr baseline="-5999"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pPr>
                <a:defRPr baseline="0">
                  <a:latin typeface="+mn-lt"/>
                  <a:ea typeface="+mn-ea"/>
                  <a:cs typeface="+mn-cs"/>
                  <a:sym typeface="Arial"/>
                </a:defRPr>
              </a:pPr>
              <a:r>
                <a:rPr baseline="-5999">
                  <a:latin typeface="Courier"/>
                  <a:ea typeface="Courier"/>
                  <a:cs typeface="Courier"/>
                  <a:sym typeface="Courier"/>
                </a:rPr>
                <a:t>0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Neutron (ray)-matter interaction 1: reflecting surfac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Neutron (ray)-matter interaction 1: reflecting surface</a:t>
            </a:r>
          </a:p>
        </p:txBody>
      </p:sp>
      <p:sp>
        <p:nvSpPr>
          <p:cNvPr id="947" name="3. Checks (are we on surface, what is probability of reflection etc.)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3. Checks (are we on surface, what is probability of reflection etc.)</a:t>
            </a:r>
          </a:p>
        </p:txBody>
      </p:sp>
      <p:sp>
        <p:nvSpPr>
          <p:cNvPr id="9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959" name="Group"/>
          <p:cNvGrpSpPr/>
          <p:nvPr/>
        </p:nvGrpSpPr>
        <p:grpSpPr>
          <a:xfrm>
            <a:off x="6005601" y="2326369"/>
            <a:ext cx="2202150" cy="2035714"/>
            <a:chOff x="0" y="460122"/>
            <a:chExt cx="2202148" cy="2035712"/>
          </a:xfrm>
        </p:grpSpPr>
        <p:sp>
          <p:nvSpPr>
            <p:cNvPr id="949" name="Line"/>
            <p:cNvSpPr/>
            <p:nvPr/>
          </p:nvSpPr>
          <p:spPr>
            <a:xfrm flipH="1">
              <a:off x="1414812" y="1597502"/>
              <a:ext cx="124045" cy="65680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958" name="Group"/>
            <p:cNvGrpSpPr/>
            <p:nvPr/>
          </p:nvGrpSpPr>
          <p:grpSpPr>
            <a:xfrm>
              <a:off x="-1" y="460122"/>
              <a:ext cx="2202150" cy="2035714"/>
              <a:chOff x="0" y="460122"/>
              <a:chExt cx="2202148" cy="2035712"/>
            </a:xfrm>
          </p:grpSpPr>
          <p:grpSp>
            <p:nvGrpSpPr>
              <p:cNvPr id="954" name="Group"/>
              <p:cNvGrpSpPr/>
              <p:nvPr/>
            </p:nvGrpSpPr>
            <p:grpSpPr>
              <a:xfrm>
                <a:off x="776921" y="460122"/>
                <a:ext cx="1425228" cy="2035714"/>
                <a:chOff x="0" y="460122"/>
                <a:chExt cx="1425226" cy="2035712"/>
              </a:xfrm>
            </p:grpSpPr>
            <p:sp>
              <p:nvSpPr>
                <p:cNvPr id="950" name="Line"/>
                <p:cNvSpPr/>
                <p:nvPr/>
              </p:nvSpPr>
              <p:spPr>
                <a:xfrm flipV="1">
                  <a:off x="25400" y="466037"/>
                  <a:ext cx="1" cy="1561032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</a:ln>
                <a:effectLst>
                  <a:outerShdw sx="100000" sy="100000" kx="0" ky="0" algn="b" rotWithShape="0" blurRad="38100" dist="20000" dir="540000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51" name="Line"/>
                <p:cNvSpPr/>
                <p:nvPr/>
              </p:nvSpPr>
              <p:spPr>
                <a:xfrm flipV="1">
                  <a:off x="1393657" y="934804"/>
                  <a:ext cx="1" cy="1561032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</a:ln>
                <a:effectLst>
                  <a:outerShdw sx="100000" sy="100000" kx="0" ky="0" algn="b" rotWithShape="0" blurRad="38100" dist="20000" dir="540000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52" name="Line"/>
                <p:cNvSpPr/>
                <p:nvPr/>
              </p:nvSpPr>
              <p:spPr>
                <a:xfrm flipH="1" flipV="1">
                  <a:off x="0" y="460122"/>
                  <a:ext cx="1399827" cy="479583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</a:ln>
                <a:effectLst>
                  <a:outerShdw sx="100000" sy="100000" kx="0" ky="0" algn="b" rotWithShape="0" blurRad="38100" dist="20000" dir="540000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53" name="Line"/>
                <p:cNvSpPr/>
                <p:nvPr/>
              </p:nvSpPr>
              <p:spPr>
                <a:xfrm flipH="1" flipV="1">
                  <a:off x="25400" y="2015006"/>
                  <a:ext cx="1399827" cy="479583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</a:ln>
                <a:effectLst>
                  <a:outerShdw sx="100000" sy="100000" kx="0" ky="0" algn="b" rotWithShape="0" blurRad="38100" dist="20000" dir="540000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955" name="Line"/>
              <p:cNvSpPr/>
              <p:nvPr/>
            </p:nvSpPr>
            <p:spPr>
              <a:xfrm flipH="1">
                <a:off x="-1" y="1488209"/>
                <a:ext cx="1419374" cy="751644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>
                <a:outerShdw sx="100000" sy="100000" kx="0" ky="0" algn="b" rotWithShape="0" blurRad="38100" dist="20000" dir="540000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56" name="Line"/>
              <p:cNvSpPr/>
              <p:nvPr/>
            </p:nvSpPr>
            <p:spPr>
              <a:xfrm flipH="1" flipV="1">
                <a:off x="1414812" y="1484842"/>
                <a:ext cx="109040" cy="109040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>
                <a:outerShdw sx="100000" sy="100000" kx="0" ky="0" algn="b" rotWithShape="0" blurRad="38100" dist="20000" dir="540000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57" name="Line"/>
              <p:cNvSpPr/>
              <p:nvPr/>
            </p:nvSpPr>
            <p:spPr>
              <a:xfrm flipH="1" flipV="1">
                <a:off x="1313212" y="1548342"/>
                <a:ext cx="109040" cy="109040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>
                <a:outerShdw sx="100000" sy="100000" kx="0" ky="0" algn="b" rotWithShape="0" blurRad="38100" dist="20000" dir="540000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</p:grpSp>
      <p:sp>
        <p:nvSpPr>
          <p:cNvPr id="960" name="Line"/>
          <p:cNvSpPr/>
          <p:nvPr/>
        </p:nvSpPr>
        <p:spPr>
          <a:xfrm flipV="1">
            <a:off x="2088202" y="4008733"/>
            <a:ext cx="1288206" cy="200582"/>
          </a:xfrm>
          <a:prstGeom prst="line">
            <a:avLst/>
          </a:prstGeom>
          <a:ln w="25400">
            <a:solidFill>
              <a:schemeClr val="accent2">
                <a:satOff val="-15111"/>
                <a:lumOff val="-11019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1" name="Line"/>
          <p:cNvSpPr/>
          <p:nvPr/>
        </p:nvSpPr>
        <p:spPr>
          <a:xfrm flipV="1">
            <a:off x="3383851" y="3377369"/>
            <a:ext cx="3996775" cy="633386"/>
          </a:xfrm>
          <a:prstGeom prst="line">
            <a:avLst/>
          </a:prstGeom>
          <a:ln w="25400">
            <a:solidFill>
              <a:schemeClr val="accent2">
                <a:satOff val="-15111"/>
                <a:lumOff val="-11019"/>
              </a:schemeClr>
            </a:solidFill>
            <a:prstDash val="sysDot"/>
            <a:miter lim="400000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2" name="Line"/>
          <p:cNvSpPr/>
          <p:nvPr/>
        </p:nvSpPr>
        <p:spPr>
          <a:xfrm flipV="1">
            <a:off x="7415092" y="3162379"/>
            <a:ext cx="1288207" cy="200582"/>
          </a:xfrm>
          <a:prstGeom prst="line">
            <a:avLst/>
          </a:prstGeom>
          <a:ln w="25400">
            <a:solidFill>
              <a:schemeClr val="accent2">
                <a:satOff val="-15111"/>
                <a:lumOff val="-11019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grpSp>
        <p:nvGrpSpPr>
          <p:cNvPr id="965" name="Group"/>
          <p:cNvGrpSpPr/>
          <p:nvPr/>
        </p:nvGrpSpPr>
        <p:grpSpPr>
          <a:xfrm>
            <a:off x="8386728" y="3257961"/>
            <a:ext cx="4163663" cy="591821"/>
            <a:chOff x="0" y="0"/>
            <a:chExt cx="4163662" cy="591819"/>
          </a:xfrm>
        </p:grpSpPr>
        <p:sp>
          <p:nvSpPr>
            <p:cNvPr id="963" name="(x,y,z,vx,vy,vz,t,sx,sy,sz,p)"/>
            <p:cNvSpPr txBox="1"/>
            <p:nvPr/>
          </p:nvSpPr>
          <p:spPr>
            <a:xfrm>
              <a:off x="0" y="0"/>
              <a:ext cx="4163663" cy="5918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/>
              <a:r>
                <a:t>(</a:t>
              </a:r>
              <a:r>
                <a:rPr>
                  <a:latin typeface="Courier"/>
                  <a:ea typeface="Courier"/>
                  <a:cs typeface="Courier"/>
                  <a:sym typeface="Courier"/>
                </a:rPr>
                <a:t>x,y,z,vx,vy,vz,t,sx,sy,sz,p)</a:t>
              </a:r>
            </a:p>
          </p:txBody>
        </p:sp>
        <p:sp>
          <p:nvSpPr>
            <p:cNvPr id="964" name="1"/>
            <p:cNvSpPr txBox="1"/>
            <p:nvPr/>
          </p:nvSpPr>
          <p:spPr>
            <a:xfrm>
              <a:off x="3454017" y="86407"/>
              <a:ext cx="127001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baseline="-5999"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pPr>
                <a:defRPr baseline="0">
                  <a:latin typeface="+mn-lt"/>
                  <a:ea typeface="+mn-ea"/>
                  <a:cs typeface="+mn-cs"/>
                  <a:sym typeface="Arial"/>
                </a:defRPr>
              </a:pPr>
              <a:r>
                <a:rPr baseline="-5999">
                  <a:latin typeface="Courier"/>
                  <a:ea typeface="Courier"/>
                  <a:cs typeface="Courier"/>
                  <a:sym typeface="Courier"/>
                </a:rPr>
                <a:t>1</a:t>
              </a:r>
            </a:p>
          </p:txBody>
        </p:sp>
      </p:grpSp>
      <p:grpSp>
        <p:nvGrpSpPr>
          <p:cNvPr id="968" name="Group"/>
          <p:cNvGrpSpPr/>
          <p:nvPr/>
        </p:nvGrpSpPr>
        <p:grpSpPr>
          <a:xfrm>
            <a:off x="1199323" y="4284893"/>
            <a:ext cx="4160684" cy="591821"/>
            <a:chOff x="0" y="0"/>
            <a:chExt cx="4160683" cy="591819"/>
          </a:xfrm>
        </p:grpSpPr>
        <p:sp>
          <p:nvSpPr>
            <p:cNvPr id="966" name="(x,y,z,vx,vy,vz,t,sx,sy,sz,p)"/>
            <p:cNvSpPr txBox="1"/>
            <p:nvPr/>
          </p:nvSpPr>
          <p:spPr>
            <a:xfrm>
              <a:off x="0" y="0"/>
              <a:ext cx="4160684" cy="5918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/>
            <a:p>
              <a:pPr/>
              <a:r>
                <a:t>(</a:t>
              </a:r>
              <a:r>
                <a:rPr>
                  <a:latin typeface="Courier"/>
                  <a:ea typeface="Courier"/>
                  <a:cs typeface="Courier"/>
                  <a:sym typeface="Courier"/>
                </a:rPr>
                <a:t>x,y,z,vx,vy,vz,t,sx,sy,sz,p)</a:t>
              </a:r>
            </a:p>
          </p:txBody>
        </p:sp>
        <p:sp>
          <p:nvSpPr>
            <p:cNvPr id="967" name="0"/>
            <p:cNvSpPr txBox="1"/>
            <p:nvPr/>
          </p:nvSpPr>
          <p:spPr>
            <a:xfrm>
              <a:off x="3451546" y="86407"/>
              <a:ext cx="126910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>
                <a:defRPr baseline="-5999"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pPr>
                <a:defRPr baseline="0">
                  <a:latin typeface="+mn-lt"/>
                  <a:ea typeface="+mn-ea"/>
                  <a:cs typeface="+mn-cs"/>
                  <a:sym typeface="Arial"/>
                </a:defRPr>
              </a:pPr>
              <a:r>
                <a:rPr baseline="-5999">
                  <a:latin typeface="Courier"/>
                  <a:ea typeface="Courier"/>
                  <a:cs typeface="Courier"/>
                  <a:sym typeface="Courier"/>
                </a:rPr>
                <a:t>0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Connection Line"/>
          <p:cNvSpPr/>
          <p:nvPr/>
        </p:nvSpPr>
        <p:spPr>
          <a:xfrm>
            <a:off x="6327506" y="3543160"/>
            <a:ext cx="583030" cy="4926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00" h="21600" fill="norm" stroke="1" extrusionOk="0">
                <a:moveTo>
                  <a:pt x="21400" y="21600"/>
                </a:moveTo>
                <a:cubicBezTo>
                  <a:pt x="6932" y="21214"/>
                  <a:pt x="-200" y="14014"/>
                  <a:pt x="4" y="0"/>
                </a:cubicBezTo>
              </a:path>
            </a:pathLst>
          </a:custGeom>
          <a:ln w="25400">
            <a:solidFill>
              <a:srgbClr val="A7A7A7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971" name="Neutron (ray)-matter interaction 1: reflecting surfac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Neutron (ray)-matter interaction 1: reflecting surface</a:t>
            </a:r>
          </a:p>
        </p:txBody>
      </p:sp>
      <p:sp>
        <p:nvSpPr>
          <p:cNvPr id="972" name="4. Reflec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4. Reflect</a:t>
            </a:r>
          </a:p>
        </p:txBody>
      </p:sp>
      <p:sp>
        <p:nvSpPr>
          <p:cNvPr id="973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984" name="Group"/>
          <p:cNvGrpSpPr/>
          <p:nvPr/>
        </p:nvGrpSpPr>
        <p:grpSpPr>
          <a:xfrm>
            <a:off x="6005601" y="2326369"/>
            <a:ext cx="2202150" cy="2035714"/>
            <a:chOff x="0" y="460122"/>
            <a:chExt cx="2202148" cy="2035712"/>
          </a:xfrm>
        </p:grpSpPr>
        <p:sp>
          <p:nvSpPr>
            <p:cNvPr id="974" name="Line"/>
            <p:cNvSpPr/>
            <p:nvPr/>
          </p:nvSpPr>
          <p:spPr>
            <a:xfrm flipH="1">
              <a:off x="1414812" y="1597502"/>
              <a:ext cx="124045" cy="65680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983" name="Group"/>
            <p:cNvGrpSpPr/>
            <p:nvPr/>
          </p:nvGrpSpPr>
          <p:grpSpPr>
            <a:xfrm>
              <a:off x="-1" y="460122"/>
              <a:ext cx="2202150" cy="2035714"/>
              <a:chOff x="0" y="460122"/>
              <a:chExt cx="2202148" cy="2035712"/>
            </a:xfrm>
          </p:grpSpPr>
          <p:grpSp>
            <p:nvGrpSpPr>
              <p:cNvPr id="979" name="Group"/>
              <p:cNvGrpSpPr/>
              <p:nvPr/>
            </p:nvGrpSpPr>
            <p:grpSpPr>
              <a:xfrm>
                <a:off x="776921" y="460122"/>
                <a:ext cx="1425228" cy="2035714"/>
                <a:chOff x="0" y="460122"/>
                <a:chExt cx="1425226" cy="2035712"/>
              </a:xfrm>
            </p:grpSpPr>
            <p:sp>
              <p:nvSpPr>
                <p:cNvPr id="975" name="Line"/>
                <p:cNvSpPr/>
                <p:nvPr/>
              </p:nvSpPr>
              <p:spPr>
                <a:xfrm flipV="1">
                  <a:off x="25400" y="466037"/>
                  <a:ext cx="1" cy="1561032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</a:ln>
                <a:effectLst>
                  <a:outerShdw sx="100000" sy="100000" kx="0" ky="0" algn="b" rotWithShape="0" blurRad="38100" dist="20000" dir="540000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76" name="Line"/>
                <p:cNvSpPr/>
                <p:nvPr/>
              </p:nvSpPr>
              <p:spPr>
                <a:xfrm flipV="1">
                  <a:off x="1393657" y="934804"/>
                  <a:ext cx="1" cy="1561032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</a:ln>
                <a:effectLst>
                  <a:outerShdw sx="100000" sy="100000" kx="0" ky="0" algn="b" rotWithShape="0" blurRad="38100" dist="20000" dir="540000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77" name="Line"/>
                <p:cNvSpPr/>
                <p:nvPr/>
              </p:nvSpPr>
              <p:spPr>
                <a:xfrm flipH="1" flipV="1">
                  <a:off x="0" y="460122"/>
                  <a:ext cx="1399827" cy="479583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</a:ln>
                <a:effectLst>
                  <a:outerShdw sx="100000" sy="100000" kx="0" ky="0" algn="b" rotWithShape="0" blurRad="38100" dist="20000" dir="540000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78" name="Line"/>
                <p:cNvSpPr/>
                <p:nvPr/>
              </p:nvSpPr>
              <p:spPr>
                <a:xfrm flipH="1" flipV="1">
                  <a:off x="25400" y="2015006"/>
                  <a:ext cx="1399827" cy="479583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</a:ln>
                <a:effectLst>
                  <a:outerShdw sx="100000" sy="100000" kx="0" ky="0" algn="b" rotWithShape="0" blurRad="38100" dist="20000" dir="540000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980" name="Line"/>
              <p:cNvSpPr/>
              <p:nvPr/>
            </p:nvSpPr>
            <p:spPr>
              <a:xfrm flipH="1">
                <a:off x="-1" y="1488209"/>
                <a:ext cx="1419374" cy="751644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>
                <a:outerShdw sx="100000" sy="100000" kx="0" ky="0" algn="b" rotWithShape="0" blurRad="38100" dist="20000" dir="540000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81" name="Line"/>
              <p:cNvSpPr/>
              <p:nvPr/>
            </p:nvSpPr>
            <p:spPr>
              <a:xfrm flipH="1" flipV="1">
                <a:off x="1414812" y="1484842"/>
                <a:ext cx="109040" cy="109040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>
                <a:outerShdw sx="100000" sy="100000" kx="0" ky="0" algn="b" rotWithShape="0" blurRad="38100" dist="20000" dir="540000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82" name="Line"/>
              <p:cNvSpPr/>
              <p:nvPr/>
            </p:nvSpPr>
            <p:spPr>
              <a:xfrm flipH="1" flipV="1">
                <a:off x="1313212" y="1548342"/>
                <a:ext cx="109040" cy="109040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>
                <a:outerShdw sx="100000" sy="100000" kx="0" ky="0" algn="b" rotWithShape="0" blurRad="38100" dist="20000" dir="540000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</p:grpSp>
      <p:sp>
        <p:nvSpPr>
          <p:cNvPr id="985" name="Line"/>
          <p:cNvSpPr/>
          <p:nvPr/>
        </p:nvSpPr>
        <p:spPr>
          <a:xfrm flipV="1">
            <a:off x="2088202" y="4008733"/>
            <a:ext cx="1288206" cy="200582"/>
          </a:xfrm>
          <a:prstGeom prst="line">
            <a:avLst/>
          </a:prstGeom>
          <a:ln w="25400">
            <a:solidFill>
              <a:schemeClr val="accent2">
                <a:satOff val="-15111"/>
                <a:lumOff val="-11019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6" name="Line"/>
          <p:cNvSpPr/>
          <p:nvPr/>
        </p:nvSpPr>
        <p:spPr>
          <a:xfrm flipV="1">
            <a:off x="3383851" y="3377369"/>
            <a:ext cx="3996775" cy="633386"/>
          </a:xfrm>
          <a:prstGeom prst="line">
            <a:avLst/>
          </a:prstGeom>
          <a:ln w="25400">
            <a:solidFill>
              <a:schemeClr val="accent2">
                <a:satOff val="-15111"/>
                <a:lumOff val="-11019"/>
              </a:schemeClr>
            </a:solidFill>
            <a:prstDash val="sysDot"/>
            <a:miter lim="400000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7" name="Line"/>
          <p:cNvSpPr/>
          <p:nvPr/>
        </p:nvSpPr>
        <p:spPr>
          <a:xfrm flipV="1">
            <a:off x="7415092" y="3162379"/>
            <a:ext cx="1288207" cy="200582"/>
          </a:xfrm>
          <a:prstGeom prst="line">
            <a:avLst/>
          </a:prstGeom>
          <a:ln w="25400">
            <a:solidFill>
              <a:schemeClr val="accent2">
                <a:satOff val="-15111"/>
                <a:lumOff val="-11019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grpSp>
        <p:nvGrpSpPr>
          <p:cNvPr id="990" name="Group"/>
          <p:cNvGrpSpPr/>
          <p:nvPr/>
        </p:nvGrpSpPr>
        <p:grpSpPr>
          <a:xfrm>
            <a:off x="8386728" y="3257961"/>
            <a:ext cx="4163663" cy="591821"/>
            <a:chOff x="0" y="0"/>
            <a:chExt cx="4163662" cy="591819"/>
          </a:xfrm>
        </p:grpSpPr>
        <p:sp>
          <p:nvSpPr>
            <p:cNvPr id="988" name="(x,y,z,vx,vy,vz,t,sx,sy,sz,p)"/>
            <p:cNvSpPr txBox="1"/>
            <p:nvPr/>
          </p:nvSpPr>
          <p:spPr>
            <a:xfrm>
              <a:off x="0" y="0"/>
              <a:ext cx="4163663" cy="5918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/>
              <a:r>
                <a:t>(</a:t>
              </a:r>
              <a:r>
                <a:rPr>
                  <a:latin typeface="Courier"/>
                  <a:ea typeface="Courier"/>
                  <a:cs typeface="Courier"/>
                  <a:sym typeface="Courier"/>
                </a:rPr>
                <a:t>x,y,z,vx,vy,vz,t,sx,sy,sz,p)</a:t>
              </a:r>
            </a:p>
          </p:txBody>
        </p:sp>
        <p:sp>
          <p:nvSpPr>
            <p:cNvPr id="989" name="1"/>
            <p:cNvSpPr txBox="1"/>
            <p:nvPr/>
          </p:nvSpPr>
          <p:spPr>
            <a:xfrm>
              <a:off x="3454017" y="86407"/>
              <a:ext cx="127001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baseline="-5999"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pPr>
                <a:defRPr baseline="0">
                  <a:latin typeface="+mn-lt"/>
                  <a:ea typeface="+mn-ea"/>
                  <a:cs typeface="+mn-cs"/>
                  <a:sym typeface="Arial"/>
                </a:defRPr>
              </a:pPr>
              <a:r>
                <a:rPr baseline="-5999">
                  <a:latin typeface="Courier"/>
                  <a:ea typeface="Courier"/>
                  <a:cs typeface="Courier"/>
                  <a:sym typeface="Courier"/>
                </a:rPr>
                <a:t>1</a:t>
              </a:r>
            </a:p>
          </p:txBody>
        </p:sp>
      </p:grpSp>
      <p:grpSp>
        <p:nvGrpSpPr>
          <p:cNvPr id="993" name="Group"/>
          <p:cNvGrpSpPr/>
          <p:nvPr/>
        </p:nvGrpSpPr>
        <p:grpSpPr>
          <a:xfrm>
            <a:off x="1199323" y="4284893"/>
            <a:ext cx="4160684" cy="591821"/>
            <a:chOff x="0" y="0"/>
            <a:chExt cx="4160683" cy="591819"/>
          </a:xfrm>
        </p:grpSpPr>
        <p:sp>
          <p:nvSpPr>
            <p:cNvPr id="991" name="(x,y,z,vx,vy,vz,t,sx,sy,sz,p)"/>
            <p:cNvSpPr txBox="1"/>
            <p:nvPr/>
          </p:nvSpPr>
          <p:spPr>
            <a:xfrm>
              <a:off x="0" y="0"/>
              <a:ext cx="4160684" cy="5918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/>
            <a:p>
              <a:pPr/>
              <a:r>
                <a:t>(</a:t>
              </a:r>
              <a:r>
                <a:rPr>
                  <a:latin typeface="Courier"/>
                  <a:ea typeface="Courier"/>
                  <a:cs typeface="Courier"/>
                  <a:sym typeface="Courier"/>
                </a:rPr>
                <a:t>x,y,z,vx,vy,vz,t,sx,sy,sz,p)</a:t>
              </a:r>
            </a:p>
          </p:txBody>
        </p:sp>
        <p:sp>
          <p:nvSpPr>
            <p:cNvPr id="992" name="0"/>
            <p:cNvSpPr txBox="1"/>
            <p:nvPr/>
          </p:nvSpPr>
          <p:spPr>
            <a:xfrm>
              <a:off x="3451546" y="86407"/>
              <a:ext cx="126910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>
                <a:defRPr baseline="-5999"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pPr>
                <a:defRPr baseline="0">
                  <a:latin typeface="+mn-lt"/>
                  <a:ea typeface="+mn-ea"/>
                  <a:cs typeface="+mn-cs"/>
                  <a:sym typeface="Arial"/>
                </a:defRPr>
              </a:pPr>
              <a:r>
                <a:rPr baseline="-5999">
                  <a:latin typeface="Courier"/>
                  <a:ea typeface="Courier"/>
                  <a:cs typeface="Courier"/>
                  <a:sym typeface="Courier"/>
                </a:rPr>
                <a:t>0</a:t>
              </a:r>
            </a:p>
          </p:txBody>
        </p:sp>
      </p:grpSp>
      <p:sp>
        <p:nvSpPr>
          <p:cNvPr id="994" name="Line"/>
          <p:cNvSpPr/>
          <p:nvPr/>
        </p:nvSpPr>
        <p:spPr>
          <a:xfrm flipH="1">
            <a:off x="6598446" y="3362960"/>
            <a:ext cx="816647" cy="1097913"/>
          </a:xfrm>
          <a:prstGeom prst="line">
            <a:avLst/>
          </a:prstGeom>
          <a:ln w="25400">
            <a:solidFill>
              <a:schemeClr val="accent3">
                <a:lumOff val="-9372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grpSp>
        <p:nvGrpSpPr>
          <p:cNvPr id="997" name="Group"/>
          <p:cNvGrpSpPr/>
          <p:nvPr/>
        </p:nvGrpSpPr>
        <p:grpSpPr>
          <a:xfrm>
            <a:off x="6125630" y="4440346"/>
            <a:ext cx="4163663" cy="591821"/>
            <a:chOff x="0" y="0"/>
            <a:chExt cx="4163662" cy="591819"/>
          </a:xfrm>
        </p:grpSpPr>
        <p:sp>
          <p:nvSpPr>
            <p:cNvPr id="995" name="(x,y,z,vx,vy,vz,t,sx,sy,sz,p)"/>
            <p:cNvSpPr txBox="1"/>
            <p:nvPr/>
          </p:nvSpPr>
          <p:spPr>
            <a:xfrm>
              <a:off x="0" y="0"/>
              <a:ext cx="4163663" cy="5918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/>
              <a:r>
                <a:t>(</a:t>
              </a:r>
              <a:r>
                <a:rPr>
                  <a:latin typeface="Courier"/>
                  <a:ea typeface="Courier"/>
                  <a:cs typeface="Courier"/>
                  <a:sym typeface="Courier"/>
                </a:rPr>
                <a:t>x,y,z,vx,vy,vz,t,sx,sy,sz,p)</a:t>
              </a:r>
            </a:p>
          </p:txBody>
        </p:sp>
        <p:sp>
          <p:nvSpPr>
            <p:cNvPr id="996" name="2"/>
            <p:cNvSpPr txBox="1"/>
            <p:nvPr/>
          </p:nvSpPr>
          <p:spPr>
            <a:xfrm>
              <a:off x="3454017" y="86407"/>
              <a:ext cx="127001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baseline="-5999"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998" name="Weight of final ray is adjusted according to reflectivity, see next slide"/>
          <p:cNvSpPr txBox="1"/>
          <p:nvPr/>
        </p:nvSpPr>
        <p:spPr>
          <a:xfrm>
            <a:off x="2594112" y="5608369"/>
            <a:ext cx="8746996" cy="296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2100"/>
            </a:lvl1pPr>
          </a:lstStyle>
          <a:p>
            <a:pPr/>
            <a:r>
              <a:t>Weight of final ray is adjusted according to reflectivity, see next slide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Parametrisation of reflectivity on mirrors etc.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Parametrisation of reflectivity on mirrors etc.</a:t>
            </a:r>
          </a:p>
        </p:txBody>
      </p:sp>
      <p:sp>
        <p:nvSpPr>
          <p:cNvPr id="1002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1027" name="Group"/>
          <p:cNvGrpSpPr/>
          <p:nvPr/>
        </p:nvGrpSpPr>
        <p:grpSpPr>
          <a:xfrm>
            <a:off x="2374660" y="1431935"/>
            <a:ext cx="8135742" cy="4858506"/>
            <a:chOff x="0" y="0"/>
            <a:chExt cx="8135740" cy="4858504"/>
          </a:xfrm>
        </p:grpSpPr>
        <p:grpSp>
          <p:nvGrpSpPr>
            <p:cNvPr id="1024" name="Group"/>
            <p:cNvGrpSpPr/>
            <p:nvPr/>
          </p:nvGrpSpPr>
          <p:grpSpPr>
            <a:xfrm>
              <a:off x="0" y="-1"/>
              <a:ext cx="8135741" cy="4858506"/>
              <a:chOff x="0" y="0"/>
              <a:chExt cx="8135740" cy="4858504"/>
            </a:xfrm>
          </p:grpSpPr>
          <p:grpSp>
            <p:nvGrpSpPr>
              <p:cNvPr id="1006" name="Group 3"/>
              <p:cNvGrpSpPr/>
              <p:nvPr/>
            </p:nvGrpSpPr>
            <p:grpSpPr>
              <a:xfrm>
                <a:off x="145850" y="0"/>
                <a:ext cx="2423756" cy="2423756"/>
                <a:chOff x="0" y="0"/>
                <a:chExt cx="2423755" cy="2423755"/>
              </a:xfrm>
            </p:grpSpPr>
            <p:pic>
              <p:nvPicPr>
                <p:cNvPr id="1003" name="Picture 9" descr="Picture 9"/>
                <p:cNvPicPr>
                  <a:picLocks noChangeAspect="1"/>
                </p:cNvPicPr>
                <p:nvPr/>
              </p:nvPicPr>
              <p:blipFill>
                <a:blip r:embed="rId2">
                  <a:extLst/>
                </a:blip>
                <a:stretch>
                  <a:fillRect/>
                </a:stretch>
              </p:blipFill>
              <p:spPr>
                <a:xfrm>
                  <a:off x="-1" y="-1"/>
                  <a:ext cx="2423757" cy="242375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sp>
              <p:nvSpPr>
                <p:cNvPr id="1004" name="Line 4"/>
                <p:cNvSpPr/>
                <p:nvPr/>
              </p:nvSpPr>
              <p:spPr>
                <a:xfrm>
                  <a:off x="1377516" y="1206014"/>
                  <a:ext cx="368" cy="44451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829875">
                    <a:spcBef>
                      <a:spcPts val="0"/>
                    </a:spcBef>
                  </a:pPr>
                </a:p>
              </p:txBody>
            </p:sp>
            <p:sp>
              <p:nvSpPr>
                <p:cNvPr id="1005" name="CustomShape 5"/>
                <p:cNvSpPr txBox="1"/>
                <p:nvPr/>
              </p:nvSpPr>
              <p:spPr>
                <a:xfrm>
                  <a:off x="1325113" y="1269777"/>
                  <a:ext cx="232488" cy="34056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0840" tIns="40840" rIns="40840" bIns="40840" numCol="1" anchor="t">
                  <a:noAutofit/>
                </a:bodyPr>
                <a:lstStyle>
                  <a:lvl1pPr defTabSz="829875">
                    <a:lnSpc>
                      <a:spcPct val="93000"/>
                    </a:lnSpc>
                    <a:spcBef>
                      <a:spcPts val="0"/>
                    </a:spcBef>
                    <a:defRPr spc="0"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d</a:t>
                  </a:r>
                </a:p>
              </p:txBody>
            </p:sp>
          </p:grpSp>
          <p:pic>
            <p:nvPicPr>
              <p:cNvPr id="1007" name="Picture 2" descr="Picture 2"/>
              <p:cNvPicPr>
                <a:picLocks noChangeAspect="1"/>
              </p:cNvPicPr>
              <p:nvPr/>
            </p:nvPicPr>
            <p:blipFill>
              <a:blip r:embed="rId3">
                <a:extLst/>
              </a:blip>
              <a:stretch>
                <a:fillRect/>
              </a:stretch>
            </p:blipFill>
            <p:spPr>
              <a:xfrm>
                <a:off x="1319249" y="2418991"/>
                <a:ext cx="1782821" cy="952426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1008" name="Picture 2" descr="Picture 2"/>
              <p:cNvPicPr>
                <a:picLocks noChangeAspect="1"/>
              </p:cNvPicPr>
              <p:nvPr/>
            </p:nvPicPr>
            <p:blipFill>
              <a:blip r:embed="rId4">
                <a:extLst/>
              </a:blip>
              <a:stretch>
                <a:fillRect/>
              </a:stretch>
            </p:blipFill>
            <p:spPr>
              <a:xfrm>
                <a:off x="0" y="2761995"/>
                <a:ext cx="1245592" cy="53613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1009" name="Picture 15" descr="Picture 15"/>
              <p:cNvPicPr>
                <a:picLocks noChangeAspect="1"/>
              </p:cNvPicPr>
              <p:nvPr/>
            </p:nvPicPr>
            <p:blipFill>
              <a:blip r:embed="rId5">
                <a:extLst/>
              </a:blip>
              <a:stretch>
                <a:fillRect/>
              </a:stretch>
            </p:blipFill>
            <p:spPr>
              <a:xfrm>
                <a:off x="3958116" y="146583"/>
                <a:ext cx="4177625" cy="732551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grpSp>
            <p:nvGrpSpPr>
              <p:cNvPr id="1022" name="Group 6"/>
              <p:cNvGrpSpPr/>
              <p:nvPr/>
            </p:nvGrpSpPr>
            <p:grpSpPr>
              <a:xfrm>
                <a:off x="3811532" y="1099374"/>
                <a:ext cx="3957751" cy="3518001"/>
                <a:chOff x="0" y="0"/>
                <a:chExt cx="3957749" cy="3517999"/>
              </a:xfrm>
            </p:grpSpPr>
            <p:pic>
              <p:nvPicPr>
                <p:cNvPr id="1010" name="Picture 19" descr="Picture 19"/>
                <p:cNvPicPr>
                  <a:picLocks noChangeAspect="1"/>
                </p:cNvPicPr>
                <p:nvPr/>
              </p:nvPicPr>
              <p:blipFill>
                <a:blip r:embed="rId6">
                  <a:extLst/>
                </a:blip>
                <a:stretch>
                  <a:fillRect/>
                </a:stretch>
              </p:blipFill>
              <p:spPr>
                <a:xfrm>
                  <a:off x="55701" y="0"/>
                  <a:ext cx="3902049" cy="3518000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sp>
              <p:nvSpPr>
                <p:cNvPr id="1011" name="CustomShape 7"/>
                <p:cNvSpPr txBox="1"/>
                <p:nvPr/>
              </p:nvSpPr>
              <p:spPr>
                <a:xfrm>
                  <a:off x="184328" y="516706"/>
                  <a:ext cx="270325" cy="34056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0840" tIns="40840" rIns="40840" bIns="40840" numCol="1" anchor="t">
                  <a:noAutofit/>
                </a:bodyPr>
                <a:lstStyle>
                  <a:lvl1pPr defTabSz="829875">
                    <a:lnSpc>
                      <a:spcPct val="93000"/>
                    </a:lnSpc>
                    <a:spcBef>
                      <a:spcPts val="0"/>
                    </a:spcBef>
                    <a:defRPr spc="0"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R</a:t>
                  </a:r>
                </a:p>
              </p:txBody>
            </p:sp>
            <p:pic>
              <p:nvPicPr>
                <p:cNvPr id="1012" name="Picture 21" descr="Picture 21"/>
                <p:cNvPicPr>
                  <a:picLocks noChangeAspect="1"/>
                </p:cNvPicPr>
                <p:nvPr/>
              </p:nvPicPr>
              <p:blipFill>
                <a:blip r:embed="rId7">
                  <a:extLst/>
                </a:blip>
                <a:stretch>
                  <a:fillRect/>
                </a:stretch>
              </p:blipFill>
              <p:spPr>
                <a:xfrm>
                  <a:off x="-1" y="486290"/>
                  <a:ext cx="393578" cy="352533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013" name="Picture 22" descr="Picture 22"/>
                <p:cNvPicPr>
                  <a:picLocks noChangeAspect="1"/>
                </p:cNvPicPr>
                <p:nvPr/>
              </p:nvPicPr>
              <p:blipFill>
                <a:blip r:embed="rId8">
                  <a:extLst/>
                </a:blip>
                <a:stretch>
                  <a:fillRect/>
                </a:stretch>
              </p:blipFill>
              <p:spPr>
                <a:xfrm>
                  <a:off x="1662621" y="323582"/>
                  <a:ext cx="462471" cy="19312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014" name="Picture 24" descr="Picture 24"/>
                <p:cNvPicPr>
                  <a:picLocks noChangeAspect="1"/>
                </p:cNvPicPr>
                <p:nvPr/>
              </p:nvPicPr>
              <p:blipFill>
                <a:blip r:embed="rId9">
                  <a:extLst/>
                </a:blip>
                <a:stretch>
                  <a:fillRect/>
                </a:stretch>
              </p:blipFill>
              <p:spPr>
                <a:xfrm>
                  <a:off x="2603686" y="1361392"/>
                  <a:ext cx="994569" cy="87656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sp>
              <p:nvSpPr>
                <p:cNvPr id="1015" name="CustomShape 8"/>
                <p:cNvSpPr/>
                <p:nvPr/>
              </p:nvSpPr>
              <p:spPr>
                <a:xfrm>
                  <a:off x="949493" y="1162405"/>
                  <a:ext cx="111404" cy="25798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829875">
                    <a:spcBef>
                      <a:spcPts val="0"/>
                    </a:spcBef>
                  </a:pPr>
                </a:p>
              </p:txBody>
            </p:sp>
            <p:sp>
              <p:nvSpPr>
                <p:cNvPr id="1016" name="CustomShape 9"/>
                <p:cNvSpPr/>
                <p:nvPr/>
              </p:nvSpPr>
              <p:spPr>
                <a:xfrm>
                  <a:off x="1396205" y="839555"/>
                  <a:ext cx="111405" cy="25798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829875">
                    <a:spcBef>
                      <a:spcPts val="0"/>
                    </a:spcBef>
                  </a:pPr>
                </a:p>
              </p:txBody>
            </p:sp>
            <p:sp>
              <p:nvSpPr>
                <p:cNvPr id="1017" name="CustomShape 10"/>
                <p:cNvSpPr/>
                <p:nvPr/>
              </p:nvSpPr>
              <p:spPr>
                <a:xfrm>
                  <a:off x="1842918" y="1162405"/>
                  <a:ext cx="111405" cy="25798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829875">
                    <a:spcBef>
                      <a:spcPts val="0"/>
                    </a:spcBef>
                  </a:pPr>
                </a:p>
              </p:txBody>
            </p:sp>
            <p:sp>
              <p:nvSpPr>
                <p:cNvPr id="1018" name="CustomShape 11"/>
                <p:cNvSpPr/>
                <p:nvPr/>
              </p:nvSpPr>
              <p:spPr>
                <a:xfrm>
                  <a:off x="2401401" y="839555"/>
                  <a:ext cx="111404" cy="25798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829875">
                    <a:spcBef>
                      <a:spcPts val="0"/>
                    </a:spcBef>
                  </a:pPr>
                </a:p>
              </p:txBody>
            </p:sp>
            <p:sp>
              <p:nvSpPr>
                <p:cNvPr id="1019" name="CustomShape 12"/>
                <p:cNvSpPr/>
                <p:nvPr/>
              </p:nvSpPr>
              <p:spPr>
                <a:xfrm>
                  <a:off x="446712" y="3099137"/>
                  <a:ext cx="2848115" cy="386981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829875">
                    <a:spcBef>
                      <a:spcPts val="0"/>
                    </a:spcBef>
                  </a:pPr>
                </a:p>
              </p:txBody>
            </p:sp>
            <p:sp>
              <p:nvSpPr>
                <p:cNvPr id="1020" name="CustomShape 13"/>
                <p:cNvSpPr/>
                <p:nvPr/>
              </p:nvSpPr>
              <p:spPr>
                <a:xfrm>
                  <a:off x="111769" y="904052"/>
                  <a:ext cx="278876" cy="1678380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829875">
                    <a:spcBef>
                      <a:spcPts val="0"/>
                    </a:spcBef>
                  </a:pPr>
                </a:p>
              </p:txBody>
            </p:sp>
            <p:pic>
              <p:nvPicPr>
                <p:cNvPr id="1021" name="Picture 23" descr="Picture 23"/>
                <p:cNvPicPr>
                  <a:picLocks noChangeAspect="1"/>
                </p:cNvPicPr>
                <p:nvPr/>
              </p:nvPicPr>
              <p:blipFill>
                <a:blip r:embed="rId10">
                  <a:extLst/>
                </a:blip>
                <a:stretch>
                  <a:fillRect/>
                </a:stretch>
              </p:blipFill>
              <p:spPr>
                <a:xfrm>
                  <a:off x="2345699" y="3034640"/>
                  <a:ext cx="304894" cy="19312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  <p:pic>
            <p:nvPicPr>
              <p:cNvPr id="1023" name="Picture 31" descr="Picture 31"/>
              <p:cNvPicPr>
                <a:picLocks noChangeAspect="1"/>
              </p:cNvPicPr>
              <p:nvPr/>
            </p:nvPicPr>
            <p:blipFill>
              <a:blip r:embed="rId11">
                <a:extLst/>
              </a:blip>
              <a:stretch>
                <a:fillRect/>
              </a:stretch>
            </p:blipFill>
            <p:spPr>
              <a:xfrm>
                <a:off x="146583" y="3811532"/>
                <a:ext cx="2507675" cy="1046973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1025" name="Picture 33" descr="Picture 33"/>
            <p:cNvPicPr>
              <a:picLocks noChangeAspect="1"/>
            </p:cNvPicPr>
            <p:nvPr/>
          </p:nvPicPr>
          <p:blipFill>
            <a:blip r:embed="rId12">
              <a:extLst/>
            </a:blip>
            <a:stretch>
              <a:fillRect/>
            </a:stretch>
          </p:blipFill>
          <p:spPr>
            <a:xfrm>
              <a:off x="7696357" y="4031407"/>
              <a:ext cx="335677" cy="42619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26" name="Picture 2" descr="Picture 2"/>
            <p:cNvPicPr>
              <a:picLocks noChangeAspect="1"/>
            </p:cNvPicPr>
            <p:nvPr/>
          </p:nvPicPr>
          <p:blipFill>
            <a:blip r:embed="rId13">
              <a:extLst/>
            </a:blip>
            <a:stretch>
              <a:fillRect/>
            </a:stretch>
          </p:blipFill>
          <p:spPr>
            <a:xfrm>
              <a:off x="5204073" y="4324574"/>
              <a:ext cx="516707" cy="42619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028" name="(i.e. Q is calculated for given neutron, reflectivity encoded in changed p value)"/>
          <p:cNvSpPr/>
          <p:nvPr/>
        </p:nvSpPr>
        <p:spPr>
          <a:xfrm>
            <a:off x="10294107" y="3115049"/>
            <a:ext cx="1852642" cy="127000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/>
          <a:p>
            <a:pPr/>
            <a:r>
              <a:t>(i.e. Q is calculated for given neutron, reflectivity encoded in </a:t>
            </a:r>
            <a:r>
              <a:rPr b="1"/>
              <a:t>changed </a:t>
            </a:r>
            <a:r>
              <a:rPr b="1" i="1"/>
              <a:t>p</a:t>
            </a:r>
            <a:r>
              <a:rPr b="1"/>
              <a:t> value</a:t>
            </a:r>
            <a:r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Neutron (ray)-matter interaction in Genera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Neutron (ray)-matter interaction in General</a:t>
            </a:r>
          </a:p>
        </p:txBody>
      </p:sp>
      <p:sp>
        <p:nvSpPr>
          <p:cNvPr id="10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1054" name="Group"/>
          <p:cNvGrpSpPr/>
          <p:nvPr/>
        </p:nvGrpSpPr>
        <p:grpSpPr>
          <a:xfrm>
            <a:off x="1560087" y="775820"/>
            <a:ext cx="9704521" cy="5686339"/>
            <a:chOff x="0" y="0"/>
            <a:chExt cx="9704520" cy="5686338"/>
          </a:xfrm>
        </p:grpSpPr>
        <p:grpSp>
          <p:nvGrpSpPr>
            <p:cNvPr id="1052" name="Group 2"/>
            <p:cNvGrpSpPr/>
            <p:nvPr/>
          </p:nvGrpSpPr>
          <p:grpSpPr>
            <a:xfrm>
              <a:off x="347437" y="0"/>
              <a:ext cx="8366380" cy="3885109"/>
              <a:chOff x="0" y="0"/>
              <a:chExt cx="8366378" cy="3885108"/>
            </a:xfrm>
          </p:grpSpPr>
          <p:sp>
            <p:nvSpPr>
              <p:cNvPr id="1032" name="CustomShape 3"/>
              <p:cNvSpPr/>
              <p:nvPr/>
            </p:nvSpPr>
            <p:spPr>
              <a:xfrm>
                <a:off x="3474965" y="1303336"/>
                <a:ext cx="1058211" cy="2581773"/>
              </a:xfrm>
              <a:prstGeom prst="rect">
                <a:avLst/>
              </a:prstGeom>
              <a:solidFill>
                <a:srgbClr val="76D6FF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645458">
                  <a:spcBef>
                    <a:spcPts val="0"/>
                  </a:spcBef>
                  <a:defRPr sz="1200"/>
                </a:pPr>
              </a:p>
            </p:txBody>
          </p:sp>
          <p:sp>
            <p:nvSpPr>
              <p:cNvPr id="1033" name="Line 4"/>
              <p:cNvSpPr/>
              <p:nvPr/>
            </p:nvSpPr>
            <p:spPr>
              <a:xfrm flipH="1" flipV="1">
                <a:off x="3300" y="1988608"/>
                <a:ext cx="8360980" cy="1"/>
              </a:xfrm>
              <a:prstGeom prst="line">
                <a:avLst/>
              </a:prstGeom>
              <a:noFill/>
              <a:ln w="25400" cap="flat">
                <a:solidFill>
                  <a:srgbClr val="77BB41"/>
                </a:solidFill>
                <a:prstDash val="solid"/>
                <a:miter lim="800000"/>
                <a:head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645458">
                  <a:spcBef>
                    <a:spcPts val="0"/>
                  </a:spcBef>
                  <a:defRPr sz="1200"/>
                </a:pPr>
              </a:p>
            </p:txBody>
          </p:sp>
          <p:sp>
            <p:nvSpPr>
              <p:cNvPr id="1034" name="Line 5"/>
              <p:cNvSpPr/>
              <p:nvPr/>
            </p:nvSpPr>
            <p:spPr>
              <a:xfrm flipH="1" flipV="1">
                <a:off x="3300" y="1832592"/>
                <a:ext cx="3878209" cy="1501"/>
              </a:xfrm>
              <a:prstGeom prst="line">
                <a:avLst/>
              </a:prstGeom>
              <a:noFill/>
              <a:ln w="25400" cap="flat">
                <a:solidFill>
                  <a:srgbClr val="FF4013"/>
                </a:solidFill>
                <a:prstDash val="solid"/>
                <a:miter lim="800000"/>
                <a:head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645458">
                  <a:spcBef>
                    <a:spcPts val="0"/>
                  </a:spcBef>
                  <a:defRPr sz="1200"/>
                </a:pPr>
              </a:p>
            </p:txBody>
          </p:sp>
          <p:sp>
            <p:nvSpPr>
              <p:cNvPr id="1035" name="Line 6"/>
              <p:cNvSpPr/>
              <p:nvPr/>
            </p:nvSpPr>
            <p:spPr>
              <a:xfrm flipH="1" flipV="1">
                <a:off x="3301" y="1674776"/>
                <a:ext cx="4363359" cy="2100"/>
              </a:xfrm>
              <a:prstGeom prst="line">
                <a:avLst/>
              </a:prstGeom>
              <a:noFill/>
              <a:ln w="25400" cap="flat">
                <a:solidFill>
                  <a:srgbClr val="9929BD"/>
                </a:solidFill>
                <a:prstDash val="solid"/>
                <a:miter lim="800000"/>
                <a:head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645458">
                  <a:spcBef>
                    <a:spcPts val="0"/>
                  </a:spcBef>
                  <a:defRPr sz="1200"/>
                </a:pPr>
              </a:p>
            </p:txBody>
          </p:sp>
          <p:sp>
            <p:nvSpPr>
              <p:cNvPr id="1036" name="Line 7"/>
              <p:cNvSpPr/>
              <p:nvPr/>
            </p:nvSpPr>
            <p:spPr>
              <a:xfrm flipH="1">
                <a:off x="0" y="3477365"/>
                <a:ext cx="4149136" cy="7202"/>
              </a:xfrm>
              <a:prstGeom prst="line">
                <a:avLst/>
              </a:prstGeom>
              <a:noFill/>
              <a:ln w="25400" cap="flat">
                <a:solidFill>
                  <a:srgbClr val="9929BD"/>
                </a:solidFill>
                <a:prstDash val="solid"/>
                <a:miter lim="800000"/>
                <a:head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645458">
                  <a:spcBef>
                    <a:spcPts val="0"/>
                  </a:spcBef>
                  <a:defRPr sz="1200"/>
                </a:pPr>
              </a:p>
            </p:txBody>
          </p:sp>
          <p:sp>
            <p:nvSpPr>
              <p:cNvPr id="1037" name="Line 8"/>
              <p:cNvSpPr/>
              <p:nvPr/>
            </p:nvSpPr>
            <p:spPr>
              <a:xfrm flipH="1" flipV="1">
                <a:off x="3301" y="3092425"/>
                <a:ext cx="3699689" cy="9001"/>
              </a:xfrm>
              <a:prstGeom prst="line">
                <a:avLst/>
              </a:prstGeom>
              <a:noFill/>
              <a:ln w="25400" cap="flat">
                <a:solidFill>
                  <a:srgbClr val="FF4013"/>
                </a:solidFill>
                <a:prstDash val="solid"/>
                <a:miter lim="800000"/>
                <a:head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645458">
                  <a:spcBef>
                    <a:spcPts val="0"/>
                  </a:spcBef>
                  <a:defRPr sz="1200"/>
                </a:pPr>
              </a:p>
            </p:txBody>
          </p:sp>
          <p:sp>
            <p:nvSpPr>
              <p:cNvPr id="1038" name="Line 9"/>
              <p:cNvSpPr/>
              <p:nvPr/>
            </p:nvSpPr>
            <p:spPr>
              <a:xfrm flipH="1">
                <a:off x="3301" y="3704189"/>
                <a:ext cx="4239145" cy="2701"/>
              </a:xfrm>
              <a:prstGeom prst="line">
                <a:avLst/>
              </a:prstGeom>
              <a:noFill/>
              <a:ln w="25400" cap="flat">
                <a:solidFill>
                  <a:srgbClr val="FF4013"/>
                </a:solidFill>
                <a:prstDash val="solid"/>
                <a:miter lim="800000"/>
                <a:head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645458">
                  <a:spcBef>
                    <a:spcPts val="0"/>
                  </a:spcBef>
                  <a:defRPr sz="1200"/>
                </a:pPr>
              </a:p>
            </p:txBody>
          </p:sp>
          <p:sp>
            <p:nvSpPr>
              <p:cNvPr id="1039" name="Line 10"/>
              <p:cNvSpPr/>
              <p:nvPr/>
            </p:nvSpPr>
            <p:spPr>
              <a:xfrm flipH="1">
                <a:off x="4237045" y="1159921"/>
                <a:ext cx="3550574" cy="2291942"/>
              </a:xfrm>
              <a:prstGeom prst="line">
                <a:avLst/>
              </a:prstGeom>
              <a:noFill/>
              <a:ln w="25400" cap="flat">
                <a:solidFill>
                  <a:srgbClr val="9929BD"/>
                </a:solidFill>
                <a:prstDash val="solid"/>
                <a:miter lim="800000"/>
                <a:head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645458">
                  <a:spcBef>
                    <a:spcPts val="0"/>
                  </a:spcBef>
                  <a:defRPr sz="1200"/>
                </a:pPr>
              </a:p>
            </p:txBody>
          </p:sp>
          <p:sp>
            <p:nvSpPr>
              <p:cNvPr id="1040" name="Line 11"/>
              <p:cNvSpPr/>
              <p:nvPr/>
            </p:nvSpPr>
            <p:spPr>
              <a:xfrm>
                <a:off x="338735" y="-1"/>
                <a:ext cx="4014423" cy="1630973"/>
              </a:xfrm>
              <a:prstGeom prst="line">
                <a:avLst/>
              </a:prstGeom>
              <a:noFill/>
              <a:ln w="25400" cap="flat">
                <a:solidFill>
                  <a:srgbClr val="9929BD"/>
                </a:solidFill>
                <a:prstDash val="solid"/>
                <a:miter lim="800000"/>
                <a:head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645458">
                  <a:spcBef>
                    <a:spcPts val="0"/>
                  </a:spcBef>
                  <a:defRPr sz="1200"/>
                </a:pPr>
              </a:p>
            </p:txBody>
          </p:sp>
          <p:sp>
            <p:nvSpPr>
              <p:cNvPr id="1041" name="Line 12"/>
              <p:cNvSpPr/>
              <p:nvPr/>
            </p:nvSpPr>
            <p:spPr>
              <a:xfrm flipH="1">
                <a:off x="3301" y="2160827"/>
                <a:ext cx="8360978" cy="17703"/>
              </a:xfrm>
              <a:prstGeom prst="line">
                <a:avLst/>
              </a:prstGeom>
              <a:noFill/>
              <a:ln w="25400" cap="flat">
                <a:solidFill>
                  <a:srgbClr val="77BB41"/>
                </a:solidFill>
                <a:prstDash val="solid"/>
                <a:miter lim="800000"/>
                <a:head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645458">
                  <a:spcBef>
                    <a:spcPts val="0"/>
                  </a:spcBef>
                  <a:defRPr sz="1200"/>
                </a:pPr>
              </a:p>
            </p:txBody>
          </p:sp>
          <p:sp>
            <p:nvSpPr>
              <p:cNvPr id="1042" name="Line 13"/>
              <p:cNvSpPr/>
              <p:nvPr/>
            </p:nvSpPr>
            <p:spPr>
              <a:xfrm flipH="1">
                <a:off x="3300" y="2330045"/>
                <a:ext cx="8360980" cy="17102"/>
              </a:xfrm>
              <a:prstGeom prst="line">
                <a:avLst/>
              </a:prstGeom>
              <a:noFill/>
              <a:ln w="25400" cap="flat">
                <a:solidFill>
                  <a:srgbClr val="77BB41"/>
                </a:solidFill>
                <a:prstDash val="solid"/>
                <a:miter lim="800000"/>
                <a:head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645458">
                  <a:spcBef>
                    <a:spcPts val="0"/>
                  </a:spcBef>
                  <a:defRPr sz="1200"/>
                </a:pPr>
              </a:p>
            </p:txBody>
          </p:sp>
          <p:sp>
            <p:nvSpPr>
              <p:cNvPr id="1043" name="Line 14"/>
              <p:cNvSpPr/>
              <p:nvPr/>
            </p:nvSpPr>
            <p:spPr>
              <a:xfrm flipH="1">
                <a:off x="3300" y="2551468"/>
                <a:ext cx="8363080" cy="11402"/>
              </a:xfrm>
              <a:prstGeom prst="line">
                <a:avLst/>
              </a:prstGeom>
              <a:noFill/>
              <a:ln w="25400" cap="flat">
                <a:solidFill>
                  <a:srgbClr val="77BB41"/>
                </a:solidFill>
                <a:prstDash val="solid"/>
                <a:miter lim="800000"/>
                <a:head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645458">
                  <a:spcBef>
                    <a:spcPts val="0"/>
                  </a:spcBef>
                  <a:defRPr sz="1200"/>
                </a:pPr>
              </a:p>
            </p:txBody>
          </p:sp>
          <p:sp>
            <p:nvSpPr>
              <p:cNvPr id="1044" name="CustomShape 15"/>
              <p:cNvSpPr/>
              <p:nvPr/>
            </p:nvSpPr>
            <p:spPr>
              <a:xfrm>
                <a:off x="3866806" y="1768985"/>
                <a:ext cx="105612" cy="116114"/>
              </a:xfrm>
              <a:prstGeom prst="ellipse">
                <a:avLst/>
              </a:prstGeom>
              <a:solidFill>
                <a:srgbClr val="000000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645458">
                  <a:spcBef>
                    <a:spcPts val="0"/>
                  </a:spcBef>
                  <a:defRPr sz="1200"/>
                </a:pPr>
              </a:p>
            </p:txBody>
          </p:sp>
          <p:sp>
            <p:nvSpPr>
              <p:cNvPr id="1045" name="CustomShape 16"/>
              <p:cNvSpPr/>
              <p:nvPr/>
            </p:nvSpPr>
            <p:spPr>
              <a:xfrm>
                <a:off x="3697588" y="3049520"/>
                <a:ext cx="105612" cy="116113"/>
              </a:xfrm>
              <a:prstGeom prst="ellipse">
                <a:avLst/>
              </a:prstGeom>
              <a:solidFill>
                <a:srgbClr val="000000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645458">
                  <a:spcBef>
                    <a:spcPts val="0"/>
                  </a:spcBef>
                  <a:defRPr sz="1200"/>
                </a:pPr>
              </a:p>
            </p:txBody>
          </p:sp>
          <p:sp>
            <p:nvSpPr>
              <p:cNvPr id="1046" name="CustomShape 17"/>
              <p:cNvSpPr/>
              <p:nvPr/>
            </p:nvSpPr>
            <p:spPr>
              <a:xfrm>
                <a:off x="4142535" y="3420359"/>
                <a:ext cx="105612" cy="116113"/>
              </a:xfrm>
              <a:prstGeom prst="ellipse">
                <a:avLst/>
              </a:prstGeom>
              <a:solidFill>
                <a:srgbClr val="000000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645458">
                  <a:spcBef>
                    <a:spcPts val="0"/>
                  </a:spcBef>
                  <a:defRPr sz="1200"/>
                </a:pPr>
              </a:p>
            </p:txBody>
          </p:sp>
          <p:sp>
            <p:nvSpPr>
              <p:cNvPr id="1047" name="CustomShape 18"/>
              <p:cNvSpPr/>
              <p:nvPr/>
            </p:nvSpPr>
            <p:spPr>
              <a:xfrm>
                <a:off x="4227143" y="3642683"/>
                <a:ext cx="105613" cy="116113"/>
              </a:xfrm>
              <a:prstGeom prst="ellipse">
                <a:avLst/>
              </a:prstGeom>
              <a:solidFill>
                <a:srgbClr val="000000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645458">
                  <a:spcBef>
                    <a:spcPts val="0"/>
                  </a:spcBef>
                  <a:defRPr sz="1200"/>
                </a:pPr>
              </a:p>
            </p:txBody>
          </p:sp>
          <p:sp>
            <p:nvSpPr>
              <p:cNvPr id="1048" name="CustomShape 19"/>
              <p:cNvSpPr/>
              <p:nvPr/>
            </p:nvSpPr>
            <p:spPr>
              <a:xfrm>
                <a:off x="4311453" y="1621070"/>
                <a:ext cx="105612" cy="116113"/>
              </a:xfrm>
              <a:prstGeom prst="ellipse">
                <a:avLst/>
              </a:prstGeom>
              <a:solidFill>
                <a:srgbClr val="000000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645458">
                  <a:spcBef>
                    <a:spcPts val="0"/>
                  </a:spcBef>
                  <a:defRPr sz="1200"/>
                </a:pPr>
              </a:p>
            </p:txBody>
          </p:sp>
          <p:sp>
            <p:nvSpPr>
              <p:cNvPr id="1049" name="Line 20"/>
              <p:cNvSpPr/>
              <p:nvPr/>
            </p:nvSpPr>
            <p:spPr>
              <a:xfrm flipH="1">
                <a:off x="3300" y="3261342"/>
                <a:ext cx="8363080" cy="11703"/>
              </a:xfrm>
              <a:prstGeom prst="line">
                <a:avLst/>
              </a:prstGeom>
              <a:noFill/>
              <a:ln w="25400" cap="flat">
                <a:solidFill>
                  <a:srgbClr val="77BB41"/>
                </a:solidFill>
                <a:prstDash val="solid"/>
                <a:miter lim="800000"/>
                <a:head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645458">
                  <a:spcBef>
                    <a:spcPts val="0"/>
                  </a:spcBef>
                  <a:defRPr sz="1200"/>
                </a:pPr>
              </a:p>
            </p:txBody>
          </p:sp>
          <p:sp>
            <p:nvSpPr>
              <p:cNvPr id="1050" name="Line 21"/>
              <p:cNvSpPr/>
              <p:nvPr/>
            </p:nvSpPr>
            <p:spPr>
              <a:xfrm flipH="1">
                <a:off x="3301" y="2911806"/>
                <a:ext cx="8360978" cy="11401"/>
              </a:xfrm>
              <a:prstGeom prst="line">
                <a:avLst/>
              </a:prstGeom>
              <a:noFill/>
              <a:ln w="25400" cap="flat">
                <a:solidFill>
                  <a:srgbClr val="77BB41"/>
                </a:solidFill>
                <a:prstDash val="solid"/>
                <a:miter lim="800000"/>
                <a:head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645458">
                  <a:spcBef>
                    <a:spcPts val="0"/>
                  </a:spcBef>
                  <a:defRPr sz="1200"/>
                </a:pPr>
              </a:p>
            </p:txBody>
          </p:sp>
          <p:sp>
            <p:nvSpPr>
              <p:cNvPr id="1051" name="Line 22"/>
              <p:cNvSpPr/>
              <p:nvPr/>
            </p:nvSpPr>
            <p:spPr>
              <a:xfrm flipH="1">
                <a:off x="3300" y="1493856"/>
                <a:ext cx="8363080" cy="11403"/>
              </a:xfrm>
              <a:prstGeom prst="line">
                <a:avLst/>
              </a:prstGeom>
              <a:noFill/>
              <a:ln w="25400" cap="flat">
                <a:solidFill>
                  <a:srgbClr val="77BB41"/>
                </a:solidFill>
                <a:prstDash val="solid"/>
                <a:miter lim="800000"/>
                <a:head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645458">
                  <a:spcBef>
                    <a:spcPts val="0"/>
                  </a:spcBef>
                  <a:defRPr sz="1200"/>
                </a:pPr>
              </a:p>
            </p:txBody>
          </p:sp>
        </p:grpSp>
        <p:sp>
          <p:nvSpPr>
            <p:cNvPr id="1053" name="CustomShape 23"/>
            <p:cNvSpPr txBox="1"/>
            <p:nvPr/>
          </p:nvSpPr>
          <p:spPr>
            <a:xfrm>
              <a:off x="0" y="4911976"/>
              <a:ext cx="9704521" cy="7743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5830" tIns="35830" rIns="35830" bIns="35830" numCol="1" anchor="t">
              <a:noAutofit/>
            </a:bodyPr>
            <a:lstStyle/>
            <a:p>
              <a:pPr defTabSz="645458">
                <a:spcBef>
                  <a:spcPts val="0"/>
                </a:spcBef>
                <a:defRPr spc="0" sz="2000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defRPr>
              </a:pPr>
              <a:r>
                <a:t>A neutron hitting a sample can be:</a:t>
              </a:r>
            </a:p>
            <a:p>
              <a:pPr defTabSz="645458">
                <a:spcBef>
                  <a:spcPts val="0"/>
                </a:spcBef>
                <a:defRPr spc="0" sz="2000">
                  <a:solidFill>
                    <a:srgbClr val="FF4013"/>
                  </a:solidFill>
                  <a:latin typeface="Gill Sans"/>
                  <a:ea typeface="Gill Sans"/>
                  <a:cs typeface="Gill Sans"/>
                  <a:sym typeface="Gill Sans"/>
                </a:defRPr>
              </a:pPr>
              <a:r>
                <a:t>absorbed</a:t>
              </a:r>
              <a:r>
                <a:rPr>
                  <a:solidFill>
                    <a:srgbClr val="000000"/>
                  </a:solidFill>
                </a:rPr>
                <a:t>, </a:t>
              </a:r>
              <a:r>
                <a:rPr>
                  <a:solidFill>
                    <a:srgbClr val="77BB41"/>
                  </a:solidFill>
                </a:rPr>
                <a:t>transmitted</a:t>
              </a:r>
              <a:r>
                <a:rPr>
                  <a:solidFill>
                    <a:srgbClr val="000000"/>
                  </a:solidFill>
                </a:rPr>
                <a:t>, or </a:t>
              </a:r>
              <a:r>
                <a:rPr>
                  <a:solidFill>
                    <a:srgbClr val="7B219F"/>
                  </a:solidFill>
                </a:rPr>
                <a:t>scattered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057" name="droppedImage.pdf" descr="dropped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955654" y="2911934"/>
            <a:ext cx="3644811" cy="375078"/>
          </a:xfrm>
          <a:prstGeom prst="rect">
            <a:avLst/>
          </a:prstGeom>
          <a:ln w="25400">
            <a:solidFill>
              <a:srgbClr val="BE38F3"/>
            </a:solidFill>
            <a:miter/>
          </a:ln>
        </p:spPr>
      </p:pic>
      <p:pic>
        <p:nvPicPr>
          <p:cNvPr id="1058" name="droppedImage.pdf" descr="droppedImage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937866" y="2197101"/>
            <a:ext cx="3689281" cy="375078"/>
          </a:xfrm>
          <a:prstGeom prst="rect">
            <a:avLst/>
          </a:prstGeom>
          <a:ln w="25400">
            <a:solidFill>
              <a:srgbClr val="FF4013"/>
            </a:solidFill>
            <a:miter/>
          </a:ln>
        </p:spPr>
      </p:pic>
      <p:pic>
        <p:nvPicPr>
          <p:cNvPr id="1059" name="droppedImage.pdf" descr="droppedImage.pd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937866" y="3626258"/>
            <a:ext cx="3689281" cy="357037"/>
          </a:xfrm>
          <a:prstGeom prst="rect">
            <a:avLst/>
          </a:prstGeom>
          <a:ln w="25400">
            <a:solidFill>
              <a:srgbClr val="77BB41"/>
            </a:solidFill>
            <a:miter/>
          </a:ln>
        </p:spPr>
      </p:pic>
      <p:sp>
        <p:nvSpPr>
          <p:cNvPr id="1060" name="CustomShape 1"/>
          <p:cNvSpPr txBox="1"/>
          <p:nvPr/>
        </p:nvSpPr>
        <p:spPr>
          <a:xfrm>
            <a:off x="2129945" y="1281307"/>
            <a:ext cx="8192246" cy="656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830" tIns="35830" rIns="35830" bIns="35830">
            <a:spAutoFit/>
          </a:bodyPr>
          <a:lstStyle/>
          <a:p>
            <a:pPr defTabSz="645458">
              <a:spcBef>
                <a:spcPts val="0"/>
              </a:spcBef>
              <a:defRPr spc="0" sz="20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pPr>
            <a:r>
              <a:rPr>
                <a:solidFill>
                  <a:srgbClr val="000000"/>
                </a:solidFill>
              </a:rPr>
              <a:t>For a </a:t>
            </a:r>
            <a:r>
              <a:rPr b="1">
                <a:solidFill>
                  <a:srgbClr val="000000"/>
                </a:solidFill>
              </a:rPr>
              <a:t>non-thin</a:t>
            </a:r>
            <a:r>
              <a:rPr>
                <a:solidFill>
                  <a:srgbClr val="000000"/>
                </a:solidFill>
              </a:rPr>
              <a:t> sample the probabilities for</a:t>
            </a:r>
            <a:r>
              <a:t> </a:t>
            </a:r>
            <a:r>
              <a:rPr>
                <a:solidFill>
                  <a:srgbClr val="FF4013"/>
                </a:solidFill>
              </a:rPr>
              <a:t>absorption</a:t>
            </a:r>
            <a:r>
              <a:rPr>
                <a:solidFill>
                  <a:srgbClr val="000000"/>
                </a:solidFill>
              </a:rPr>
              <a:t>, </a:t>
            </a:r>
            <a:r>
              <a:rPr>
                <a:solidFill>
                  <a:srgbClr val="77BB41"/>
                </a:solidFill>
              </a:rPr>
              <a:t>transmission</a:t>
            </a:r>
            <a:r>
              <a:t> </a:t>
            </a:r>
            <a:r>
              <a:rPr>
                <a:solidFill>
                  <a:srgbClr val="000000"/>
                </a:solidFill>
              </a:rPr>
              <a:t>or</a:t>
            </a:r>
            <a:r>
              <a:t> </a:t>
            </a:r>
            <a:r>
              <a:rPr>
                <a:solidFill>
                  <a:srgbClr val="7B219F"/>
                </a:solidFill>
              </a:rPr>
              <a:t>scattering </a:t>
            </a:r>
            <a:r>
              <a:rPr>
                <a:solidFill>
                  <a:srgbClr val="000000"/>
                </a:solidFill>
              </a:rPr>
              <a:t>are given by</a:t>
            </a:r>
          </a:p>
        </p:txBody>
      </p:sp>
      <p:sp>
        <p:nvSpPr>
          <p:cNvPr id="1061" name="CustomShape 2"/>
          <p:cNvSpPr txBox="1"/>
          <p:nvPr/>
        </p:nvSpPr>
        <p:spPr>
          <a:xfrm>
            <a:off x="6042595" y="4560649"/>
            <a:ext cx="1811159" cy="313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830" tIns="35830" rIns="35830" bIns="35830">
            <a:spAutoFit/>
          </a:bodyPr>
          <a:lstStyle/>
          <a:p>
            <a:pPr defTabSz="645458">
              <a:spcBef>
                <a:spcPts val="0"/>
              </a:spcBef>
              <a:defRPr b="1" spc="0">
                <a:latin typeface="Gill Sans"/>
                <a:ea typeface="Gill Sans"/>
                <a:cs typeface="Gill Sans"/>
                <a:sym typeface="Gill Sans"/>
              </a:defRPr>
            </a:pPr>
            <a:r>
              <a:t>t = </a:t>
            </a:r>
            <a:r>
              <a:rPr b="0"/>
              <a:t>sample thickness</a:t>
            </a:r>
          </a:p>
        </p:txBody>
      </p:sp>
      <p:sp>
        <p:nvSpPr>
          <p:cNvPr id="1062" name="Line 3"/>
          <p:cNvSpPr/>
          <p:nvPr/>
        </p:nvSpPr>
        <p:spPr>
          <a:xfrm>
            <a:off x="6571541" y="5200009"/>
            <a:ext cx="836302" cy="375587"/>
          </a:xfrm>
          <a:prstGeom prst="line">
            <a:avLst/>
          </a:prstGeom>
          <a:ln w="25400">
            <a:solidFill>
              <a:srgbClr val="000000"/>
            </a:solidFill>
            <a:miter/>
            <a:headEnd type="stealth"/>
          </a:ln>
        </p:spPr>
        <p:txBody>
          <a:bodyPr lIns="0" tIns="0" rIns="0" bIns="0"/>
          <a:lstStyle/>
          <a:p>
            <a:pPr defTabSz="645458">
              <a:spcBef>
                <a:spcPts val="0"/>
              </a:spcBef>
              <a:defRPr sz="1200"/>
            </a:pPr>
          </a:p>
        </p:txBody>
      </p:sp>
      <p:pic>
        <p:nvPicPr>
          <p:cNvPr id="1063" name="droppedImage.pdf" descr="droppedImage.pdf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446817" y="4885919"/>
            <a:ext cx="1288377" cy="303672"/>
          </a:xfrm>
          <a:prstGeom prst="rect">
            <a:avLst/>
          </a:prstGeom>
          <a:ln w="12700">
            <a:miter lim="400000"/>
          </a:ln>
        </p:spPr>
      </p:pic>
      <p:sp>
        <p:nvSpPr>
          <p:cNvPr id="1064" name="CustomShape 4"/>
          <p:cNvSpPr txBox="1"/>
          <p:nvPr/>
        </p:nvSpPr>
        <p:spPr>
          <a:xfrm>
            <a:off x="7632403" y="5570634"/>
            <a:ext cx="3252063" cy="554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830" tIns="35830" rIns="35830" bIns="35830">
            <a:spAutoFit/>
          </a:bodyPr>
          <a:lstStyle/>
          <a:p>
            <a:pPr defTabSz="645458">
              <a:spcBef>
                <a:spcPts val="0"/>
              </a:spcBef>
              <a:defRPr spc="0">
                <a:latin typeface="Gill Sans"/>
                <a:ea typeface="Gill Sans"/>
                <a:cs typeface="Gill Sans"/>
                <a:sym typeface="Gill Sans"/>
              </a:defRPr>
            </a:pPr>
            <a:r>
              <a:t>microscopic cross section [barn/atom]</a:t>
            </a:r>
          </a:p>
          <a:p>
            <a:pPr defTabSz="645458">
              <a:spcBef>
                <a:spcPts val="0"/>
              </a:spcBef>
              <a:defRPr spc="0">
                <a:latin typeface="Gill Sans"/>
                <a:ea typeface="Gill Sans"/>
                <a:cs typeface="Gill Sans"/>
                <a:sym typeface="Gill Sans"/>
              </a:defRPr>
            </a:pPr>
            <a:r>
              <a:t>1 barn = 10</a:t>
            </a:r>
            <a:r>
              <a:rPr baseline="30500"/>
              <a:t>-24</a:t>
            </a:r>
            <a:r>
              <a:t>cm</a:t>
            </a:r>
            <a:r>
              <a:rPr baseline="30500"/>
              <a:t>2</a:t>
            </a:r>
          </a:p>
        </p:txBody>
      </p:sp>
      <p:sp>
        <p:nvSpPr>
          <p:cNvPr id="1065" name="Line 5"/>
          <p:cNvSpPr/>
          <p:nvPr/>
        </p:nvSpPr>
        <p:spPr>
          <a:xfrm flipH="1">
            <a:off x="5849339" y="5293778"/>
            <a:ext cx="401252" cy="628180"/>
          </a:xfrm>
          <a:prstGeom prst="line">
            <a:avLst/>
          </a:prstGeom>
          <a:ln w="25400">
            <a:solidFill>
              <a:srgbClr val="000000"/>
            </a:solidFill>
            <a:miter/>
            <a:headEnd type="stealth"/>
          </a:ln>
        </p:spPr>
        <p:txBody>
          <a:bodyPr lIns="0" tIns="0" rIns="0" bIns="0"/>
          <a:lstStyle/>
          <a:p>
            <a:pPr defTabSz="645458">
              <a:spcBef>
                <a:spcPts val="0"/>
              </a:spcBef>
              <a:defRPr sz="1200"/>
            </a:pPr>
          </a:p>
        </p:txBody>
      </p:sp>
      <p:sp>
        <p:nvSpPr>
          <p:cNvPr id="1066" name="CustomShape 6"/>
          <p:cNvSpPr txBox="1"/>
          <p:nvPr/>
        </p:nvSpPr>
        <p:spPr>
          <a:xfrm>
            <a:off x="5015350" y="6062006"/>
            <a:ext cx="2421436" cy="312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830" tIns="35830" rIns="35830" bIns="35830">
            <a:spAutoFit/>
          </a:bodyPr>
          <a:lstStyle/>
          <a:p>
            <a:pPr defTabSz="645458">
              <a:spcBef>
                <a:spcPts val="0"/>
              </a:spcBef>
              <a:defRPr spc="0">
                <a:latin typeface="Gill Sans"/>
                <a:ea typeface="Gill Sans"/>
                <a:cs typeface="Gill Sans"/>
                <a:sym typeface="Gill Sans"/>
              </a:defRPr>
            </a:pPr>
            <a:r>
              <a:t>number density [atoms/cm</a:t>
            </a:r>
            <a:r>
              <a:rPr baseline="30500"/>
              <a:t>3</a:t>
            </a:r>
            <a:r>
              <a:t>]</a:t>
            </a:r>
          </a:p>
        </p:txBody>
      </p:sp>
      <p:sp>
        <p:nvSpPr>
          <p:cNvPr id="1067" name="CustomShape 7"/>
          <p:cNvSpPr txBox="1"/>
          <p:nvPr/>
        </p:nvSpPr>
        <p:spPr>
          <a:xfrm>
            <a:off x="2280597" y="5582813"/>
            <a:ext cx="2801295" cy="312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830" tIns="35830" rIns="35830" bIns="35830">
            <a:spAutoFit/>
          </a:bodyPr>
          <a:lstStyle/>
          <a:p>
            <a:pPr defTabSz="645458">
              <a:spcBef>
                <a:spcPts val="0"/>
              </a:spcBef>
              <a:defRPr spc="0">
                <a:latin typeface="Gill Sans"/>
                <a:ea typeface="Gill Sans"/>
                <a:cs typeface="Gill Sans"/>
                <a:sym typeface="Gill Sans"/>
              </a:defRPr>
            </a:pPr>
            <a:r>
              <a:t>macroscopic cross section [cm</a:t>
            </a:r>
            <a:r>
              <a:rPr baseline="30500"/>
              <a:t>-1</a:t>
            </a:r>
            <a:r>
              <a:t>]</a:t>
            </a:r>
          </a:p>
        </p:txBody>
      </p:sp>
      <p:sp>
        <p:nvSpPr>
          <p:cNvPr id="1068" name="Line 8"/>
          <p:cNvSpPr/>
          <p:nvPr/>
        </p:nvSpPr>
        <p:spPr>
          <a:xfrm flipH="1">
            <a:off x="4529452" y="5162654"/>
            <a:ext cx="874420" cy="342551"/>
          </a:xfrm>
          <a:prstGeom prst="line">
            <a:avLst/>
          </a:prstGeom>
          <a:ln w="25400">
            <a:solidFill>
              <a:srgbClr val="000000"/>
            </a:solidFill>
            <a:miter/>
            <a:headEnd type="stealth"/>
          </a:ln>
        </p:spPr>
        <p:txBody>
          <a:bodyPr lIns="0" tIns="0" rIns="0" bIns="0"/>
          <a:lstStyle/>
          <a:p>
            <a:pPr defTabSz="645458">
              <a:spcBef>
                <a:spcPts val="0"/>
              </a:spcBef>
              <a:defRPr sz="1200"/>
            </a:pPr>
          </a:p>
        </p:txBody>
      </p:sp>
      <p:sp>
        <p:nvSpPr>
          <p:cNvPr id="1069" name="TextShape 9"/>
          <p:cNvSpPr txBox="1"/>
          <p:nvPr/>
        </p:nvSpPr>
        <p:spPr>
          <a:xfrm>
            <a:off x="2247429" y="558000"/>
            <a:ext cx="8239766" cy="41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645458">
              <a:spcBef>
                <a:spcPts val="0"/>
              </a:spcBef>
              <a:defRPr spc="0" sz="3000">
                <a:solidFill>
                  <a:srgbClr val="FFFFFF"/>
                </a:solidFill>
              </a:defRPr>
            </a:lvl1pPr>
          </a:lstStyle>
          <a:p>
            <a:pPr/>
            <a:r>
              <a:t>Samples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072" name="TextShape 1"/>
          <p:cNvSpPr txBox="1"/>
          <p:nvPr/>
        </p:nvSpPr>
        <p:spPr>
          <a:xfrm>
            <a:off x="2484801" y="180163"/>
            <a:ext cx="8239766" cy="41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645458">
              <a:spcBef>
                <a:spcPts val="0"/>
              </a:spcBef>
              <a:defRPr spc="0" sz="3000"/>
            </a:lvl1pPr>
          </a:lstStyle>
          <a:p>
            <a:pPr/>
            <a:r>
              <a:t>Samples/Matter interaction in General in McStas</a:t>
            </a:r>
          </a:p>
        </p:txBody>
      </p:sp>
      <p:grpSp>
        <p:nvGrpSpPr>
          <p:cNvPr id="1075" name="Group"/>
          <p:cNvGrpSpPr/>
          <p:nvPr/>
        </p:nvGrpSpPr>
        <p:grpSpPr>
          <a:xfrm>
            <a:off x="1852822" y="729262"/>
            <a:ext cx="9936840" cy="5133076"/>
            <a:chOff x="0" y="0"/>
            <a:chExt cx="9936839" cy="5133075"/>
          </a:xfrm>
        </p:grpSpPr>
        <p:sp>
          <p:nvSpPr>
            <p:cNvPr id="1073" name="CustomShape 2"/>
            <p:cNvSpPr txBox="1"/>
            <p:nvPr/>
          </p:nvSpPr>
          <p:spPr>
            <a:xfrm>
              <a:off x="0" y="4340176"/>
              <a:ext cx="9936840" cy="792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5830" tIns="35830" rIns="35830" bIns="35830" numCol="1" anchor="t">
              <a:noAutofit/>
            </a:bodyPr>
            <a:lstStyle/>
            <a:p>
              <a:pPr defTabSz="645458">
                <a:spcBef>
                  <a:spcPts val="0"/>
                </a:spcBef>
                <a:defRPr spc="0" sz="2000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defRPr>
              </a:pPr>
              <a:r>
                <a:t>A neutron ray hitting a sample can be:</a:t>
              </a:r>
            </a:p>
            <a:p>
              <a:pPr defTabSz="645458">
                <a:spcBef>
                  <a:spcPts val="0"/>
                </a:spcBef>
                <a:defRPr spc="0" sz="2000">
                  <a:solidFill>
                    <a:srgbClr val="77BB41"/>
                  </a:solidFill>
                  <a:latin typeface="Gill Sans"/>
                  <a:ea typeface="Gill Sans"/>
                  <a:cs typeface="Gill Sans"/>
                  <a:sym typeface="Gill Sans"/>
                </a:defRPr>
              </a:pPr>
              <a:r>
                <a:t>transmitted</a:t>
              </a:r>
              <a:r>
                <a:rPr>
                  <a:solidFill>
                    <a:srgbClr val="000000"/>
                  </a:solidFill>
                </a:rPr>
                <a:t>+</a:t>
              </a:r>
              <a:r>
                <a:rPr>
                  <a:solidFill>
                    <a:srgbClr val="FF0000"/>
                  </a:solidFill>
                </a:rPr>
                <a:t>absorption</a:t>
              </a:r>
              <a:r>
                <a:rPr>
                  <a:solidFill>
                    <a:srgbClr val="000000"/>
                  </a:solidFill>
                </a:rPr>
                <a:t>, or </a:t>
              </a:r>
              <a:r>
                <a:rPr>
                  <a:solidFill>
                    <a:srgbClr val="7B219F"/>
                  </a:solidFill>
                </a:rPr>
                <a:t>scattered</a:t>
              </a:r>
              <a:r>
                <a:rPr>
                  <a:solidFill>
                    <a:srgbClr val="000000"/>
                  </a:solidFill>
                </a:rPr>
                <a:t>+</a:t>
              </a:r>
              <a:r>
                <a:rPr>
                  <a:solidFill>
                    <a:srgbClr val="FF0000"/>
                  </a:solidFill>
                </a:rPr>
                <a:t>absorption</a:t>
              </a:r>
            </a:p>
          </p:txBody>
        </p:sp>
        <p:pic>
          <p:nvPicPr>
            <p:cNvPr id="1074" name="image39.png" descr="image39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182792" y="0"/>
              <a:ext cx="8396777" cy="39129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The weight multiplier of the  j’th component,      , is calculated by the probability rule where Pb is the physical probability for the event ”b“, and           is the probability that the Monte Carlo  simulation selects this event.…"/>
          <p:cNvSpPr txBox="1"/>
          <p:nvPr/>
        </p:nvSpPr>
        <p:spPr>
          <a:xfrm>
            <a:off x="1695394" y="5311072"/>
            <a:ext cx="10317672" cy="1921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rPr sz="1800"/>
              <a:t>The weight multiplier of the  j’th component,      , is calculated by the probability rule</a:t>
            </a:r>
            <a:br>
              <a:rPr sz="1800"/>
            </a:br>
            <a:r>
              <a:rPr sz="1800"/>
              <a:t>where Pb is the physical probability for the event ”b“, and           is the probability that the Monte Carlo </a:t>
            </a:r>
            <a:br>
              <a:rPr sz="1800"/>
            </a:br>
            <a:r>
              <a:rPr sz="1800"/>
              <a:t>simulation selects this event. </a:t>
            </a:r>
            <a:endParaRPr sz="1800"/>
          </a:p>
          <a:p>
            <a:pPr/>
            <a:r>
              <a:rPr sz="1800"/>
              <a:t>In case of “branching”, i.e. multiple outcomes, it is clear that </a:t>
            </a:r>
            <a:endParaRPr sz="1800"/>
          </a:p>
          <a:p>
            <a:pPr/>
            <a:endParaRPr sz="1800"/>
          </a:p>
          <a:p>
            <a:pPr/>
            <a:r>
              <a:t> </a:t>
            </a:r>
          </a:p>
        </p:txBody>
      </p:sp>
      <p:sp>
        <p:nvSpPr>
          <p:cNvPr id="1078" name="Transport of weight through the instrument…"/>
          <p:cNvSpPr txBox="1"/>
          <p:nvPr>
            <p:ph type="title"/>
          </p:nvPr>
        </p:nvSpPr>
        <p:spPr>
          <a:xfrm>
            <a:off x="2198042" y="-102364"/>
            <a:ext cx="9312375" cy="972717"/>
          </a:xfrm>
          <a:prstGeom prst="rect">
            <a:avLst/>
          </a:prstGeom>
        </p:spPr>
        <p:txBody>
          <a:bodyPr/>
          <a:lstStyle/>
          <a:p>
            <a:pPr/>
            <a:r>
              <a:t>Transport of weight through the instrument…</a:t>
            </a:r>
          </a:p>
        </p:txBody>
      </p:sp>
      <p:sp>
        <p:nvSpPr>
          <p:cNvPr id="1079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1092" name="Group"/>
          <p:cNvGrpSpPr/>
          <p:nvPr/>
        </p:nvGrpSpPr>
        <p:grpSpPr>
          <a:xfrm>
            <a:off x="2036783" y="1432902"/>
            <a:ext cx="7457643" cy="3158937"/>
            <a:chOff x="0" y="0"/>
            <a:chExt cx="7457641" cy="3158935"/>
          </a:xfrm>
        </p:grpSpPr>
        <p:sp>
          <p:nvSpPr>
            <p:cNvPr id="1080" name="Rectangle"/>
            <p:cNvSpPr/>
            <p:nvPr/>
          </p:nvSpPr>
          <p:spPr>
            <a:xfrm>
              <a:off x="0" y="132717"/>
              <a:ext cx="7457642" cy="2637206"/>
            </a:xfrm>
            <a:prstGeom prst="rect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pic>
          <p:nvPicPr>
            <p:cNvPr id="1081" name="Image" descr="Image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413453" y="604442"/>
              <a:ext cx="6391832" cy="184797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082" name="Rectangle"/>
            <p:cNvSpPr/>
            <p:nvPr/>
          </p:nvSpPr>
          <p:spPr>
            <a:xfrm>
              <a:off x="520160" y="1193928"/>
              <a:ext cx="1111083" cy="1351841"/>
            </a:xfrm>
            <a:prstGeom prst="rect">
              <a:avLst/>
            </a:prstGeom>
            <a:noFill/>
            <a:ln w="254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>
                <a:defRPr sz="1300"/>
              </a:pPr>
            </a:p>
          </p:txBody>
        </p:sp>
        <p:sp>
          <p:nvSpPr>
            <p:cNvPr id="1083" name="Instrument"/>
            <p:cNvSpPr/>
            <p:nvPr/>
          </p:nvSpPr>
          <p:spPr>
            <a:xfrm>
              <a:off x="221196" y="0"/>
              <a:ext cx="976669" cy="255725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6799" tIns="46799" rIns="46799" bIns="46799" numCol="1" anchor="ctr">
              <a:noAutofit/>
            </a:bodyPr>
            <a:lstStyle>
              <a:lvl1pPr>
                <a:defRPr sz="1000"/>
              </a:lvl1pPr>
            </a:lstStyle>
            <a:p>
              <a:pPr/>
              <a:r>
                <a:t>Instrument</a:t>
              </a:r>
            </a:p>
          </p:txBody>
        </p:sp>
        <p:sp>
          <p:nvSpPr>
            <p:cNvPr id="1084" name="Source"/>
            <p:cNvSpPr/>
            <p:nvPr/>
          </p:nvSpPr>
          <p:spPr>
            <a:xfrm>
              <a:off x="642323" y="2420744"/>
              <a:ext cx="866757" cy="255726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2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6799" tIns="46799" rIns="46799" bIns="46799" numCol="1" anchor="ctr">
              <a:noAutofit/>
            </a:bodyPr>
            <a:lstStyle>
              <a:lvl1pPr>
                <a:defRPr sz="1000"/>
              </a:lvl1pPr>
            </a:lstStyle>
            <a:p>
              <a:pPr/>
              <a:r>
                <a:t>Source</a:t>
              </a:r>
            </a:p>
          </p:txBody>
        </p:sp>
        <p:sp>
          <p:nvSpPr>
            <p:cNvPr id="1085" name="Rectangle"/>
            <p:cNvSpPr/>
            <p:nvPr/>
          </p:nvSpPr>
          <p:spPr>
            <a:xfrm>
              <a:off x="3413834" y="1426495"/>
              <a:ext cx="1224341" cy="886707"/>
            </a:xfrm>
            <a:prstGeom prst="rect">
              <a:avLst/>
            </a:prstGeom>
            <a:noFill/>
            <a:ln w="254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>
                <a:defRPr sz="1300"/>
              </a:pPr>
            </a:p>
          </p:txBody>
        </p:sp>
        <p:sp>
          <p:nvSpPr>
            <p:cNvPr id="1086" name="Sample"/>
            <p:cNvSpPr/>
            <p:nvPr/>
          </p:nvSpPr>
          <p:spPr>
            <a:xfrm>
              <a:off x="3540852" y="2234939"/>
              <a:ext cx="866757" cy="255726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2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6799" tIns="46799" rIns="46799" bIns="46799" numCol="1" anchor="ctr">
              <a:noAutofit/>
            </a:bodyPr>
            <a:lstStyle>
              <a:lvl1pPr>
                <a:defRPr sz="1000"/>
              </a:lvl1pPr>
            </a:lstStyle>
            <a:p>
              <a:pPr/>
              <a:r>
                <a:t>Sample</a:t>
              </a:r>
            </a:p>
          </p:txBody>
        </p:sp>
        <p:sp>
          <p:nvSpPr>
            <p:cNvPr id="1087" name="Rectangle"/>
            <p:cNvSpPr/>
            <p:nvPr/>
          </p:nvSpPr>
          <p:spPr>
            <a:xfrm>
              <a:off x="4843618" y="1308367"/>
              <a:ext cx="866757" cy="1251578"/>
            </a:xfrm>
            <a:prstGeom prst="rect">
              <a:avLst/>
            </a:prstGeom>
            <a:noFill/>
            <a:ln w="254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>
                <a:defRPr sz="1300"/>
              </a:pPr>
            </a:p>
          </p:txBody>
        </p:sp>
        <p:sp>
          <p:nvSpPr>
            <p:cNvPr id="1088" name="Monitor"/>
            <p:cNvSpPr/>
            <p:nvPr/>
          </p:nvSpPr>
          <p:spPr>
            <a:xfrm>
              <a:off x="5257339" y="2420744"/>
              <a:ext cx="866756" cy="255726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2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6799" tIns="46799" rIns="46799" bIns="46799" numCol="1" anchor="ctr">
              <a:noAutofit/>
            </a:bodyPr>
            <a:lstStyle>
              <a:lvl1pPr>
                <a:defRPr sz="1000"/>
              </a:lvl1pPr>
            </a:lstStyle>
            <a:p>
              <a:pPr/>
              <a:r>
                <a:t>Monitor</a:t>
              </a:r>
            </a:p>
          </p:txBody>
        </p:sp>
        <p:pic>
          <p:nvPicPr>
            <p:cNvPr id="1089" name="p_0.pdf" descr="p_0.pdf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872287" y="2878508"/>
              <a:ext cx="368240" cy="25993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90" name="p_j.pdf" descr="p_j.pdf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3683417" y="2858015"/>
              <a:ext cx="345502" cy="30092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91" name="p_n.pdf" descr="p_n.pdf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5304255" y="2851637"/>
              <a:ext cx="401227" cy="26748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1093" name="Image" descr="Image"/>
          <p:cNvPicPr>
            <a:picLocks noChangeAspect="1"/>
          </p:cNvPicPr>
          <p:nvPr/>
        </p:nvPicPr>
        <p:blipFill>
          <a:blip r:embed="rId6">
            <a:extLst/>
          </a:blip>
          <a:srcRect l="0" t="0" r="14486" b="0"/>
          <a:stretch>
            <a:fillRect/>
          </a:stretch>
        </p:blipFill>
        <p:spPr>
          <a:xfrm>
            <a:off x="1555073" y="4439249"/>
            <a:ext cx="2229447" cy="881605"/>
          </a:xfrm>
          <a:prstGeom prst="rect">
            <a:avLst/>
          </a:prstGeom>
          <a:ln w="12700">
            <a:miter lim="400000"/>
          </a:ln>
        </p:spPr>
      </p:pic>
      <p:sp>
        <p:nvSpPr>
          <p:cNvPr id="1094" name="In a given component, the neutron intensity is adjusted by a multiplicative factor (probability)"/>
          <p:cNvSpPr txBox="1"/>
          <p:nvPr/>
        </p:nvSpPr>
        <p:spPr>
          <a:xfrm>
            <a:off x="2039670" y="1022016"/>
            <a:ext cx="9364874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800"/>
            </a:lvl1pPr>
          </a:lstStyle>
          <a:p>
            <a:pPr/>
            <a:r>
              <a:t>In a given component, the neutron intensity is adjusted by a multiplicative factor (probability) </a:t>
            </a:r>
          </a:p>
        </p:txBody>
      </p:sp>
      <p:pic>
        <p:nvPicPr>
          <p:cNvPr id="1095" name="Image" descr="Image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0175469" y="5286033"/>
            <a:ext cx="1537706" cy="316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96" name="w_j.pdf" descr="w_j.pdf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6181024" y="5365899"/>
            <a:ext cx="317501" cy="23169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97" name="f_MC,b.pdf" descr="f_MC,b.pdf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7514568" y="5585418"/>
            <a:ext cx="566352" cy="23169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98" name="Image" descr="Image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7893395" y="5977840"/>
            <a:ext cx="1429642" cy="58767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99" name="p_j_=_p_0_prod_k.pdf" descr="p_j_=_p_0_prod_k.pdf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9825921" y="4191597"/>
            <a:ext cx="1990467" cy="9727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Double-click to edi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43852" indent="-162877"/>
          </a:p>
        </p:txBody>
      </p:sp>
      <p:sp>
        <p:nvSpPr>
          <p:cNvPr id="1102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103" name="Line"/>
          <p:cNvSpPr/>
          <p:nvPr/>
        </p:nvSpPr>
        <p:spPr>
          <a:xfrm flipH="1" flipV="1">
            <a:off x="2501423" y="2500725"/>
            <a:ext cx="470217" cy="4197"/>
          </a:xfrm>
          <a:prstGeom prst="line">
            <a:avLst/>
          </a:prstGeom>
          <a:ln w="12700">
            <a:solidFill>
              <a:srgbClr val="0061FF"/>
            </a:solidFill>
            <a:miter lim="400000"/>
            <a:headEnd type="stealt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04" name="Rectangle"/>
          <p:cNvSpPr/>
          <p:nvPr/>
        </p:nvSpPr>
        <p:spPr>
          <a:xfrm>
            <a:off x="2367534" y="2063331"/>
            <a:ext cx="133890" cy="892595"/>
          </a:xfrm>
          <a:prstGeom prst="rect">
            <a:avLst/>
          </a:prstGeom>
          <a:ln w="3175">
            <a:solidFill>
              <a:srgbClr val="000000"/>
            </a:solidFill>
            <a:miter lim="400000"/>
          </a:ln>
        </p:spPr>
        <p:txBody>
          <a:bodyPr lIns="26777" tIns="26777" rIns="26777" bIns="26777" anchor="ctr"/>
          <a:lstStyle/>
          <a:p>
            <a:pPr>
              <a:buClr>
                <a:srgbClr val="000000"/>
              </a:buCl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5" name="Line"/>
          <p:cNvSpPr/>
          <p:nvPr/>
        </p:nvSpPr>
        <p:spPr>
          <a:xfrm flipH="1" flipV="1">
            <a:off x="2501423" y="4196630"/>
            <a:ext cx="470217" cy="4197"/>
          </a:xfrm>
          <a:prstGeom prst="line">
            <a:avLst/>
          </a:prstGeom>
          <a:ln w="12700">
            <a:solidFill>
              <a:srgbClr val="0061FF"/>
            </a:solidFill>
            <a:miter lim="400000"/>
            <a:headEnd type="stealt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06" name="Rectangle"/>
          <p:cNvSpPr/>
          <p:nvPr/>
        </p:nvSpPr>
        <p:spPr>
          <a:xfrm>
            <a:off x="2367534" y="3759259"/>
            <a:ext cx="133890" cy="892595"/>
          </a:xfrm>
          <a:prstGeom prst="rect">
            <a:avLst/>
          </a:prstGeom>
          <a:ln w="3175">
            <a:solidFill>
              <a:srgbClr val="000000"/>
            </a:solidFill>
            <a:miter lim="400000"/>
          </a:ln>
        </p:spPr>
        <p:txBody>
          <a:bodyPr lIns="26777" tIns="26777" rIns="26777" bIns="26777" anchor="ctr"/>
          <a:lstStyle/>
          <a:p>
            <a:pPr>
              <a:buClr>
                <a:srgbClr val="000000"/>
              </a:buCl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7" name="Line"/>
          <p:cNvSpPr/>
          <p:nvPr/>
        </p:nvSpPr>
        <p:spPr>
          <a:xfrm>
            <a:off x="4750759" y="2134739"/>
            <a:ext cx="5440" cy="736390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08" name="Line"/>
          <p:cNvSpPr/>
          <p:nvPr/>
        </p:nvSpPr>
        <p:spPr>
          <a:xfrm>
            <a:off x="4750759" y="3830666"/>
            <a:ext cx="5440" cy="73639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09" name="Line"/>
          <p:cNvSpPr/>
          <p:nvPr/>
        </p:nvSpPr>
        <p:spPr>
          <a:xfrm>
            <a:off x="7928392" y="2206146"/>
            <a:ext cx="5441" cy="73639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10" name="Line"/>
          <p:cNvSpPr/>
          <p:nvPr/>
        </p:nvSpPr>
        <p:spPr>
          <a:xfrm>
            <a:off x="7928392" y="3902074"/>
            <a:ext cx="5441" cy="73639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11" name="1"/>
          <p:cNvSpPr txBox="1"/>
          <p:nvPr/>
        </p:nvSpPr>
        <p:spPr>
          <a:xfrm>
            <a:off x="2340757" y="3027332"/>
            <a:ext cx="19867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1</a:t>
            </a:r>
          </a:p>
        </p:txBody>
      </p:sp>
      <p:sp>
        <p:nvSpPr>
          <p:cNvPr id="1112" name="1"/>
          <p:cNvSpPr txBox="1"/>
          <p:nvPr/>
        </p:nvSpPr>
        <p:spPr>
          <a:xfrm>
            <a:off x="2340757" y="4696482"/>
            <a:ext cx="19867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1</a:t>
            </a:r>
          </a:p>
        </p:txBody>
      </p:sp>
      <p:sp>
        <p:nvSpPr>
          <p:cNvPr id="1113" name="2"/>
          <p:cNvSpPr txBox="1"/>
          <p:nvPr/>
        </p:nvSpPr>
        <p:spPr>
          <a:xfrm>
            <a:off x="7839133" y="3027332"/>
            <a:ext cx="19867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2</a:t>
            </a:r>
          </a:p>
        </p:txBody>
      </p:sp>
      <p:sp>
        <p:nvSpPr>
          <p:cNvPr id="1114" name="2"/>
          <p:cNvSpPr txBox="1"/>
          <p:nvPr/>
        </p:nvSpPr>
        <p:spPr>
          <a:xfrm>
            <a:off x="4661500" y="4696482"/>
            <a:ext cx="198673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2</a:t>
            </a:r>
          </a:p>
        </p:txBody>
      </p:sp>
      <p:sp>
        <p:nvSpPr>
          <p:cNvPr id="1115" name="3"/>
          <p:cNvSpPr txBox="1"/>
          <p:nvPr/>
        </p:nvSpPr>
        <p:spPr>
          <a:xfrm>
            <a:off x="4661500" y="3027332"/>
            <a:ext cx="198673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3</a:t>
            </a:r>
          </a:p>
        </p:txBody>
      </p:sp>
      <p:sp>
        <p:nvSpPr>
          <p:cNvPr id="1116" name="3"/>
          <p:cNvSpPr txBox="1"/>
          <p:nvPr/>
        </p:nvSpPr>
        <p:spPr>
          <a:xfrm>
            <a:off x="7839133" y="4696482"/>
            <a:ext cx="19867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3</a:t>
            </a:r>
          </a:p>
        </p:txBody>
      </p:sp>
      <p:sp>
        <p:nvSpPr>
          <p:cNvPr id="1117" name="Starting at the source"/>
          <p:cNvSpPr txBox="1"/>
          <p:nvPr/>
        </p:nvSpPr>
        <p:spPr>
          <a:xfrm>
            <a:off x="2483572" y="5258816"/>
            <a:ext cx="2420080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Starting at the source</a:t>
            </a:r>
          </a:p>
        </p:txBody>
      </p:sp>
      <p:sp>
        <p:nvSpPr>
          <p:cNvPr id="1118" name="To first order, McStas is linear and follows sequence of components in your file…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To first order, McStas is linear and follows sequence of components in your file…</a:t>
            </a:r>
          </a:p>
        </p:txBody>
      </p:sp>
      <p:sp>
        <p:nvSpPr>
          <p:cNvPr id="1119" name="Line"/>
          <p:cNvSpPr/>
          <p:nvPr/>
        </p:nvSpPr>
        <p:spPr>
          <a:xfrm>
            <a:off x="2477459" y="2134739"/>
            <a:ext cx="5440" cy="736390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20" name="Line"/>
          <p:cNvSpPr/>
          <p:nvPr/>
        </p:nvSpPr>
        <p:spPr>
          <a:xfrm>
            <a:off x="2477459" y="3830666"/>
            <a:ext cx="5440" cy="73639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Double-click to edi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43852" indent="-162877"/>
          </a:p>
        </p:txBody>
      </p:sp>
      <p:sp>
        <p:nvSpPr>
          <p:cNvPr id="11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124" name="Line"/>
          <p:cNvSpPr/>
          <p:nvPr/>
        </p:nvSpPr>
        <p:spPr>
          <a:xfrm flipH="1" flipV="1">
            <a:off x="7919466" y="2500725"/>
            <a:ext cx="470217" cy="4197"/>
          </a:xfrm>
          <a:prstGeom prst="line">
            <a:avLst/>
          </a:prstGeom>
          <a:ln w="12700">
            <a:solidFill>
              <a:srgbClr val="0061FF"/>
            </a:solidFill>
            <a:miter lim="400000"/>
            <a:headEnd type="stealt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25" name="Rectangle"/>
          <p:cNvSpPr/>
          <p:nvPr/>
        </p:nvSpPr>
        <p:spPr>
          <a:xfrm>
            <a:off x="2367534" y="2063331"/>
            <a:ext cx="133890" cy="892595"/>
          </a:xfrm>
          <a:prstGeom prst="rect">
            <a:avLst/>
          </a:prstGeom>
          <a:ln w="3175">
            <a:solidFill>
              <a:srgbClr val="000000"/>
            </a:solidFill>
            <a:miter lim="400000"/>
          </a:ln>
        </p:spPr>
        <p:txBody>
          <a:bodyPr lIns="26777" tIns="26777" rIns="26777" bIns="26777" anchor="ctr"/>
          <a:lstStyle/>
          <a:p>
            <a:pPr>
              <a:buClr>
                <a:srgbClr val="000000"/>
              </a:buCl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6" name="Line"/>
          <p:cNvSpPr/>
          <p:nvPr/>
        </p:nvSpPr>
        <p:spPr>
          <a:xfrm flipH="1" flipV="1">
            <a:off x="4741833" y="4196630"/>
            <a:ext cx="470217" cy="4197"/>
          </a:xfrm>
          <a:prstGeom prst="line">
            <a:avLst/>
          </a:prstGeom>
          <a:ln w="12700">
            <a:solidFill>
              <a:srgbClr val="0061FF"/>
            </a:solidFill>
            <a:miter lim="400000"/>
            <a:headEnd type="stealt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27" name="Rectangle"/>
          <p:cNvSpPr/>
          <p:nvPr/>
        </p:nvSpPr>
        <p:spPr>
          <a:xfrm>
            <a:off x="2367534" y="3759259"/>
            <a:ext cx="133890" cy="892595"/>
          </a:xfrm>
          <a:prstGeom prst="rect">
            <a:avLst/>
          </a:prstGeom>
          <a:ln w="3175">
            <a:solidFill>
              <a:srgbClr val="000000"/>
            </a:solidFill>
            <a:miter lim="400000"/>
          </a:ln>
        </p:spPr>
        <p:txBody>
          <a:bodyPr lIns="26777" tIns="26777" rIns="26777" bIns="26777" anchor="ctr"/>
          <a:lstStyle/>
          <a:p>
            <a:pPr>
              <a:buClr>
                <a:srgbClr val="000000"/>
              </a:buCl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8" name="Line"/>
          <p:cNvSpPr/>
          <p:nvPr/>
        </p:nvSpPr>
        <p:spPr>
          <a:xfrm>
            <a:off x="4750759" y="2134739"/>
            <a:ext cx="5440" cy="736390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29" name="Line"/>
          <p:cNvSpPr/>
          <p:nvPr/>
        </p:nvSpPr>
        <p:spPr>
          <a:xfrm>
            <a:off x="4750759" y="3830666"/>
            <a:ext cx="5440" cy="73639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30" name="Line"/>
          <p:cNvSpPr/>
          <p:nvPr/>
        </p:nvSpPr>
        <p:spPr>
          <a:xfrm>
            <a:off x="7928392" y="2206146"/>
            <a:ext cx="5441" cy="73639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31" name="Line"/>
          <p:cNvSpPr/>
          <p:nvPr/>
        </p:nvSpPr>
        <p:spPr>
          <a:xfrm>
            <a:off x="7928392" y="3902074"/>
            <a:ext cx="5441" cy="73639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32" name="1"/>
          <p:cNvSpPr txBox="1"/>
          <p:nvPr/>
        </p:nvSpPr>
        <p:spPr>
          <a:xfrm>
            <a:off x="2340757" y="3027332"/>
            <a:ext cx="19867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1</a:t>
            </a:r>
          </a:p>
        </p:txBody>
      </p:sp>
      <p:sp>
        <p:nvSpPr>
          <p:cNvPr id="1133" name="1"/>
          <p:cNvSpPr txBox="1"/>
          <p:nvPr/>
        </p:nvSpPr>
        <p:spPr>
          <a:xfrm>
            <a:off x="2340757" y="4696482"/>
            <a:ext cx="19867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1</a:t>
            </a:r>
          </a:p>
        </p:txBody>
      </p:sp>
      <p:sp>
        <p:nvSpPr>
          <p:cNvPr id="1134" name="2"/>
          <p:cNvSpPr txBox="1"/>
          <p:nvPr/>
        </p:nvSpPr>
        <p:spPr>
          <a:xfrm>
            <a:off x="7839133" y="3027332"/>
            <a:ext cx="19867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2</a:t>
            </a:r>
          </a:p>
        </p:txBody>
      </p:sp>
      <p:sp>
        <p:nvSpPr>
          <p:cNvPr id="1135" name="2"/>
          <p:cNvSpPr txBox="1"/>
          <p:nvPr/>
        </p:nvSpPr>
        <p:spPr>
          <a:xfrm>
            <a:off x="4661500" y="4696482"/>
            <a:ext cx="198673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2</a:t>
            </a:r>
          </a:p>
        </p:txBody>
      </p:sp>
      <p:sp>
        <p:nvSpPr>
          <p:cNvPr id="1136" name="3"/>
          <p:cNvSpPr txBox="1"/>
          <p:nvPr/>
        </p:nvSpPr>
        <p:spPr>
          <a:xfrm>
            <a:off x="4661500" y="3027332"/>
            <a:ext cx="198673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3</a:t>
            </a:r>
          </a:p>
        </p:txBody>
      </p:sp>
      <p:sp>
        <p:nvSpPr>
          <p:cNvPr id="1137" name="3"/>
          <p:cNvSpPr txBox="1"/>
          <p:nvPr/>
        </p:nvSpPr>
        <p:spPr>
          <a:xfrm>
            <a:off x="7839133" y="4696482"/>
            <a:ext cx="19867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3</a:t>
            </a:r>
          </a:p>
        </p:txBody>
      </p:sp>
      <p:sp>
        <p:nvSpPr>
          <p:cNvPr id="1138" name="Moving to first comp in the list"/>
          <p:cNvSpPr txBox="1"/>
          <p:nvPr/>
        </p:nvSpPr>
        <p:spPr>
          <a:xfrm>
            <a:off x="2483572" y="5258816"/>
            <a:ext cx="3352909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Moving to first comp in the list</a:t>
            </a:r>
          </a:p>
        </p:txBody>
      </p:sp>
      <p:sp>
        <p:nvSpPr>
          <p:cNvPr id="1139" name="To first order, McStas is linear and follows sequence of components in your file…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To first order, McStas is linear and follows sequence of components in your file…</a:t>
            </a:r>
          </a:p>
        </p:txBody>
      </p:sp>
      <p:sp>
        <p:nvSpPr>
          <p:cNvPr id="1140" name="Line"/>
          <p:cNvSpPr/>
          <p:nvPr/>
        </p:nvSpPr>
        <p:spPr>
          <a:xfrm>
            <a:off x="2477459" y="2134739"/>
            <a:ext cx="5440" cy="736390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41" name="Line"/>
          <p:cNvSpPr/>
          <p:nvPr/>
        </p:nvSpPr>
        <p:spPr>
          <a:xfrm>
            <a:off x="2477459" y="3830666"/>
            <a:ext cx="5440" cy="73639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Double-click to edi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43852" indent="-162877"/>
          </a:p>
        </p:txBody>
      </p:sp>
      <p:sp>
        <p:nvSpPr>
          <p:cNvPr id="1144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145" name="Line"/>
          <p:cNvSpPr/>
          <p:nvPr/>
        </p:nvSpPr>
        <p:spPr>
          <a:xfrm flipH="1" flipV="1">
            <a:off x="7919466" y="2500725"/>
            <a:ext cx="470217" cy="4197"/>
          </a:xfrm>
          <a:prstGeom prst="line">
            <a:avLst/>
          </a:prstGeom>
          <a:ln w="12700">
            <a:solidFill>
              <a:srgbClr val="B51A00"/>
            </a:solidFill>
            <a:custDash>
              <a:ds d="100000" sp="200000"/>
            </a:custDash>
            <a:miter lim="400000"/>
            <a:headEnd type="stealt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46" name="Rectangle"/>
          <p:cNvSpPr/>
          <p:nvPr/>
        </p:nvSpPr>
        <p:spPr>
          <a:xfrm>
            <a:off x="2367534" y="2063331"/>
            <a:ext cx="133890" cy="892595"/>
          </a:xfrm>
          <a:prstGeom prst="rect">
            <a:avLst/>
          </a:prstGeom>
          <a:ln w="3175">
            <a:solidFill>
              <a:srgbClr val="000000"/>
            </a:solidFill>
            <a:miter lim="400000"/>
          </a:ln>
        </p:spPr>
        <p:txBody>
          <a:bodyPr lIns="26777" tIns="26777" rIns="26777" bIns="26777" anchor="ctr"/>
          <a:lstStyle/>
          <a:p>
            <a:pPr>
              <a:buClr>
                <a:srgbClr val="000000"/>
              </a:buCl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7" name="Line"/>
          <p:cNvSpPr/>
          <p:nvPr/>
        </p:nvSpPr>
        <p:spPr>
          <a:xfrm flipH="1" flipV="1">
            <a:off x="7919466" y="4196630"/>
            <a:ext cx="470217" cy="4197"/>
          </a:xfrm>
          <a:prstGeom prst="line">
            <a:avLst/>
          </a:prstGeom>
          <a:ln w="12700">
            <a:solidFill>
              <a:srgbClr val="0061FF"/>
            </a:solidFill>
            <a:miter lim="400000"/>
            <a:headEnd type="stealt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48" name="Rectangle"/>
          <p:cNvSpPr/>
          <p:nvPr/>
        </p:nvSpPr>
        <p:spPr>
          <a:xfrm>
            <a:off x="2367534" y="3759259"/>
            <a:ext cx="133890" cy="892595"/>
          </a:xfrm>
          <a:prstGeom prst="rect">
            <a:avLst/>
          </a:prstGeom>
          <a:ln w="3175">
            <a:solidFill>
              <a:srgbClr val="000000"/>
            </a:solidFill>
            <a:miter lim="400000"/>
          </a:ln>
        </p:spPr>
        <p:txBody>
          <a:bodyPr lIns="26777" tIns="26777" rIns="26777" bIns="26777" anchor="ctr"/>
          <a:lstStyle/>
          <a:p>
            <a:pPr>
              <a:buClr>
                <a:srgbClr val="000000"/>
              </a:buCl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9" name="Line"/>
          <p:cNvSpPr/>
          <p:nvPr/>
        </p:nvSpPr>
        <p:spPr>
          <a:xfrm>
            <a:off x="4750759" y="2134739"/>
            <a:ext cx="5440" cy="736390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50" name="Line"/>
          <p:cNvSpPr/>
          <p:nvPr/>
        </p:nvSpPr>
        <p:spPr>
          <a:xfrm>
            <a:off x="4750759" y="3830666"/>
            <a:ext cx="5440" cy="73639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51" name="Line"/>
          <p:cNvSpPr/>
          <p:nvPr/>
        </p:nvSpPr>
        <p:spPr>
          <a:xfrm>
            <a:off x="7928392" y="2206146"/>
            <a:ext cx="5441" cy="73639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52" name="Line"/>
          <p:cNvSpPr/>
          <p:nvPr/>
        </p:nvSpPr>
        <p:spPr>
          <a:xfrm>
            <a:off x="7928392" y="3902074"/>
            <a:ext cx="5441" cy="73639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53" name="1"/>
          <p:cNvSpPr txBox="1"/>
          <p:nvPr/>
        </p:nvSpPr>
        <p:spPr>
          <a:xfrm>
            <a:off x="2340757" y="3027332"/>
            <a:ext cx="19867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1</a:t>
            </a:r>
          </a:p>
        </p:txBody>
      </p:sp>
      <p:sp>
        <p:nvSpPr>
          <p:cNvPr id="1154" name="1"/>
          <p:cNvSpPr txBox="1"/>
          <p:nvPr/>
        </p:nvSpPr>
        <p:spPr>
          <a:xfrm>
            <a:off x="2340757" y="4696482"/>
            <a:ext cx="19867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1</a:t>
            </a:r>
          </a:p>
        </p:txBody>
      </p:sp>
      <p:sp>
        <p:nvSpPr>
          <p:cNvPr id="1155" name="2"/>
          <p:cNvSpPr txBox="1"/>
          <p:nvPr/>
        </p:nvSpPr>
        <p:spPr>
          <a:xfrm>
            <a:off x="7839133" y="3027332"/>
            <a:ext cx="19867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2</a:t>
            </a:r>
          </a:p>
        </p:txBody>
      </p:sp>
      <p:sp>
        <p:nvSpPr>
          <p:cNvPr id="1156" name="2"/>
          <p:cNvSpPr txBox="1"/>
          <p:nvPr/>
        </p:nvSpPr>
        <p:spPr>
          <a:xfrm>
            <a:off x="4661500" y="4696482"/>
            <a:ext cx="198673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2</a:t>
            </a:r>
          </a:p>
        </p:txBody>
      </p:sp>
      <p:sp>
        <p:nvSpPr>
          <p:cNvPr id="1157" name="3"/>
          <p:cNvSpPr txBox="1"/>
          <p:nvPr/>
        </p:nvSpPr>
        <p:spPr>
          <a:xfrm>
            <a:off x="4661500" y="3027332"/>
            <a:ext cx="198673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3</a:t>
            </a:r>
          </a:p>
        </p:txBody>
      </p:sp>
      <p:sp>
        <p:nvSpPr>
          <p:cNvPr id="1158" name="3"/>
          <p:cNvSpPr txBox="1"/>
          <p:nvPr/>
        </p:nvSpPr>
        <p:spPr>
          <a:xfrm>
            <a:off x="7839133" y="4696482"/>
            <a:ext cx="19867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3</a:t>
            </a:r>
          </a:p>
        </p:txBody>
      </p:sp>
      <p:sp>
        <p:nvSpPr>
          <p:cNvPr id="1159" name="Line"/>
          <p:cNvSpPr/>
          <p:nvPr/>
        </p:nvSpPr>
        <p:spPr>
          <a:xfrm flipH="1" flipV="1">
            <a:off x="4741833" y="2500702"/>
            <a:ext cx="470217" cy="4197"/>
          </a:xfrm>
          <a:prstGeom prst="line">
            <a:avLst/>
          </a:prstGeom>
          <a:ln w="12700">
            <a:solidFill>
              <a:srgbClr val="B51A00"/>
            </a:solidFill>
            <a:custDash>
              <a:ds d="100000" sp="200000"/>
            </a:custDash>
            <a:miter lim="400000"/>
            <a:headEnd type="stealt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60" name="Line"/>
          <p:cNvSpPr/>
          <p:nvPr/>
        </p:nvSpPr>
        <p:spPr>
          <a:xfrm>
            <a:off x="5302703" y="2509628"/>
            <a:ext cx="2630572" cy="4840"/>
          </a:xfrm>
          <a:prstGeom prst="line">
            <a:avLst/>
          </a:prstGeom>
          <a:ln w="12700">
            <a:solidFill>
              <a:srgbClr val="FF6A00"/>
            </a:solidFill>
            <a:custDash>
              <a:ds d="100000" sp="200000"/>
            </a:custDash>
            <a:miter lim="400000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61" name="Moving to 3rd comp in list requires “moving back in time”.…"/>
          <p:cNvSpPr txBox="1"/>
          <p:nvPr/>
        </p:nvSpPr>
        <p:spPr>
          <a:xfrm>
            <a:off x="2483572" y="5258816"/>
            <a:ext cx="6341669" cy="1327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/>
          <a:p>
            <a:pPr>
              <a:buClr>
                <a:srgbClr val="000000"/>
              </a:buClr>
            </a:pPr>
            <a:r>
              <a:t>Moving to 3rd comp in list requires “moving back in time”.</a:t>
            </a:r>
          </a:p>
          <a:p>
            <a:pPr>
              <a:buClr>
                <a:srgbClr val="000000"/>
              </a:buClr>
            </a:pPr>
            <a:r>
              <a:t>Default behavior is to ABSORB this type of neutron.</a:t>
            </a:r>
          </a:p>
          <a:p>
            <a:pPr>
              <a:buClr>
                <a:srgbClr val="000000"/>
              </a:buClr>
            </a:pPr>
            <a:r>
              <a:t>For monitors use restore_neutron=1 in this case.</a:t>
            </a:r>
          </a:p>
          <a:p>
            <a:pPr>
              <a:buClr>
                <a:srgbClr val="000000"/>
              </a:buClr>
            </a:pPr>
            <a:r>
              <a:t>For homegrown comps use ALLOW_BACKPROP macro.</a:t>
            </a:r>
          </a:p>
        </p:txBody>
      </p:sp>
      <p:sp>
        <p:nvSpPr>
          <p:cNvPr id="1162" name="To first order, McStas is linear and follows sequence of components in your file…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To first order, McStas is linear and follows sequence of components in your file…</a:t>
            </a:r>
          </a:p>
        </p:txBody>
      </p:sp>
      <p:sp>
        <p:nvSpPr>
          <p:cNvPr id="1163" name="Line"/>
          <p:cNvSpPr/>
          <p:nvPr/>
        </p:nvSpPr>
        <p:spPr>
          <a:xfrm>
            <a:off x="2477459" y="2134739"/>
            <a:ext cx="5440" cy="736390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64" name="Line"/>
          <p:cNvSpPr/>
          <p:nvPr/>
        </p:nvSpPr>
        <p:spPr>
          <a:xfrm>
            <a:off x="2477459" y="3830666"/>
            <a:ext cx="5440" cy="73639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Double-click to edi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43852" indent="-162877"/>
          </a:p>
        </p:txBody>
      </p:sp>
      <p:sp>
        <p:nvSpPr>
          <p:cNvPr id="1167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168" name="Line"/>
          <p:cNvSpPr/>
          <p:nvPr/>
        </p:nvSpPr>
        <p:spPr>
          <a:xfrm flipH="1" flipV="1">
            <a:off x="7919466" y="2500725"/>
            <a:ext cx="470217" cy="4197"/>
          </a:xfrm>
          <a:prstGeom prst="line">
            <a:avLst/>
          </a:prstGeom>
          <a:ln w="12700">
            <a:solidFill>
              <a:srgbClr val="B51A00"/>
            </a:solidFill>
            <a:custDash>
              <a:ds d="100000" sp="200000"/>
            </a:custDash>
            <a:miter lim="400000"/>
            <a:headEnd type="stealt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69" name="Rectangle"/>
          <p:cNvSpPr/>
          <p:nvPr/>
        </p:nvSpPr>
        <p:spPr>
          <a:xfrm>
            <a:off x="2367534" y="2063331"/>
            <a:ext cx="133890" cy="892595"/>
          </a:xfrm>
          <a:prstGeom prst="rect">
            <a:avLst/>
          </a:prstGeom>
          <a:ln w="3175">
            <a:solidFill>
              <a:srgbClr val="000000"/>
            </a:solidFill>
            <a:miter lim="400000"/>
          </a:ln>
        </p:spPr>
        <p:txBody>
          <a:bodyPr lIns="26777" tIns="26777" rIns="26777" bIns="26777" anchor="ctr"/>
          <a:lstStyle/>
          <a:p>
            <a:pPr>
              <a:buClr>
                <a:srgbClr val="000000"/>
              </a:buCl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0" name="Line"/>
          <p:cNvSpPr/>
          <p:nvPr/>
        </p:nvSpPr>
        <p:spPr>
          <a:xfrm flipH="1" flipV="1">
            <a:off x="7919466" y="4196630"/>
            <a:ext cx="470217" cy="4197"/>
          </a:xfrm>
          <a:prstGeom prst="line">
            <a:avLst/>
          </a:prstGeom>
          <a:ln w="12700">
            <a:solidFill>
              <a:srgbClr val="0061FF"/>
            </a:solidFill>
            <a:miter lim="400000"/>
            <a:headEnd type="stealt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71" name="Rectangle"/>
          <p:cNvSpPr/>
          <p:nvPr/>
        </p:nvSpPr>
        <p:spPr>
          <a:xfrm>
            <a:off x="2367534" y="3759259"/>
            <a:ext cx="133890" cy="892595"/>
          </a:xfrm>
          <a:prstGeom prst="rect">
            <a:avLst/>
          </a:prstGeom>
          <a:ln w="3175">
            <a:solidFill>
              <a:srgbClr val="000000"/>
            </a:solidFill>
            <a:miter lim="400000"/>
          </a:ln>
        </p:spPr>
        <p:txBody>
          <a:bodyPr lIns="26777" tIns="26777" rIns="26777" bIns="26777" anchor="ctr"/>
          <a:lstStyle/>
          <a:p>
            <a:pPr>
              <a:buClr>
                <a:srgbClr val="000000"/>
              </a:buCl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2" name="Line"/>
          <p:cNvSpPr/>
          <p:nvPr/>
        </p:nvSpPr>
        <p:spPr>
          <a:xfrm>
            <a:off x="4750759" y="2134739"/>
            <a:ext cx="5440" cy="736390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73" name="Line"/>
          <p:cNvSpPr/>
          <p:nvPr/>
        </p:nvSpPr>
        <p:spPr>
          <a:xfrm>
            <a:off x="4750759" y="3830666"/>
            <a:ext cx="5440" cy="73639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74" name="Line"/>
          <p:cNvSpPr/>
          <p:nvPr/>
        </p:nvSpPr>
        <p:spPr>
          <a:xfrm>
            <a:off x="7928392" y="2206146"/>
            <a:ext cx="5441" cy="73639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75" name="Line"/>
          <p:cNvSpPr/>
          <p:nvPr/>
        </p:nvSpPr>
        <p:spPr>
          <a:xfrm>
            <a:off x="7928392" y="3902074"/>
            <a:ext cx="5441" cy="73639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76" name="1"/>
          <p:cNvSpPr txBox="1"/>
          <p:nvPr/>
        </p:nvSpPr>
        <p:spPr>
          <a:xfrm>
            <a:off x="2340757" y="3027332"/>
            <a:ext cx="19867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1</a:t>
            </a:r>
          </a:p>
        </p:txBody>
      </p:sp>
      <p:sp>
        <p:nvSpPr>
          <p:cNvPr id="1177" name="1"/>
          <p:cNvSpPr txBox="1"/>
          <p:nvPr/>
        </p:nvSpPr>
        <p:spPr>
          <a:xfrm>
            <a:off x="2340757" y="4696482"/>
            <a:ext cx="19867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1</a:t>
            </a:r>
          </a:p>
        </p:txBody>
      </p:sp>
      <p:sp>
        <p:nvSpPr>
          <p:cNvPr id="1178" name="2"/>
          <p:cNvSpPr txBox="1"/>
          <p:nvPr/>
        </p:nvSpPr>
        <p:spPr>
          <a:xfrm>
            <a:off x="7839133" y="3027332"/>
            <a:ext cx="19867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2</a:t>
            </a:r>
          </a:p>
        </p:txBody>
      </p:sp>
      <p:sp>
        <p:nvSpPr>
          <p:cNvPr id="1179" name="2"/>
          <p:cNvSpPr txBox="1"/>
          <p:nvPr/>
        </p:nvSpPr>
        <p:spPr>
          <a:xfrm>
            <a:off x="4661500" y="4696482"/>
            <a:ext cx="198673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2</a:t>
            </a:r>
          </a:p>
        </p:txBody>
      </p:sp>
      <p:sp>
        <p:nvSpPr>
          <p:cNvPr id="1180" name="3"/>
          <p:cNvSpPr txBox="1"/>
          <p:nvPr/>
        </p:nvSpPr>
        <p:spPr>
          <a:xfrm>
            <a:off x="4661500" y="3027332"/>
            <a:ext cx="198673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3</a:t>
            </a:r>
          </a:p>
        </p:txBody>
      </p:sp>
      <p:sp>
        <p:nvSpPr>
          <p:cNvPr id="1181" name="3"/>
          <p:cNvSpPr txBox="1"/>
          <p:nvPr/>
        </p:nvSpPr>
        <p:spPr>
          <a:xfrm>
            <a:off x="7839133" y="4696482"/>
            <a:ext cx="19867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3</a:t>
            </a:r>
          </a:p>
        </p:txBody>
      </p:sp>
      <p:sp>
        <p:nvSpPr>
          <p:cNvPr id="1182" name="Line"/>
          <p:cNvSpPr/>
          <p:nvPr/>
        </p:nvSpPr>
        <p:spPr>
          <a:xfrm flipH="1" flipV="1">
            <a:off x="4741833" y="2500702"/>
            <a:ext cx="470217" cy="4197"/>
          </a:xfrm>
          <a:prstGeom prst="line">
            <a:avLst/>
          </a:prstGeom>
          <a:ln w="12700">
            <a:solidFill>
              <a:srgbClr val="B51A00"/>
            </a:solidFill>
            <a:custDash>
              <a:ds d="100000" sp="200000"/>
            </a:custDash>
            <a:miter lim="400000"/>
            <a:headEnd type="stealt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83" name="Line"/>
          <p:cNvSpPr/>
          <p:nvPr/>
        </p:nvSpPr>
        <p:spPr>
          <a:xfrm>
            <a:off x="5302703" y="2509628"/>
            <a:ext cx="2630572" cy="4840"/>
          </a:xfrm>
          <a:prstGeom prst="line">
            <a:avLst/>
          </a:prstGeom>
          <a:ln w="12700">
            <a:solidFill>
              <a:srgbClr val="FF6A00"/>
            </a:solidFill>
            <a:custDash>
              <a:ds d="100000" sp="200000"/>
            </a:custDash>
            <a:miter lim="400000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84" name="Moving to 3rd comp in list requires “moving back in time”.…"/>
          <p:cNvSpPr txBox="1"/>
          <p:nvPr/>
        </p:nvSpPr>
        <p:spPr>
          <a:xfrm>
            <a:off x="2483572" y="5258816"/>
            <a:ext cx="6341669" cy="1327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/>
          <a:p>
            <a:pPr>
              <a:buClr>
                <a:srgbClr val="000000"/>
              </a:buClr>
            </a:pPr>
            <a:r>
              <a:t>Moving to 3rd comp in list requires “moving back in time”.</a:t>
            </a:r>
          </a:p>
          <a:p>
            <a:pPr>
              <a:buClr>
                <a:srgbClr val="000000"/>
              </a:buClr>
            </a:pPr>
            <a:r>
              <a:t>Default behavior is to ABSORB this type of neutron.</a:t>
            </a:r>
          </a:p>
          <a:p>
            <a:pPr>
              <a:buClr>
                <a:srgbClr val="000000"/>
              </a:buClr>
            </a:pPr>
            <a:r>
              <a:t>For monitors use restore_neutron=1 in this case.</a:t>
            </a:r>
          </a:p>
          <a:p>
            <a:pPr>
              <a:buClr>
                <a:srgbClr val="000000"/>
              </a:buClr>
            </a:pPr>
            <a:r>
              <a:t>For homegrown comps use ALLOW_BACKPROP macro.</a:t>
            </a:r>
          </a:p>
        </p:txBody>
      </p:sp>
      <p:sp>
        <p:nvSpPr>
          <p:cNvPr id="1185" name="The order of components is important,…"/>
          <p:cNvSpPr txBox="1"/>
          <p:nvPr/>
        </p:nvSpPr>
        <p:spPr>
          <a:xfrm>
            <a:off x="9320808" y="2765195"/>
            <a:ext cx="2777113" cy="2479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0"/>
              </a:spcBef>
              <a:defRPr b="1" sz="2400"/>
            </a:pPr>
            <a:r>
              <a:t>The order of components is important, </a:t>
            </a:r>
          </a:p>
          <a:p>
            <a:pPr>
              <a:spcBef>
                <a:spcPts val="0"/>
              </a:spcBef>
              <a:defRPr b="1" sz="2400"/>
            </a:pPr>
          </a:p>
          <a:p>
            <a:pPr>
              <a:spcBef>
                <a:spcPts val="0"/>
              </a:spcBef>
              <a:defRPr b="1" sz="2400"/>
            </a:pPr>
            <a:r>
              <a:t>and in general  overlaps should be avoided!</a:t>
            </a:r>
          </a:p>
        </p:txBody>
      </p:sp>
      <p:sp>
        <p:nvSpPr>
          <p:cNvPr id="1186" name="Line"/>
          <p:cNvSpPr/>
          <p:nvPr/>
        </p:nvSpPr>
        <p:spPr>
          <a:xfrm>
            <a:off x="10475586" y="932649"/>
            <a:ext cx="1" cy="1732057"/>
          </a:xfrm>
          <a:prstGeom prst="line">
            <a:avLst/>
          </a:prstGeom>
          <a:ln w="76200">
            <a:solidFill>
              <a:schemeClr val="accent1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7" name="To first order, McStas is linear and follows sequence of components in your file…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To first order, McStas is linear and follows sequence of components in your file…</a:t>
            </a:r>
          </a:p>
        </p:txBody>
      </p:sp>
      <p:sp>
        <p:nvSpPr>
          <p:cNvPr id="1188" name="Line"/>
          <p:cNvSpPr/>
          <p:nvPr/>
        </p:nvSpPr>
        <p:spPr>
          <a:xfrm>
            <a:off x="2477459" y="2134739"/>
            <a:ext cx="5440" cy="736390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89" name="Line"/>
          <p:cNvSpPr/>
          <p:nvPr/>
        </p:nvSpPr>
        <p:spPr>
          <a:xfrm>
            <a:off x="2477459" y="3830666"/>
            <a:ext cx="5440" cy="73639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Instrument fi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Instrument file</a:t>
            </a:r>
          </a:p>
        </p:txBody>
      </p:sp>
      <p:pic>
        <p:nvPicPr>
          <p:cNvPr id="1192" name="droppedImage.png" descr="dropped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07989" y="2009179"/>
            <a:ext cx="5357814" cy="421698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93" name="droppedImage.png" descr="droppedImag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239472" y="3094136"/>
            <a:ext cx="1473399" cy="277051"/>
          </a:xfrm>
          <a:prstGeom prst="rect">
            <a:avLst/>
          </a:prstGeom>
          <a:ln w="12700">
            <a:miter lim="400000"/>
          </a:ln>
        </p:spPr>
      </p:pic>
      <p:sp>
        <p:nvSpPr>
          <p:cNvPr id="1194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Component fi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Component file</a:t>
            </a:r>
          </a:p>
        </p:txBody>
      </p:sp>
      <p:pic>
        <p:nvPicPr>
          <p:cNvPr id="1197" name="droppedImage.png" descr="dropped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93677" y="1948904"/>
            <a:ext cx="3683497" cy="4576085"/>
          </a:xfrm>
          <a:prstGeom prst="rect">
            <a:avLst/>
          </a:prstGeom>
          <a:ln w="12700">
            <a:miter lim="400000"/>
          </a:ln>
        </p:spPr>
      </p:pic>
      <p:pic>
        <p:nvPicPr>
          <p:cNvPr id="1198" name="droppedImage.png" descr="droppedImag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283870" y="1962298"/>
            <a:ext cx="3583288" cy="3382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99" name="droppedImage.png" descr="droppedImag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444605" y="5444876"/>
            <a:ext cx="2056392" cy="544154"/>
          </a:xfrm>
          <a:prstGeom prst="rect">
            <a:avLst/>
          </a:prstGeom>
          <a:ln w="12700">
            <a:miter lim="400000"/>
          </a:ln>
        </p:spPr>
      </p:pic>
      <p:sp>
        <p:nvSpPr>
          <p:cNvPr id="12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enerated c-cod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Generated c-code</a:t>
            </a:r>
          </a:p>
        </p:txBody>
      </p:sp>
      <p:pic>
        <p:nvPicPr>
          <p:cNvPr id="1203" name="droppedImage.png" descr="dropped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24503" y="1774569"/>
            <a:ext cx="4313040" cy="4702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1204" name="droppedImage.png" descr="droppedImag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676526" y="2491382"/>
            <a:ext cx="1749662" cy="27692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05" name="droppedImage.png" descr="droppedImag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585247" y="1995785"/>
            <a:ext cx="3492954" cy="3650010"/>
          </a:xfrm>
          <a:prstGeom prst="rect">
            <a:avLst/>
          </a:prstGeom>
          <a:ln w="12700">
            <a:miter lim="400000"/>
          </a:ln>
        </p:spPr>
      </p:pic>
      <p:sp>
        <p:nvSpPr>
          <p:cNvPr id="120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Writing new comps or understanding existing is not that complex...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Writing new comps or understanding existing is not that complex...</a:t>
            </a:r>
          </a:p>
        </p:txBody>
      </p:sp>
      <p:sp>
        <p:nvSpPr>
          <p:cNvPr id="1209" name="Check our long list of components and look inside... Most of them are quite simple and short... Statistics:"/>
          <p:cNvSpPr txBox="1"/>
          <p:nvPr>
            <p:ph type="body" idx="1"/>
          </p:nvPr>
        </p:nvSpPr>
        <p:spPr>
          <a:xfrm>
            <a:off x="1774800" y="1579399"/>
            <a:ext cx="9312375" cy="4545579"/>
          </a:xfrm>
          <a:prstGeom prst="rect">
            <a:avLst/>
          </a:prstGeom>
        </p:spPr>
        <p:txBody>
          <a:bodyPr/>
          <a:lstStyle/>
          <a:p>
            <a:pPr marL="198782" indent="-198782">
              <a:defRPr sz="2000"/>
            </a:pPr>
            <a:r>
              <a:t>Check our long list of components and look inside... Most of them are quite simple and short... Statistics:</a:t>
            </a:r>
            <a:br/>
          </a:p>
        </p:txBody>
      </p:sp>
      <p:pic>
        <p:nvPicPr>
          <p:cNvPr id="1210" name="determine-lines-code-net-project-800x800.png" descr="determine-lines-code-net-project-800x80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93799" y="2817228"/>
            <a:ext cx="1883607" cy="1841749"/>
          </a:xfrm>
          <a:prstGeom prst="rect">
            <a:avLst/>
          </a:prstGeom>
          <a:ln w="12700">
            <a:miter lim="400000"/>
          </a:ln>
        </p:spPr>
      </p:pic>
      <p:sp>
        <p:nvSpPr>
          <p:cNvPr id="12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212" name="Comps_no_lines.pdf" descr="Comps_no_lines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537430" y="565056"/>
            <a:ext cx="4983458" cy="7052222"/>
          </a:xfrm>
          <a:prstGeom prst="rect">
            <a:avLst/>
          </a:prstGeom>
          <a:ln w="12700">
            <a:miter lim="400000"/>
          </a:ln>
        </p:spPr>
      </p:pic>
      <p:sp>
        <p:nvSpPr>
          <p:cNvPr id="1213" name="(update: 175)"/>
          <p:cNvSpPr txBox="1"/>
          <p:nvPr/>
        </p:nvSpPr>
        <p:spPr>
          <a:xfrm>
            <a:off x="7431059" y="2437312"/>
            <a:ext cx="1221483" cy="22195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(update: 175)</a:t>
            </a:r>
          </a:p>
        </p:txBody>
      </p:sp>
      <p:sp>
        <p:nvSpPr>
          <p:cNvPr id="1214" name="Number of lines of code per component - 199 comps in total"/>
          <p:cNvSpPr txBox="1"/>
          <p:nvPr/>
        </p:nvSpPr>
        <p:spPr>
          <a:xfrm>
            <a:off x="2301617" y="2268889"/>
            <a:ext cx="6355075" cy="4826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455414">
              <a:spcBef>
                <a:spcPts val="400"/>
              </a:spcBef>
              <a:defRPr b="1">
                <a:solidFill>
                  <a:schemeClr val="accent4">
                    <a:lumOff val="-3725"/>
                  </a:schemeClr>
                </a:solidFill>
                <a:latin typeface="Gill Sans"/>
                <a:ea typeface="Gill Sans"/>
                <a:cs typeface="Gill Sans"/>
                <a:sym typeface="Gill Sans"/>
              </a:defRPr>
            </a:pPr>
            <a:r>
              <a:t>Number of lines of code per component - 199 comps in total</a:t>
            </a:r>
            <a:br/>
          </a:p>
        </p:txBody>
      </p:sp>
      <p:sp>
        <p:nvSpPr>
          <p:cNvPr id="1215" name="# Lines of code (log axis)"/>
          <p:cNvSpPr txBox="1"/>
          <p:nvPr/>
        </p:nvSpPr>
        <p:spPr>
          <a:xfrm rot="16202584">
            <a:off x="1812849" y="4092727"/>
            <a:ext cx="2328169" cy="22195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# Lines of code (log axis)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Writing new comps or understanding existing is not that complex...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Writing new comps or understanding existing is not that complex...</a:t>
            </a:r>
          </a:p>
        </p:txBody>
      </p:sp>
      <p:sp>
        <p:nvSpPr>
          <p:cNvPr id="1218" name="Check our long list of components and look inside... Most of them are quite simple and short... Statistics:"/>
          <p:cNvSpPr txBox="1"/>
          <p:nvPr>
            <p:ph type="body" idx="1"/>
          </p:nvPr>
        </p:nvSpPr>
        <p:spPr>
          <a:xfrm>
            <a:off x="1774800" y="1579399"/>
            <a:ext cx="9312375" cy="4545579"/>
          </a:xfrm>
          <a:prstGeom prst="rect">
            <a:avLst/>
          </a:prstGeom>
        </p:spPr>
        <p:txBody>
          <a:bodyPr/>
          <a:lstStyle/>
          <a:p>
            <a:pPr marL="198782" indent="-198782">
              <a:defRPr sz="2000"/>
            </a:pPr>
            <a:r>
              <a:t>Check our long list of components and look inside... Most of them are quite simple and short... Statistics:</a:t>
            </a:r>
            <a:br/>
          </a:p>
        </p:txBody>
      </p:sp>
      <p:pic>
        <p:nvPicPr>
          <p:cNvPr id="1219" name="determine-lines-code-net-project-800x800.png" descr="determine-lines-code-net-project-800x80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93799" y="2817228"/>
            <a:ext cx="1883607" cy="1841749"/>
          </a:xfrm>
          <a:prstGeom prst="rect">
            <a:avLst/>
          </a:prstGeom>
          <a:ln w="12700">
            <a:miter lim="400000"/>
          </a:ln>
        </p:spPr>
      </p:pic>
      <p:sp>
        <p:nvSpPr>
          <p:cNvPr id="12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221" name="Comps_no_lines.pdf" descr="Comps_no_lines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537430" y="565056"/>
            <a:ext cx="4983458" cy="7052222"/>
          </a:xfrm>
          <a:prstGeom prst="rect">
            <a:avLst/>
          </a:prstGeom>
          <a:ln w="12700">
            <a:miter lim="400000"/>
          </a:ln>
        </p:spPr>
      </p:pic>
      <p:sp>
        <p:nvSpPr>
          <p:cNvPr id="1222" name="(update: 175)"/>
          <p:cNvSpPr txBox="1"/>
          <p:nvPr/>
        </p:nvSpPr>
        <p:spPr>
          <a:xfrm>
            <a:off x="7431059" y="2437312"/>
            <a:ext cx="1221483" cy="22195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(update: 175)</a:t>
            </a:r>
          </a:p>
        </p:txBody>
      </p:sp>
      <p:sp>
        <p:nvSpPr>
          <p:cNvPr id="1223" name="Number of lines of code per component - 199 comps in total"/>
          <p:cNvSpPr txBox="1"/>
          <p:nvPr/>
        </p:nvSpPr>
        <p:spPr>
          <a:xfrm>
            <a:off x="2414438" y="2277396"/>
            <a:ext cx="6355075" cy="4826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455414">
              <a:spcBef>
                <a:spcPts val="400"/>
              </a:spcBef>
              <a:defRPr b="1">
                <a:solidFill>
                  <a:schemeClr val="accent4">
                    <a:lumOff val="-3725"/>
                  </a:schemeClr>
                </a:solidFill>
                <a:latin typeface="Gill Sans"/>
                <a:ea typeface="Gill Sans"/>
                <a:cs typeface="Gill Sans"/>
                <a:sym typeface="Gill Sans"/>
              </a:defRPr>
            </a:pPr>
            <a:r>
              <a:t>Number of lines of code per component - 199 comps in total</a:t>
            </a:r>
            <a:br/>
          </a:p>
        </p:txBody>
      </p:sp>
      <p:sp>
        <p:nvSpPr>
          <p:cNvPr id="1224" name="Well-developed community support…"/>
          <p:cNvSpPr txBox="1"/>
          <p:nvPr/>
        </p:nvSpPr>
        <p:spPr>
          <a:xfrm>
            <a:off x="2173604" y="3928659"/>
            <a:ext cx="8327390" cy="2132911"/>
          </a:xfrm>
          <a:prstGeom prst="rect">
            <a:avLst/>
          </a:prstGeom>
          <a:solidFill>
            <a:srgbClr val="FFFFFF"/>
          </a:solidFill>
          <a:ln w="63500">
            <a:solidFill>
              <a:schemeClr val="accent1">
                <a:lumOff val="-600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29267" indent="-129267">
              <a:spcBef>
                <a:spcPts val="500"/>
              </a:spcBef>
              <a:buSzPct val="100000"/>
              <a:buChar char="•"/>
              <a:defRPr sz="2000"/>
            </a:pPr>
            <a:r>
              <a:t>Well-developed community support</a:t>
            </a:r>
          </a:p>
          <a:p>
            <a:pPr lvl="1" marL="310242" indent="-129267">
              <a:spcBef>
                <a:spcPts val="500"/>
              </a:spcBef>
              <a:buSzPct val="100000"/>
              <a:buChar char="–"/>
              <a:defRPr sz="2000"/>
            </a:pPr>
            <a:r>
              <a:t>30-40% of existing and new additions are from users</a:t>
            </a:r>
          </a:p>
          <a:p>
            <a:pPr lvl="1" marL="310242" indent="-129267">
              <a:spcBef>
                <a:spcPts val="500"/>
              </a:spcBef>
              <a:buSzPct val="100000"/>
              <a:buChar char="–"/>
              <a:defRPr sz="2000"/>
            </a:pPr>
            <a:r>
              <a:t>No direct refereeing of the code, but these requirements:</a:t>
            </a:r>
          </a:p>
          <a:p>
            <a:pPr lvl="3" marL="665389" indent="-122464">
              <a:spcBef>
                <a:spcPts val="500"/>
              </a:spcBef>
              <a:buSzPct val="100000"/>
              <a:buChar char="–"/>
              <a:defRPr sz="2000"/>
            </a:pPr>
            <a:r>
              <a:t>At least one test-instrument</a:t>
            </a:r>
          </a:p>
          <a:p>
            <a:pPr lvl="3" marL="665389" indent="-122464">
              <a:spcBef>
                <a:spcPts val="500"/>
              </a:spcBef>
              <a:buSzPct val="100000"/>
              <a:buChar char="–"/>
              <a:defRPr sz="2000"/>
            </a:pPr>
            <a:r>
              <a:t>Meaningful documentation headers (in-code docs)</a:t>
            </a:r>
          </a:p>
          <a:p>
            <a:pPr lvl="1" marL="310242" indent="-129267">
              <a:spcBef>
                <a:spcPts val="500"/>
              </a:spcBef>
              <a:buSzPct val="100000"/>
              <a:buChar char="–"/>
              <a:defRPr sz="2000"/>
            </a:pPr>
            <a:r>
              <a:t>Contributions go in dedicated contrib/ section of library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6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031168" y="2355469"/>
            <a:ext cx="4323629" cy="2505673"/>
          </a:xfrm>
          <a:prstGeom prst="rect">
            <a:avLst/>
          </a:prstGeom>
          <a:ln w="12700">
            <a:miter lim="400000"/>
          </a:ln>
        </p:spPr>
      </p:pic>
      <p:pic>
        <p:nvPicPr>
          <p:cNvPr id="1227" name="droppedImage.png" descr="droppedImag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92308" y="3574828"/>
            <a:ext cx="4398450" cy="1459727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25400" dist="12700" dir="5400000">
              <a:srgbClr val="000000">
                <a:alpha val="45000"/>
              </a:srgbClr>
            </a:outerShdw>
          </a:effectLst>
        </p:spPr>
      </p:pic>
      <p:pic>
        <p:nvPicPr>
          <p:cNvPr id="1228" name="droppedImage.pdf" descr="droppedImage.pd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34274" y="1492273"/>
            <a:ext cx="3254318" cy="245348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29" name="droppedImage.pdf" descr="droppedImage.pdf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499283" y="3774354"/>
            <a:ext cx="3415798" cy="2631780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25400" dist="12700" dir="5400000">
              <a:srgbClr val="000000">
                <a:alpha val="45000"/>
              </a:srgbClr>
            </a:outerShdw>
          </a:effectLst>
        </p:spPr>
      </p:pic>
      <p:pic>
        <p:nvPicPr>
          <p:cNvPr id="1230" name="droppedImage.png" descr="droppedImage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881611" y="132075"/>
            <a:ext cx="3254319" cy="2505673"/>
          </a:xfrm>
          <a:prstGeom prst="rect">
            <a:avLst/>
          </a:prstGeom>
          <a:ln w="3175"/>
        </p:spPr>
      </p:pic>
      <p:pic>
        <p:nvPicPr>
          <p:cNvPr id="1231" name="droppedImage.png" descr="droppedImage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3998619" y="1492273"/>
            <a:ext cx="2976923" cy="228756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32" name="droppedImage.png" descr="droppedImage.pn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7763550" y="4895223"/>
            <a:ext cx="2097639" cy="1611895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25400" dist="12700" dir="5400000">
              <a:srgbClr val="000000">
                <a:alpha val="45000"/>
              </a:srgbClr>
            </a:outerShdw>
          </a:effectLst>
        </p:spPr>
      </p:pic>
      <p:pic>
        <p:nvPicPr>
          <p:cNvPr id="1233" name="image.png" descr="image.png"/>
          <p:cNvPicPr>
            <a:picLocks noChangeAspect="0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5104457" y="5078840"/>
            <a:ext cx="2603371" cy="152869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34" name="droppedImage.png" descr="droppedImage.png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9916910" y="4833222"/>
            <a:ext cx="2097639" cy="1678112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25400" dist="12700" dir="5400000">
              <a:srgbClr val="000000">
                <a:alpha val="45000"/>
              </a:srgbClr>
            </a:outerShdw>
          </a:effectLst>
        </p:spPr>
      </p:pic>
      <p:sp>
        <p:nvSpPr>
          <p:cNvPr id="1235" name="Example suite: ~140 instrum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Example suite: ~140 instruments</a:t>
            </a:r>
          </a:p>
        </p:txBody>
      </p:sp>
      <p:sp>
        <p:nvSpPr>
          <p:cNvPr id="123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237" name="Image" descr="Image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7681372" y="1504279"/>
            <a:ext cx="1298696" cy="1965114"/>
          </a:xfrm>
          <a:prstGeom prst="rect">
            <a:avLst/>
          </a:prstGeom>
          <a:ln w="12700">
            <a:miter lim="400000"/>
          </a:ln>
        </p:spPr>
      </p:pic>
      <p:pic>
        <p:nvPicPr>
          <p:cNvPr id="1238" name="Image" descr="Image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6963391" y="1504279"/>
            <a:ext cx="666882" cy="196511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Double-click to edi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41" name="Double-click to edi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SzPct val="171000"/>
            </a:pPr>
          </a:p>
        </p:txBody>
      </p:sp>
      <p:pic>
        <p:nvPicPr>
          <p:cNvPr id="1242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60559" y="1178828"/>
            <a:ext cx="2716901" cy="1802744"/>
          </a:xfrm>
          <a:prstGeom prst="rect">
            <a:avLst/>
          </a:prstGeom>
          <a:ln w="12700">
            <a:miter lim="400000"/>
          </a:ln>
        </p:spPr>
      </p:pic>
      <p:pic>
        <p:nvPicPr>
          <p:cNvPr id="1243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20607" y="1178828"/>
            <a:ext cx="2716901" cy="1802744"/>
          </a:xfrm>
          <a:prstGeom prst="rect">
            <a:avLst/>
          </a:prstGeom>
          <a:ln w="12700">
            <a:miter lim="400000"/>
          </a:ln>
        </p:spPr>
      </p:pic>
      <p:pic>
        <p:nvPicPr>
          <p:cNvPr id="1244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977616" y="-1"/>
            <a:ext cx="5878287" cy="6858001"/>
          </a:xfrm>
          <a:prstGeom prst="rect">
            <a:avLst/>
          </a:prstGeom>
          <a:ln w="12700">
            <a:miter lim="400000"/>
          </a:ln>
        </p:spPr>
      </p:pic>
      <p:sp>
        <p:nvSpPr>
          <p:cNvPr id="12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Units used - and differences to Vites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Units used - and differences to Vitess</a:t>
            </a:r>
          </a:p>
        </p:txBody>
      </p:sp>
      <p:sp>
        <p:nvSpPr>
          <p:cNvPr id="1248" name="Generally SI-Units, e.g. meters and seconds etc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Generally SI-Units, e.g. </a:t>
            </a:r>
            <a:r>
              <a:rPr b="1"/>
              <a:t>meters</a:t>
            </a:r>
            <a:r>
              <a:t> and </a:t>
            </a:r>
            <a:r>
              <a:rPr b="1"/>
              <a:t>seconds </a:t>
            </a:r>
            <a:r>
              <a:t>etc.</a:t>
            </a:r>
          </a:p>
          <a:p>
            <a:pPr/>
            <a:r>
              <a:t>Added neutron-scattering meaningful quantities of</a:t>
            </a:r>
            <a:r>
              <a:rPr b="1"/>
              <a:t> E[meV]</a:t>
            </a:r>
            <a:r>
              <a:t>, </a:t>
            </a:r>
            <a:r>
              <a:rPr b="1"/>
              <a:t>𝝺[Å]</a:t>
            </a:r>
            <a:r>
              <a:t> and cross sections in </a:t>
            </a:r>
            <a:r>
              <a:rPr b="1"/>
              <a:t>𝞂 [barns]</a:t>
            </a:r>
          </a:p>
        </p:txBody>
      </p:sp>
      <p:sp>
        <p:nvSpPr>
          <p:cNvPr id="12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250" name="Main differences / difficulties translating between                       McStas                 Vitess…"/>
          <p:cNvSpPr/>
          <p:nvPr/>
        </p:nvSpPr>
        <p:spPr>
          <a:xfrm>
            <a:off x="2172200" y="2803301"/>
            <a:ext cx="9286975" cy="3620485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/>
          <a:p>
            <a:pPr>
              <a:defRPr sz="1800"/>
            </a:pPr>
            <a:r>
              <a:t>Main differences / difficulties translating between                       McStas                 Vitess</a:t>
            </a:r>
          </a:p>
          <a:p>
            <a:pPr marL="160421" indent="-160421">
              <a:buSzPct val="100000"/>
              <a:buChar char="•"/>
              <a:defRPr sz="1800"/>
            </a:pPr>
            <a:r>
              <a:t>Different length-units for placement / sizes                                  </a:t>
            </a:r>
            <a:r>
              <a:rPr b="1"/>
              <a:t>[m]</a:t>
            </a:r>
            <a:r>
              <a:t>                     [cm]</a:t>
            </a:r>
          </a:p>
          <a:p>
            <a:pPr marL="160421" indent="-160421">
              <a:buSzPct val="100000"/>
              <a:buChar char="•"/>
              <a:defRPr sz="1800"/>
            </a:pPr>
          </a:p>
          <a:p>
            <a:pPr marL="160421" indent="-160421">
              <a:buSzPct val="100000"/>
              <a:buChar char="•"/>
              <a:defRPr sz="1800"/>
            </a:pPr>
            <a:r>
              <a:t>Different propagation-coordinate system    </a:t>
            </a:r>
            <a:endParaRPr b="1"/>
          </a:p>
          <a:p>
            <a:pPr marL="160421" indent="-160421">
              <a:buSzPct val="100000"/>
              <a:buChar char="•"/>
              <a:defRPr sz="1800"/>
            </a:pPr>
          </a:p>
          <a:p>
            <a:pPr marL="160421" indent="-160421">
              <a:buSzPct val="100000"/>
              <a:buChar char="•"/>
              <a:defRPr sz="1800"/>
            </a:pPr>
          </a:p>
          <a:p>
            <a:pPr marL="160421" indent="-160421">
              <a:buSzPct val="100000"/>
              <a:buChar char="•"/>
              <a:defRPr sz="1800"/>
            </a:pPr>
            <a:r>
              <a:t>McStas explicitly and automatically contains “free space”, Vitess has this “inside” the modules or by adding “spacewindow”</a:t>
            </a:r>
          </a:p>
          <a:p>
            <a:pPr marL="160421" indent="-160421">
              <a:buSzPct val="100000"/>
              <a:buChar char="•"/>
              <a:defRPr sz="1800"/>
            </a:pPr>
            <a:r>
              <a:t>Sources in McStas always propagates “by virtual window”, i.e. does not itself propagate</a:t>
            </a:r>
          </a:p>
        </p:txBody>
      </p:sp>
      <p:sp>
        <p:nvSpPr>
          <p:cNvPr id="1251" name="Line"/>
          <p:cNvSpPr/>
          <p:nvPr/>
        </p:nvSpPr>
        <p:spPr>
          <a:xfrm>
            <a:off x="9638390" y="3183095"/>
            <a:ext cx="515144" cy="1"/>
          </a:xfrm>
          <a:prstGeom prst="line">
            <a:avLst/>
          </a:prstGeom>
          <a:ln w="25400">
            <a:solidFill>
              <a:schemeClr val="accent1"/>
            </a:solidFill>
            <a:headEnd type="triangle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2" name="z || beam…"/>
          <p:cNvSpPr/>
          <p:nvPr/>
        </p:nvSpPr>
        <p:spPr>
          <a:xfrm>
            <a:off x="8422121" y="3966482"/>
            <a:ext cx="1078614" cy="1068952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/>
          <a:p>
            <a:pPr/>
            <a:r>
              <a:t>z || beam</a:t>
            </a:r>
          </a:p>
          <a:p>
            <a:pPr/>
            <a:r>
              <a:t>y vertical </a:t>
            </a:r>
          </a:p>
          <a:p>
            <a:pPr/>
            <a:r>
              <a:t>x </a:t>
            </a:r>
            <a:r>
              <a:rPr>
                <a:latin typeface="Heiti SC Light"/>
                <a:ea typeface="Heiti SC Light"/>
                <a:cs typeface="Heiti SC Light"/>
                <a:sym typeface="Heiti SC Light"/>
              </a:rPr>
              <a:t>⊥</a:t>
            </a:r>
            <a:r>
              <a:t> beam</a:t>
            </a:r>
          </a:p>
        </p:txBody>
      </p:sp>
      <p:sp>
        <p:nvSpPr>
          <p:cNvPr id="1253" name="x || beam…"/>
          <p:cNvSpPr/>
          <p:nvPr/>
        </p:nvSpPr>
        <p:spPr>
          <a:xfrm>
            <a:off x="10290468" y="3966482"/>
            <a:ext cx="1078614" cy="1068952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/>
          <a:p>
            <a:pPr/>
            <a:r>
              <a:t>x || beam</a:t>
            </a:r>
          </a:p>
          <a:p>
            <a:pPr/>
            <a:r>
              <a:t>z vertical </a:t>
            </a:r>
          </a:p>
          <a:p>
            <a:pPr/>
            <a:r>
              <a:t>y </a:t>
            </a:r>
            <a:r>
              <a:rPr>
                <a:latin typeface="Heiti SC Light"/>
                <a:ea typeface="Heiti SC Light"/>
                <a:cs typeface="Heiti SC Light"/>
                <a:sym typeface="Heiti SC Light"/>
              </a:rPr>
              <a:t>⊥</a:t>
            </a:r>
            <a:r>
              <a:t> beam</a:t>
            </a:r>
          </a:p>
        </p:txBody>
      </p:sp>
      <p:pic>
        <p:nvPicPr>
          <p:cNvPr id="1254" name="logo-left.png" descr="logo-left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99009" y="241229"/>
            <a:ext cx="1013075" cy="594337"/>
          </a:xfrm>
          <a:prstGeom prst="rect">
            <a:avLst/>
          </a:prstGeom>
          <a:ln w="12700">
            <a:miter lim="400000"/>
          </a:ln>
        </p:spPr>
      </p:pic>
      <p:pic>
        <p:nvPicPr>
          <p:cNvPr id="1255" name="vitess_logo_320x135.gif" descr="vitess_logo_320x135.gi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063413" y="324702"/>
            <a:ext cx="1013075" cy="42739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cover dir="l"/>
      </p:transition>
    </mc:Choice>
    <mc:Fallback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McStas          Vitess compatibility featur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McStas          Vitess compatibility features</a:t>
            </a:r>
          </a:p>
        </p:txBody>
      </p:sp>
      <p:sp>
        <p:nvSpPr>
          <p:cNvPr id="1258" name="MCPL particle list is supported from McStas 2.3- (2016) and Vitess 3.4 (2018)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MCPL particle list is supported from McStas 2.3- (2016) and Vitess 3.4 (2018)</a:t>
            </a:r>
          </a:p>
          <a:p>
            <a:pPr/>
          </a:p>
          <a:p>
            <a:pPr/>
            <a:r>
              <a:t>McStas includes Vitess_output and Vitess_input, but better use MCPL</a:t>
            </a:r>
          </a:p>
          <a:p>
            <a:pPr/>
          </a:p>
          <a:p>
            <a:pPr/>
            <a:r>
              <a:t>mcstas2vitess can be used to port McStas components to Vitess</a:t>
            </a:r>
          </a:p>
          <a:p>
            <a:pPr/>
          </a:p>
          <a:p>
            <a:pPr/>
            <a:r>
              <a:t>Vitess_ChopperFermi is the Vitess Fermi chopper ported to McStas</a:t>
            </a:r>
          </a:p>
        </p:txBody>
      </p:sp>
      <p:sp>
        <p:nvSpPr>
          <p:cNvPr id="1259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260" name="Line"/>
          <p:cNvSpPr/>
          <p:nvPr/>
        </p:nvSpPr>
        <p:spPr>
          <a:xfrm>
            <a:off x="3364924" y="1261318"/>
            <a:ext cx="515144" cy="1"/>
          </a:xfrm>
          <a:prstGeom prst="line">
            <a:avLst/>
          </a:prstGeom>
          <a:ln w="25400">
            <a:solidFill>
              <a:schemeClr val="accent1"/>
            </a:solidFill>
            <a:headEnd type="triangle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1" name="Friendly competition and collaboration for 1.5 decades! - e.g. Klaus Lieutenant was part of McStas team for 2 years"/>
          <p:cNvSpPr/>
          <p:nvPr/>
        </p:nvSpPr>
        <p:spPr>
          <a:xfrm>
            <a:off x="2205255" y="4976075"/>
            <a:ext cx="5227818" cy="817687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>
            <a:lvl1pPr>
              <a:defRPr b="1"/>
            </a:lvl1pPr>
          </a:lstStyle>
          <a:p>
            <a:pPr/>
            <a:r>
              <a:t>Friendly competition and collaboration for 1.5 decades! - e.g. Klaus Lieutenant was part of McStas team for 2 years</a:t>
            </a:r>
          </a:p>
        </p:txBody>
      </p:sp>
      <p:pic>
        <p:nvPicPr>
          <p:cNvPr id="1262" name="logo-left.png" descr="logo-left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99009" y="241229"/>
            <a:ext cx="1013075" cy="594337"/>
          </a:xfrm>
          <a:prstGeom prst="rect">
            <a:avLst/>
          </a:prstGeom>
          <a:ln w="12700">
            <a:miter lim="400000"/>
          </a:ln>
        </p:spPr>
      </p:pic>
      <p:pic>
        <p:nvPicPr>
          <p:cNvPr id="1263" name="vitess_logo_320x135.gif" descr="vitess_logo_320x135.gi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063413" y="324702"/>
            <a:ext cx="1013075" cy="42739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McStas: Neutrons, Monte Carlo &amp; ray-trac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McStas: </a:t>
            </a:r>
            <a:r>
              <a:t>Neutrons</a:t>
            </a:r>
            <a:r>
              <a:t>, Monte Carlo &amp; ray-tracing</a:t>
            </a:r>
          </a:p>
        </p:txBody>
      </p:sp>
      <p:sp>
        <p:nvSpPr>
          <p:cNvPr id="126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267" name="PreviewScreenSnapz002.pdf" descr="PreviewScreenSnapz002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53427" y="1334095"/>
            <a:ext cx="2291810" cy="5196715"/>
          </a:xfrm>
          <a:prstGeom prst="rect">
            <a:avLst/>
          </a:prstGeom>
          <a:ln w="12700">
            <a:miter lim="400000"/>
          </a:ln>
        </p:spPr>
      </p:pic>
      <p:pic>
        <p:nvPicPr>
          <p:cNvPr id="1268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436331" y="2079479"/>
            <a:ext cx="2291810" cy="2916849"/>
          </a:xfrm>
          <a:prstGeom prst="rect">
            <a:avLst/>
          </a:prstGeom>
          <a:ln w="12700">
            <a:miter lim="400000"/>
          </a:ln>
        </p:spPr>
      </p:pic>
      <p:sp>
        <p:nvSpPr>
          <p:cNvPr id="1269" name="Subatomic particle discovered by…"/>
          <p:cNvSpPr txBox="1"/>
          <p:nvPr/>
        </p:nvSpPr>
        <p:spPr>
          <a:xfrm>
            <a:off x="9104588" y="1564666"/>
            <a:ext cx="3240073" cy="513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6789" tIns="26789" rIns="26789" bIns="26789">
            <a:spAutoFit/>
          </a:bodyPr>
          <a:lstStyle/>
          <a:p>
            <a:pPr defTabSz="455414">
              <a:spcBef>
                <a:spcPts val="400"/>
              </a:spcBef>
              <a:defRPr b="1" sz="1400">
                <a:solidFill>
                  <a:schemeClr val="accent4">
                    <a:lumOff val="-3725"/>
                  </a:schemeClr>
                </a:solidFill>
                <a:latin typeface="Gill Sans"/>
                <a:ea typeface="Gill Sans"/>
                <a:cs typeface="Gill Sans"/>
                <a:sym typeface="Gill Sans"/>
              </a:defRPr>
            </a:pPr>
            <a:r>
              <a:t>Subatomic particle discovered by</a:t>
            </a:r>
          </a:p>
          <a:p>
            <a:pPr defTabSz="455414">
              <a:spcBef>
                <a:spcPts val="400"/>
              </a:spcBef>
              <a:defRPr b="1" sz="1400">
                <a:solidFill>
                  <a:schemeClr val="accent4">
                    <a:lumOff val="-3725"/>
                  </a:schemeClr>
                </a:solidFill>
                <a:latin typeface="Gill Sans"/>
                <a:ea typeface="Gill Sans"/>
                <a:cs typeface="Gill Sans"/>
                <a:sym typeface="Gill Sans"/>
              </a:defRPr>
            </a:pPr>
            <a:r>
              <a:t>Sir James Chadwick in 1932</a:t>
            </a:r>
          </a:p>
        </p:txBody>
      </p:sp>
      <p:pic>
        <p:nvPicPr>
          <p:cNvPr id="1270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954740" y="5114857"/>
            <a:ext cx="8162106" cy="1307813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</p:pic>
      <p:grpSp>
        <p:nvGrpSpPr>
          <p:cNvPr id="1276" name="Group"/>
          <p:cNvGrpSpPr/>
          <p:nvPr/>
        </p:nvGrpSpPr>
        <p:grpSpPr>
          <a:xfrm>
            <a:off x="4104632" y="3596980"/>
            <a:ext cx="3707430" cy="575104"/>
            <a:chOff x="0" y="0"/>
            <a:chExt cx="3707428" cy="575103"/>
          </a:xfrm>
        </p:grpSpPr>
        <p:sp>
          <p:nvSpPr>
            <p:cNvPr id="1271" name="Rectangle"/>
            <p:cNvSpPr/>
            <p:nvPr/>
          </p:nvSpPr>
          <p:spPr>
            <a:xfrm>
              <a:off x="0" y="0"/>
              <a:ext cx="3707429" cy="575104"/>
            </a:xfrm>
            <a:prstGeom prst="rect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grpSp>
          <p:nvGrpSpPr>
            <p:cNvPr id="1275" name="Group"/>
            <p:cNvGrpSpPr/>
            <p:nvPr/>
          </p:nvGrpSpPr>
          <p:grpSpPr>
            <a:xfrm>
              <a:off x="256854" y="38588"/>
              <a:ext cx="3193721" cy="497927"/>
              <a:chOff x="0" y="0"/>
              <a:chExt cx="3193719" cy="497925"/>
            </a:xfrm>
          </p:grpSpPr>
          <p:pic>
            <p:nvPicPr>
              <p:cNvPr id="1272" name="Image" descr="Image"/>
              <p:cNvPicPr>
                <a:picLocks noChangeAspect="1"/>
              </p:cNvPicPr>
              <p:nvPr/>
            </p:nvPicPr>
            <p:blipFill>
              <a:blip r:embed="rId5">
                <a:extLst/>
              </a:blip>
              <a:stretch>
                <a:fillRect/>
              </a:stretch>
            </p:blipFill>
            <p:spPr>
              <a:xfrm>
                <a:off x="0" y="0"/>
                <a:ext cx="1817428" cy="497926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1273" name="Image" descr="Image"/>
              <p:cNvPicPr>
                <a:picLocks noChangeAspect="1"/>
              </p:cNvPicPr>
              <p:nvPr/>
            </p:nvPicPr>
            <p:blipFill>
              <a:blip r:embed="rId6">
                <a:extLst/>
              </a:blip>
              <a:stretch>
                <a:fillRect/>
              </a:stretch>
            </p:blipFill>
            <p:spPr>
              <a:xfrm>
                <a:off x="2266819" y="113539"/>
                <a:ext cx="926901" cy="23982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1274" name=","/>
              <p:cNvSpPr txBox="1"/>
              <p:nvPr/>
            </p:nvSpPr>
            <p:spPr>
              <a:xfrm>
                <a:off x="1842460" y="89839"/>
                <a:ext cx="127001" cy="2219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0" tIns="0" rIns="0" bIns="0" numCol="1" anchor="t">
                <a:spAutoFit/>
              </a:bodyPr>
              <a:lstStyle>
                <a:lvl1pPr>
                  <a:spcBef>
                    <a:spcPts val="400"/>
                  </a:spcBef>
                  <a:defRPr b="1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,</a:t>
                </a:r>
              </a:p>
            </p:txBody>
          </p:sp>
        </p:grpSp>
      </p:grpSp>
      <p:sp>
        <p:nvSpPr>
          <p:cNvPr id="1277" name="Rounded Rectangle"/>
          <p:cNvSpPr/>
          <p:nvPr/>
        </p:nvSpPr>
        <p:spPr>
          <a:xfrm>
            <a:off x="9281339" y="5042945"/>
            <a:ext cx="1231492" cy="1477037"/>
          </a:xfrm>
          <a:prstGeom prst="roundRect">
            <a:avLst>
              <a:gd name="adj" fmla="val 15000"/>
            </a:avLst>
          </a:prstGeom>
          <a:ln w="508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pic>
        <p:nvPicPr>
          <p:cNvPr id="1278" name="Image" descr="Image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4088757" y="1853799"/>
            <a:ext cx="4595932" cy="142846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79" name="Image" descr="Image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4174778" y="4486800"/>
            <a:ext cx="4248825" cy="239678"/>
          </a:xfrm>
          <a:prstGeom prst="rect">
            <a:avLst/>
          </a:prstGeom>
          <a:ln w="12700">
            <a:miter lim="400000"/>
          </a:ln>
        </p:spPr>
      </p:pic>
      <p:sp>
        <p:nvSpPr>
          <p:cNvPr id="1280" name="Rectangle"/>
          <p:cNvSpPr/>
          <p:nvPr/>
        </p:nvSpPr>
        <p:spPr>
          <a:xfrm>
            <a:off x="4101457" y="4319104"/>
            <a:ext cx="4510695" cy="575105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Neutron facilities"/>
          <p:cNvSpPr txBox="1"/>
          <p:nvPr>
            <p:ph type="title"/>
          </p:nvPr>
        </p:nvSpPr>
        <p:spPr>
          <a:xfrm>
            <a:off x="1990288" y="-294307"/>
            <a:ext cx="9312376" cy="972717"/>
          </a:xfrm>
          <a:prstGeom prst="rect">
            <a:avLst/>
          </a:prstGeom>
        </p:spPr>
        <p:txBody>
          <a:bodyPr/>
          <a:lstStyle/>
          <a:p>
            <a:pPr/>
            <a:r>
              <a:t>Neutron facilities</a:t>
            </a:r>
          </a:p>
        </p:txBody>
      </p:sp>
      <p:sp>
        <p:nvSpPr>
          <p:cNvPr id="1283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284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398702" y="3228379"/>
            <a:ext cx="2839439" cy="2349558"/>
          </a:xfrm>
          <a:prstGeom prst="rect">
            <a:avLst/>
          </a:prstGeom>
          <a:ln w="12700">
            <a:miter lim="400000"/>
          </a:ln>
        </p:spPr>
      </p:pic>
      <p:pic>
        <p:nvPicPr>
          <p:cNvPr id="1285" name="ESS_Logo_Frugal_Blue_cmyk.png" descr="ESS_Logo_Frugal_Blue_cmyk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088977" y="5389343"/>
            <a:ext cx="961948" cy="51761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288" name="Group"/>
          <p:cNvGrpSpPr/>
          <p:nvPr/>
        </p:nvGrpSpPr>
        <p:grpSpPr>
          <a:xfrm>
            <a:off x="5737312" y="3102147"/>
            <a:ext cx="3578514" cy="2418293"/>
            <a:chOff x="0" y="0"/>
            <a:chExt cx="3578512" cy="2418292"/>
          </a:xfrm>
        </p:grpSpPr>
        <p:pic>
          <p:nvPicPr>
            <p:cNvPr id="1286" name="ILL-Yb-small.png" descr="ILL-Yb-small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0"/>
              <a:ext cx="3578513" cy="24182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87" name="logoill.pdf" descr="logoill.pdf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1885964" y="491175"/>
              <a:ext cx="395682" cy="3782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1289" name="Neutron_production_3.pdf" descr="Neutron_production_3.pdf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323827" y="929307"/>
            <a:ext cx="4859054" cy="55820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290" name="A-representation-of-the-effective-thermal-flux-of-various-different-neutron-sources-since.png" descr="A-representation-of-the-effective-thermal-flux-of-various-different-neutron-sources-since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600338" y="548710"/>
            <a:ext cx="4732521" cy="23495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Monte Carlo techniqu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Monte Carlo techniques</a:t>
            </a:r>
          </a:p>
        </p:txBody>
      </p:sp>
      <p:sp>
        <p:nvSpPr>
          <p:cNvPr id="1293" name="Los Alamos has since then developed and perfected many different monte carlo codes leading to what is today known as the codes MCNP5 and MCNPX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203200" indent="-203200">
              <a:defRPr sz="1600"/>
            </a:pPr>
            <a:r>
              <a:t>Los Alamos has since then developed and perfected many different monte carlo codes leading to what is today known as the codes MCNP5 and MCNPX</a:t>
            </a:r>
          </a:p>
          <a:p>
            <a:pPr marL="203200" indent="-203200">
              <a:defRPr sz="1600"/>
            </a:pPr>
            <a:r>
              <a:t>State of the art is MCNP6 that features numerous (even exotic) particles</a:t>
            </a:r>
          </a:p>
          <a:p>
            <a:pPr marL="203200" indent="-203200">
              <a:defRPr sz="1600"/>
            </a:pPr>
            <a:r>
              <a:t>MCNP was originally Monte Carlo Neutron Photon, later N-Particle</a:t>
            </a:r>
          </a:p>
          <a:p>
            <a:pPr marL="203200" indent="-203200">
              <a:defRPr sz="1600"/>
            </a:pPr>
            <a:r>
              <a:t>Mainly used for high-energy particle descriptions in weapons, power reactors and routinely used for estimating dose rates and needed shielding</a:t>
            </a:r>
          </a:p>
          <a:p>
            <a:pPr marL="203200" indent="-203200">
              <a:defRPr sz="1600"/>
            </a:pPr>
            <a:r>
              <a:t>Does not to date handle crystalline / ordered material and coherent scattering of neutrons due to the focus on high energies</a:t>
            </a:r>
          </a:p>
        </p:txBody>
      </p:sp>
      <p:sp>
        <p:nvSpPr>
          <p:cNvPr id="1294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1298" name="Group"/>
          <p:cNvGrpSpPr/>
          <p:nvPr/>
        </p:nvGrpSpPr>
        <p:grpSpPr>
          <a:xfrm>
            <a:off x="1628794" y="3841403"/>
            <a:ext cx="9754666" cy="2561877"/>
            <a:chOff x="0" y="0"/>
            <a:chExt cx="9754664" cy="2561875"/>
          </a:xfrm>
        </p:grpSpPr>
        <p:pic>
          <p:nvPicPr>
            <p:cNvPr id="1295" name="droppedImage.png" descr="droppedImag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3434901" y="152474"/>
              <a:ext cx="2274559" cy="22569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96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3245044" cy="25618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97" name="Image" descr="Image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5899317" y="0"/>
              <a:ext cx="3855348" cy="25618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Examples of Monte Carlo programs"/>
          <p:cNvSpPr txBox="1"/>
          <p:nvPr>
            <p:ph type="title"/>
          </p:nvPr>
        </p:nvSpPr>
        <p:spPr>
          <a:xfrm>
            <a:off x="2409725" y="-81874"/>
            <a:ext cx="9312376" cy="972718"/>
          </a:xfrm>
          <a:prstGeom prst="rect">
            <a:avLst/>
          </a:prstGeom>
        </p:spPr>
        <p:txBody>
          <a:bodyPr/>
          <a:lstStyle/>
          <a:p>
            <a:pPr/>
            <a:r>
              <a:t>Examples of Monte Carlo programs</a:t>
            </a:r>
          </a:p>
        </p:txBody>
      </p:sp>
      <p:sp>
        <p:nvSpPr>
          <p:cNvPr id="13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302" name="Group"/>
          <p:cNvSpPr txBox="1"/>
          <p:nvPr/>
        </p:nvSpPr>
        <p:spPr>
          <a:xfrm>
            <a:off x="2370971" y="329958"/>
            <a:ext cx="9115375" cy="2433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 indent="1867220" defTabSz="414937">
              <a:spcBef>
                <a:spcPts val="1400"/>
              </a:spcBef>
              <a:defRPr i="1" sz="2800">
                <a:latin typeface="Gill Sans"/>
                <a:ea typeface="Gill Sans"/>
                <a:cs typeface="Gill Sans"/>
                <a:sym typeface="Gill Sans"/>
              </a:defRPr>
            </a:pPr>
          </a:p>
          <a:p>
            <a:pPr defTabSz="414937">
              <a:spcBef>
                <a:spcPts val="100"/>
              </a:spcBef>
              <a:defRPr i="1" sz="2800">
                <a:latin typeface="Gill Sans"/>
                <a:ea typeface="Gill Sans"/>
                <a:cs typeface="Gill Sans"/>
                <a:sym typeface="Gill Sans"/>
              </a:defRPr>
            </a:pPr>
            <a:r>
              <a:rPr b="1" sz="2000">
                <a:latin typeface="Helvetica Neue"/>
                <a:ea typeface="Helvetica Neue"/>
                <a:cs typeface="Helvetica Neue"/>
                <a:sym typeface="Helvetica Neue"/>
              </a:rPr>
              <a:t>Each time physics takes place (scattering, absorption, …)</a:t>
            </a:r>
            <a:endParaRPr b="1"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defTabSz="414937">
              <a:spcBef>
                <a:spcPts val="100"/>
              </a:spcBef>
              <a:defRPr i="1" sz="2800">
                <a:latin typeface="Gill Sans"/>
                <a:ea typeface="Gill Sans"/>
                <a:cs typeface="Gill Sans"/>
                <a:sym typeface="Gill Sans"/>
              </a:defRPr>
            </a:pPr>
            <a:r>
              <a:rPr b="1" sz="2000">
                <a:latin typeface="Helvetica Neue"/>
                <a:ea typeface="Helvetica Neue"/>
                <a:cs typeface="Helvetica Neue"/>
                <a:sym typeface="Helvetica Neue"/>
              </a:rPr>
              <a:t> random choices are made.  </a:t>
            </a:r>
          </a:p>
        </p:txBody>
      </p:sp>
      <p:sp>
        <p:nvSpPr>
          <p:cNvPr id="1303" name="Light ray-tracing: PoV-RAY and others ...…"/>
          <p:cNvSpPr txBox="1"/>
          <p:nvPr/>
        </p:nvSpPr>
        <p:spPr>
          <a:xfrm>
            <a:off x="2357180" y="1946120"/>
            <a:ext cx="8542529" cy="4210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 defTabSz="414937">
              <a:spcBef>
                <a:spcPts val="1900"/>
              </a:spcBef>
              <a:defRPr i="1" sz="2800">
                <a:latin typeface="Gill Sans"/>
                <a:ea typeface="Gill Sans"/>
                <a:cs typeface="Gill Sans"/>
                <a:sym typeface="Gill Sans"/>
              </a:defRPr>
            </a:pPr>
            <a:r>
              <a:rPr sz="2000">
                <a:solidFill>
                  <a:srgbClr val="0433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Light ray-tracing</a:t>
            </a:r>
            <a:r>
              <a:rPr sz="2000">
                <a:latin typeface="Times New Roman"/>
                <a:ea typeface="Times New Roman"/>
                <a:cs typeface="Times New Roman"/>
                <a:sym typeface="Times New Roman"/>
              </a:rPr>
              <a:t>: PoV-RAY and others ...</a:t>
            </a:r>
          </a:p>
          <a:p>
            <a:pPr defTabSz="414937">
              <a:spcBef>
                <a:spcPts val="100"/>
              </a:spcBef>
              <a:defRPr i="1" sz="2800">
                <a:latin typeface="Gill Sans"/>
                <a:ea typeface="Gill Sans"/>
                <a:cs typeface="Gill Sans"/>
                <a:sym typeface="Gill Sans"/>
              </a:defRPr>
            </a:pPr>
            <a:r>
              <a:rPr sz="2000">
                <a:solidFill>
                  <a:srgbClr val="0433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Nuclear reactor simulations</a:t>
            </a:r>
            <a:r>
              <a:rPr sz="2000">
                <a:latin typeface="Times New Roman"/>
                <a:ea typeface="Times New Roman"/>
                <a:cs typeface="Times New Roman"/>
                <a:sym typeface="Times New Roman"/>
              </a:rPr>
              <a:t> (neutron transport): </a:t>
            </a:r>
          </a:p>
          <a:p>
            <a:pPr indent="403411" defTabSz="414937">
              <a:spcBef>
                <a:spcPts val="1900"/>
              </a:spcBef>
              <a:defRPr i="1" sz="2800">
                <a:latin typeface="Gill Sans"/>
                <a:ea typeface="Gill Sans"/>
                <a:cs typeface="Gill Sans"/>
                <a:sym typeface="Gill Sans"/>
              </a:defRPr>
            </a:pPr>
            <a:r>
              <a:rPr sz="2000">
                <a:latin typeface="Times New Roman"/>
                <a:ea typeface="Times New Roman"/>
                <a:cs typeface="Times New Roman"/>
                <a:sym typeface="Times New Roman"/>
              </a:rPr>
              <a:t>MCNP, Tripoli, GEANT4, FLUKA</a:t>
            </a:r>
          </a:p>
          <a:p>
            <a:pPr defTabSz="414937">
              <a:spcBef>
                <a:spcPts val="100"/>
              </a:spcBef>
              <a:defRPr i="1" sz="2800">
                <a:latin typeface="Gill Sans"/>
                <a:ea typeface="Gill Sans"/>
                <a:cs typeface="Gill Sans"/>
                <a:sym typeface="Gill Sans"/>
              </a:defRPr>
            </a:pPr>
            <a:r>
              <a:rPr sz="2000">
                <a:solidFill>
                  <a:srgbClr val="0433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Neutron Ray-Tracing propagation</a:t>
            </a:r>
            <a:r>
              <a:rPr sz="200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</a:p>
          <a:p>
            <a:pPr indent="403411" defTabSz="414937">
              <a:spcBef>
                <a:spcPts val="100"/>
              </a:spcBef>
              <a:defRPr i="1" sz="2800">
                <a:latin typeface="Gill Sans"/>
                <a:ea typeface="Gill Sans"/>
                <a:cs typeface="Gill Sans"/>
                <a:sym typeface="Gill Sans"/>
              </a:defRPr>
            </a:pPr>
            <a:r>
              <a:rPr b="1" sz="2000">
                <a:solidFill>
                  <a:srgbClr val="FF2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McStas &lt;www.mcstas.org&gt;</a:t>
            </a:r>
            <a:r>
              <a:rPr sz="2000">
                <a:latin typeface="Times New Roman"/>
                <a:ea typeface="Times New Roman"/>
                <a:cs typeface="Times New Roman"/>
                <a:sym typeface="Times New Roman"/>
              </a:rPr>
              <a:t>, Vitess, Restrax, NISP, IDEAS, McVine</a:t>
            </a:r>
          </a:p>
          <a:p>
            <a:pPr indent="403411" defTabSz="414937">
              <a:spcBef>
                <a:spcPts val="100"/>
              </a:spcBef>
              <a:defRPr i="1" sz="2800">
                <a:latin typeface="Gill Sans"/>
                <a:ea typeface="Gill Sans"/>
                <a:cs typeface="Gill Sans"/>
                <a:sym typeface="Gill Sans"/>
              </a:defRPr>
            </a:pPr>
            <a:r>
              <a:rPr sz="2000">
                <a:latin typeface="Times New Roman"/>
                <a:ea typeface="Times New Roman"/>
                <a:cs typeface="Times New Roman"/>
                <a:sym typeface="Times New Roman"/>
              </a:rPr>
              <a:t>Neutrons are described as</a:t>
            </a:r>
            <a:r>
              <a:rPr b="1" sz="2000">
                <a:latin typeface="Helvetica Neue"/>
                <a:ea typeface="Helvetica Neue"/>
                <a:cs typeface="Helvetica Neue"/>
                <a:sym typeface="Helvetica Neue"/>
              </a:rPr>
              <a:t> (r, v, s, t)</a:t>
            </a:r>
            <a:r>
              <a:rPr sz="2000">
                <a:latin typeface="Times New Roman"/>
                <a:ea typeface="Times New Roman"/>
                <a:cs typeface="Times New Roman"/>
                <a:sym typeface="Times New Roman"/>
              </a:rPr>
              <a:t>, and are transported along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03411" defTabSz="414937">
              <a:spcBef>
                <a:spcPts val="100"/>
              </a:spcBef>
              <a:defRPr i="1" sz="2800">
                <a:latin typeface="Gill Sans"/>
                <a:ea typeface="Gill Sans"/>
                <a:cs typeface="Gill Sans"/>
                <a:sym typeface="Gill Sans"/>
              </a:defRPr>
            </a:pPr>
            <a:r>
              <a:rPr sz="2000">
                <a:latin typeface="Times New Roman"/>
                <a:ea typeface="Times New Roman"/>
                <a:cs typeface="Times New Roman"/>
                <a:sym typeface="Times New Roman"/>
              </a:rPr>
              <a:t>instrument models. </a:t>
            </a:r>
          </a:p>
          <a:p>
            <a:pPr indent="403411" defTabSz="414937">
              <a:spcBef>
                <a:spcPts val="1900"/>
              </a:spcBef>
              <a:defRPr i="1" sz="2800">
                <a:latin typeface="Gill Sans"/>
                <a:ea typeface="Gill Sans"/>
                <a:cs typeface="Gill Sans"/>
                <a:sym typeface="Gill Sans"/>
              </a:defRPr>
            </a:pPr>
            <a:r>
              <a:rPr sz="2000">
                <a:latin typeface="Times New Roman"/>
                <a:ea typeface="Times New Roman"/>
                <a:cs typeface="Times New Roman"/>
                <a:sym typeface="Times New Roman"/>
              </a:rPr>
              <a:t>Propagation simply uses Newton rules, incl. gravitation.</a:t>
            </a:r>
          </a:p>
          <a:p>
            <a:pPr defTabSz="414937">
              <a:spcBef>
                <a:spcPts val="100"/>
              </a:spcBef>
              <a:defRPr i="1" sz="2800">
                <a:latin typeface="Gill Sans"/>
                <a:ea typeface="Gill Sans"/>
                <a:cs typeface="Gill Sans"/>
                <a:sym typeface="Gill Sans"/>
              </a:defRPr>
            </a:pPr>
            <a:r>
              <a:rPr sz="2000">
                <a:solidFill>
                  <a:srgbClr val="0433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X-ray tracing</a:t>
            </a:r>
          </a:p>
          <a:p>
            <a:pPr indent="403411" defTabSz="414937">
              <a:spcBef>
                <a:spcPts val="0"/>
              </a:spcBef>
              <a:defRPr i="1" sz="2800">
                <a:latin typeface="Gill Sans"/>
                <a:ea typeface="Gill Sans"/>
                <a:cs typeface="Gill Sans"/>
                <a:sym typeface="Gill Sans"/>
              </a:defRPr>
            </a:pPr>
            <a:r>
              <a:rPr sz="2000">
                <a:latin typeface="Times New Roman"/>
                <a:ea typeface="Times New Roman"/>
                <a:cs typeface="Times New Roman"/>
                <a:sym typeface="Times New Roman"/>
              </a:rPr>
              <a:t>Shadow, McXtrace, RAY, …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Blank">
  <a:themeElements>
    <a:clrScheme name="Blank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0000FF"/>
      </a:hlink>
      <a:folHlink>
        <a:srgbClr val="FF00FF"/>
      </a:folHlink>
    </a:clrScheme>
    <a:fontScheme name="Blank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Blan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6799" tIns="46799" rIns="46799" bIns="4679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Blank">
  <a:themeElements>
    <a:clrScheme name="Blank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0000FF"/>
      </a:hlink>
      <a:folHlink>
        <a:srgbClr val="FF00FF"/>
      </a:folHlink>
    </a:clrScheme>
    <a:fontScheme name="Blank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Blan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6799" tIns="46799" rIns="46799" bIns="4679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