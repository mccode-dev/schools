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05" r:id="rId2"/>
    <p:sldId id="315" r:id="rId3"/>
    <p:sldId id="316" r:id="rId4"/>
    <p:sldId id="328" r:id="rId5"/>
    <p:sldId id="317" r:id="rId6"/>
    <p:sldId id="366" r:id="rId7"/>
    <p:sldId id="372" r:id="rId8"/>
    <p:sldId id="367" r:id="rId9"/>
    <p:sldId id="368" r:id="rId10"/>
    <p:sldId id="369" r:id="rId11"/>
    <p:sldId id="373" r:id="rId12"/>
    <p:sldId id="370" r:id="rId13"/>
    <p:sldId id="371" r:id="rId14"/>
    <p:sldId id="326" r:id="rId15"/>
    <p:sldId id="320" r:id="rId16"/>
    <p:sldId id="374" r:id="rId17"/>
    <p:sldId id="318" r:id="rId18"/>
    <p:sldId id="351" r:id="rId19"/>
    <p:sldId id="375" r:id="rId2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BE00"/>
    <a:srgbClr val="0099DC"/>
    <a:srgbClr val="F8984F"/>
    <a:srgbClr val="CCCCCC"/>
    <a:srgbClr val="666666"/>
    <a:srgbClr val="FECC99"/>
    <a:srgbClr val="FEE6CC"/>
    <a:srgbClr val="CCDFDB"/>
    <a:srgbClr val="E5F0EC"/>
    <a:srgbClr val="D7E5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5" autoAdjust="0"/>
    <p:restoredTop sz="94681" autoAdjust="0"/>
  </p:normalViewPr>
  <p:slideViewPr>
    <p:cSldViewPr snapToGrid="0" snapToObjects="1">
      <p:cViewPr varScale="1">
        <p:scale>
          <a:sx n="127" d="100"/>
          <a:sy n="127" d="100"/>
        </p:scale>
        <p:origin x="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16F17-FF12-814E-936A-620B3383A43B}" type="datetimeFigureOut">
              <a:rPr lang="sv-SE" smtClean="0"/>
              <a:t>2025-11-05</a:t>
            </a:fld>
            <a:endParaRPr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5A434-646A-2746-9BDC-885B2382B33E}" type="slidenum">
              <a:rPr lang="sv-SE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182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5105BBA5-0B01-43EB-96EC-725AF28E5A8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BB3141B3-566C-47FF-8C29-67289995D2FA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B965145F-CDA4-4965-A7C5-ACBA59393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3069" y="1048935"/>
            <a:ext cx="8872165" cy="476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8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BE7B1DDB-F4AA-4E8D-BD07-905FE45A5555}"/>
              </a:ext>
            </a:extLst>
          </p:cNvPr>
          <p:cNvSpPr/>
          <p:nvPr userDrawn="1"/>
        </p:nvSpPr>
        <p:spPr>
          <a:xfrm>
            <a:off x="-2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4780BC8-191C-6D4B-93F3-54A06FD4F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395" y="1153621"/>
            <a:ext cx="8640000" cy="238760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1DF3056-F3A8-2949-876C-528413E34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395" y="3883393"/>
            <a:ext cx="8640000" cy="921363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C66F586-F662-4573-A59B-7D4EDD05A153}"/>
              </a:ext>
            </a:extLst>
          </p:cNvPr>
          <p:cNvSpPr/>
          <p:nvPr userDrawn="1"/>
        </p:nvSpPr>
        <p:spPr>
          <a:xfrm>
            <a:off x="-2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3193CED5-E020-4279-918D-055F43A91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4611" y="417443"/>
            <a:ext cx="826395" cy="800100"/>
          </a:xfrm>
          <a:prstGeom prst="rect">
            <a:avLst/>
          </a:prstGeom>
        </p:spPr>
      </p:pic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EA5DA2EE-60AD-41D0-96B0-DDF02E0AE5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30395" y="5605695"/>
            <a:ext cx="6290892" cy="459883"/>
          </a:xfrm>
          <a:prstGeom prst="rect">
            <a:avLst/>
          </a:prstGeom>
        </p:spPr>
        <p:txBody>
          <a:bodyPr lIns="90000" tIns="18000" bIns="36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 strike="noStrike" cap="all" spc="1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presented by &lt;name nameson&gt;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5CE429DE-35D4-F144-9881-2C3DD8AB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30395" y="6096663"/>
            <a:ext cx="1241068" cy="365125"/>
          </a:xfrm>
        </p:spPr>
        <p:txBody>
          <a:bodyPr/>
          <a:lstStyle>
            <a:lvl1pPr>
              <a:defRPr sz="1200"/>
            </a:lvl1pPr>
          </a:lstStyle>
          <a:p>
            <a:fld id="{18896B66-0B3A-474C-9C9C-E4F07B1F5DAD}" type="datetime1">
              <a:rPr lang="sv-SE" smtClean="0"/>
              <a:pPr/>
              <a:t>2025-11-05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0138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9BCCEAFE-E21B-43CF-80C4-FF01C3F9D479}"/>
              </a:ext>
            </a:extLst>
          </p:cNvPr>
          <p:cNvSpPr/>
          <p:nvPr userDrawn="1"/>
        </p:nvSpPr>
        <p:spPr>
          <a:xfrm>
            <a:off x="0" y="16274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PRESENTATION </a:t>
            </a:r>
            <a:r>
              <a:rPr lang="sv-SE" dirty="0" err="1"/>
              <a:t>TITLe</a:t>
            </a:r>
            <a:r>
              <a:rPr lang="sv-SE" dirty="0"/>
              <a:t>/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283078-D760-1647-8B80-66BA8B52336D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5E954D6-E4D2-47AD-A504-7408EC606D35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6426DF26-09C3-4DAE-B43E-0C11D6A635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4611" y="417443"/>
            <a:ext cx="826395" cy="800100"/>
          </a:xfrm>
          <a:prstGeom prst="rect">
            <a:avLst/>
          </a:prstGeom>
        </p:spPr>
      </p:pic>
      <p:sp>
        <p:nvSpPr>
          <p:cNvPr id="11" name="Platshållare för text 10">
            <a:extLst>
              <a:ext uri="{FF2B5EF4-FFF2-40B4-BE49-F238E27FC236}">
                <a16:creationId xmlns:a16="http://schemas.microsoft.com/office/drawing/2014/main" id="{5C48DF05-1B09-4DA6-AC56-07304871C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5647" y="1640719"/>
            <a:ext cx="10042073" cy="4375520"/>
          </a:xfrm>
        </p:spPr>
        <p:txBody>
          <a:bodyPr>
            <a:noAutofit/>
          </a:bodyPr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latshållare för datum 3">
            <a:extLst>
              <a:ext uri="{FF2B5EF4-FFF2-40B4-BE49-F238E27FC236}">
                <a16:creationId xmlns:a16="http://schemas.microsoft.com/office/drawing/2014/main" id="{04D3287D-3E21-D845-8766-C307E676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3988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/br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250D024A-8F85-4618-9506-0F493B263A92}"/>
              </a:ext>
            </a:extLst>
          </p:cNvPr>
          <p:cNvSpPr/>
          <p:nvPr userDrawn="1"/>
        </p:nvSpPr>
        <p:spPr>
          <a:xfrm>
            <a:off x="0" y="0"/>
            <a:ext cx="64777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628E18C2-A66E-436E-89DA-1C5D481CB4B4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latshållare för bild 12">
            <a:extLst>
              <a:ext uri="{FF2B5EF4-FFF2-40B4-BE49-F238E27FC236}">
                <a16:creationId xmlns:a16="http://schemas.microsoft.com/office/drawing/2014/main" id="{4FD00856-A3E1-48A7-B9CD-D7B89BD6A06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7712" y="0"/>
            <a:ext cx="5714288" cy="6858000"/>
          </a:xfrm>
          <a:solidFill>
            <a:srgbClr val="ECECEC"/>
          </a:solidFill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sv-SE"/>
              <a:t>INSERT IMAGE</a:t>
            </a:r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A8D8C0FE-DA05-418D-9F18-A5A81125A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24611" y="417443"/>
            <a:ext cx="828000" cy="799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1848DA8D-03CE-4CA5-A851-F6ABAE67A9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47675"/>
            <a:ext cx="292100" cy="6410325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55DE042-7DE8-4583-986C-4082375307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0491" y="1051132"/>
            <a:ext cx="4255909" cy="829149"/>
          </a:xfrm>
        </p:spPr>
        <p:txBody>
          <a:bodyPr rIns="18000" anchor="b" anchorCtr="0"/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# (chapter)</a:t>
            </a:r>
          </a:p>
        </p:txBody>
      </p:sp>
      <p:sp>
        <p:nvSpPr>
          <p:cNvPr id="11" name="Platshållare för text 2">
            <a:extLst>
              <a:ext uri="{FF2B5EF4-FFF2-40B4-BE49-F238E27FC236}">
                <a16:creationId xmlns:a16="http://schemas.microsoft.com/office/drawing/2014/main" id="{1DC53C5B-9DC3-4646-B6B3-DD59404D44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0491" y="2169209"/>
            <a:ext cx="4255909" cy="2462613"/>
          </a:xfrm>
        </p:spPr>
        <p:txBody>
          <a:bodyPr rIns="18000" anchor="t" anchorCtr="0"/>
          <a:lstStyle>
            <a:lvl1pPr marL="0" indent="0">
              <a:spcBef>
                <a:spcPts val="0"/>
              </a:spcBef>
              <a:buFontTx/>
              <a:buNone/>
              <a:defRPr sz="4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25464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TITLE/FOOTER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5E954D6-E4D2-47AD-A504-7408EC606D35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6DD4ACE8-21C9-474B-A84B-6E399CB9FB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5917406D-4BE3-3B4C-BCFF-41B4F0FAB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400" y="1562400"/>
            <a:ext cx="9365782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13" name="Platshållare för datum 3">
            <a:extLst>
              <a:ext uri="{FF2B5EF4-FFF2-40B4-BE49-F238E27FC236}">
                <a16:creationId xmlns:a16="http://schemas.microsoft.com/office/drawing/2014/main" id="{3E8E36C4-8565-B94E-A90D-FF5DD7F8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8008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TITLE/FOOTER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590CF35B-F516-4A5B-A8AB-7A0A28362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400" y="1562400"/>
            <a:ext cx="4993785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58775" indent="-215900">
              <a:lnSpc>
                <a:spcPct val="100000"/>
              </a:lnSpc>
              <a:tabLst/>
              <a:defRPr/>
            </a:lvl2pPr>
            <a:lvl3pPr marL="449263" indent="-196850">
              <a:lnSpc>
                <a:spcPct val="100000"/>
              </a:lnSpc>
              <a:tabLst/>
              <a:defRPr/>
            </a:lvl3pPr>
            <a:lvl4pPr marL="541338" indent="-180000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BA21051E-3C35-41FB-8E6B-797DB8F269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73692" y="1562400"/>
            <a:ext cx="4993785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50000" indent="-198000">
              <a:lnSpc>
                <a:spcPct val="100000"/>
              </a:lnSpc>
              <a:tabLst/>
              <a:defRPr/>
            </a:lvl3pPr>
            <a:lvl4pPr marL="540000" indent="-180000">
              <a:lnSpc>
                <a:spcPct val="100000"/>
              </a:lnSpc>
              <a:tabLst/>
              <a:defRPr/>
            </a:lvl4pPr>
            <a:lvl5pPr marL="62865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87E2C692-2C39-4CA8-AA87-45E0F36B6A0E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E327627C-4BB8-4965-8107-0E7E741F83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154C1432-4F85-1F42-8016-9B83B89C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3510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TITLE/FOOTER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590CF35B-F516-4A5B-A8AB-7A0A28362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400" y="1562400"/>
            <a:ext cx="3255409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49263" indent="-196850">
              <a:lnSpc>
                <a:spcPct val="100000"/>
              </a:lnSpc>
              <a:tabLst/>
              <a:defRPr/>
            </a:lvl3pPr>
            <a:lvl4pPr marL="541338" indent="-180975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87E2C692-2C39-4CA8-AA87-45E0F36B6A0E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E327627C-4BB8-4965-8107-0E7E741F83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13" name="Platshållare för innehåll 2">
            <a:extLst>
              <a:ext uri="{FF2B5EF4-FFF2-40B4-BE49-F238E27FC236}">
                <a16:creationId xmlns:a16="http://schemas.microsoft.com/office/drawing/2014/main" id="{B2D0E559-A900-41F3-93C5-387A7764A15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05297" y="1562400"/>
            <a:ext cx="3255409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50000" indent="-198000">
              <a:lnSpc>
                <a:spcPct val="100000"/>
              </a:lnSpc>
              <a:tabLst/>
              <a:defRPr/>
            </a:lvl3pPr>
            <a:lvl4pPr marL="539750" indent="-196850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17" name="Platshållare för innehåll 2">
            <a:extLst>
              <a:ext uri="{FF2B5EF4-FFF2-40B4-BE49-F238E27FC236}">
                <a16:creationId xmlns:a16="http://schemas.microsoft.com/office/drawing/2014/main" id="{E4E99B3B-ADB3-4D1A-9A7F-AA1B8528E6C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16194" y="1562400"/>
            <a:ext cx="3255409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50000" indent="-198000">
              <a:lnSpc>
                <a:spcPct val="100000"/>
              </a:lnSpc>
              <a:tabLst/>
              <a:defRPr/>
            </a:lvl3pPr>
            <a:lvl4pPr marL="540000" indent="-180000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F91A8E7B-C629-D343-8A83-7EB0ADF6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6766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16B191E2-1C71-4B4C-B562-DD793673C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73813" y="1562100"/>
            <a:ext cx="4994275" cy="476885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FontTx/>
              <a:buNone/>
              <a:defRPr sz="800">
                <a:solidFill>
                  <a:srgbClr val="666666"/>
                </a:solidFill>
              </a:defRPr>
            </a:lvl1pPr>
          </a:lstStyle>
          <a:p>
            <a:r>
              <a:rPr lang="sv-SE"/>
              <a:t>INSERT IMAGE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 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590CF35B-F516-4A5B-A8AB-7A0A28362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400" y="1562400"/>
            <a:ext cx="4993785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50000" indent="-198000">
              <a:lnSpc>
                <a:spcPct val="100000"/>
              </a:lnSpc>
              <a:tabLst/>
              <a:defRPr/>
            </a:lvl3pPr>
            <a:lvl4pPr marL="540000" indent="-180000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BC4F3A85-66E6-412A-97CD-99D922EFBEE2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506E76ED-0FF0-4A03-8EB9-06B57B12EC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5D496E45-863B-704B-B14F-5E0F5857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6655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.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tshållare för bild 12">
            <a:extLst>
              <a:ext uri="{FF2B5EF4-FFF2-40B4-BE49-F238E27FC236}">
                <a16:creationId xmlns:a16="http://schemas.microsoft.com/office/drawing/2014/main" id="{4FD00856-A3E1-48A7-B9CD-D7B89BD6A06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sv-SE" dirty="0"/>
              <a:t>INSERT IMAGE</a:t>
            </a:r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A8D8C0FE-DA05-418D-9F18-A5A81125A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24611" y="417443"/>
            <a:ext cx="828000" cy="799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1848DA8D-03CE-4CA5-A851-F6ABAE67A9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47675"/>
            <a:ext cx="292100" cy="6410325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8F5BB748-C0D0-CB4F-BA93-7488E4BA7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Image </a:t>
            </a:r>
            <a:r>
              <a:rPr lang="sv-SE" dirty="0" err="1"/>
              <a:t>title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3286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A591D-7BEE-2A48-BD08-DCDF3D90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2025-11-05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/>
              <a:t>PRESENTATION TITLE /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5E954D6-E4D2-47AD-A504-7408EC606D35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6DD4ACE8-21C9-474B-A84B-6E399CB9FB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7" name="Platshållare för diagram 6">
            <a:extLst>
              <a:ext uri="{FF2B5EF4-FFF2-40B4-BE49-F238E27FC236}">
                <a16:creationId xmlns:a16="http://schemas.microsoft.com/office/drawing/2014/main" id="{FA784AEE-BB11-4271-AB33-DE077410560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1103313" y="1657350"/>
            <a:ext cx="7767637" cy="4445000"/>
          </a:xfrm>
        </p:spPr>
        <p:txBody>
          <a:bodyPr/>
          <a:lstStyle>
            <a:lvl1pPr algn="ctr">
              <a:defRPr sz="800" cap="all" baseline="0"/>
            </a:lvl1pPr>
          </a:lstStyle>
          <a:p>
            <a:r>
              <a:rPr lang="en-GB"/>
              <a:t>Click icon to add chart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1755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TITLE/FOOTER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5E954D6-E4D2-47AD-A504-7408EC606D35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6DD4ACE8-21C9-474B-A84B-6E399CB9FB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8" name="Platshållare för tabell 7">
            <a:extLst>
              <a:ext uri="{FF2B5EF4-FFF2-40B4-BE49-F238E27FC236}">
                <a16:creationId xmlns:a16="http://schemas.microsoft.com/office/drawing/2014/main" id="{489D1BD7-202A-4115-BE6C-1B053CFFDE1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1103313" y="1614488"/>
            <a:ext cx="9359900" cy="4406900"/>
          </a:xfrm>
        </p:spPr>
        <p:txBody>
          <a:bodyPr/>
          <a:lstStyle>
            <a:lvl1pPr algn="ctr">
              <a:defRPr sz="800" cap="all" baseline="0"/>
            </a:lvl1pPr>
          </a:lstStyle>
          <a:p>
            <a:r>
              <a:rPr lang="en-GB"/>
              <a:t>Click icon to add table</a:t>
            </a:r>
            <a:endParaRPr lang="sv-SE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EF177138-95E5-674B-B010-143A8CD1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2025-11-05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2518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BE7B1DDB-F4AA-4E8D-BD07-905FE45A5555}"/>
              </a:ext>
            </a:extLst>
          </p:cNvPr>
          <p:cNvSpPr/>
          <p:nvPr userDrawn="1"/>
        </p:nvSpPr>
        <p:spPr>
          <a:xfrm>
            <a:off x="0" y="388593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4780BC8-191C-6D4B-93F3-54A06FD4F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395" y="1153621"/>
            <a:ext cx="8640000" cy="238760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C66F586-F662-4573-A59B-7D4EDD05A153}"/>
              </a:ext>
            </a:extLst>
          </p:cNvPr>
          <p:cNvSpPr/>
          <p:nvPr userDrawn="1"/>
        </p:nvSpPr>
        <p:spPr>
          <a:xfrm>
            <a:off x="-2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3193CED5-E020-4279-918D-055F43A91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4611" y="417443"/>
            <a:ext cx="82639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9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81532B06-EA3A-AA45-A1FA-C8E1873F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709" y="281999"/>
            <a:ext cx="9478393" cy="657340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6E4D6F2-5CFB-9D4E-AED8-120937FE2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5647" y="6483583"/>
            <a:ext cx="832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spc="80" baseline="0">
                <a:solidFill>
                  <a:srgbClr val="CCCCCC"/>
                </a:solidFill>
              </a:defRPr>
            </a:lvl1pPr>
          </a:lstStyle>
          <a:p>
            <a:fld id="{926FFDD8-E9D5-414B-9D01-E73C6B8A8FCA}" type="datetime1">
              <a:rPr lang="sv-SE" smtClean="0"/>
              <a:t>2025-11-05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15FD9D7-4C35-3343-B008-A413FF500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3244" y="648358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80" baseline="0">
                <a:solidFill>
                  <a:srgbClr val="CCCCCC"/>
                </a:solidFill>
              </a:defRPr>
            </a:lvl1pPr>
          </a:lstStyle>
          <a:p>
            <a:r>
              <a:rPr lang="sv-SE"/>
              <a:t>PRESENTATION TITLE /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F6B396D-270A-E047-8DAD-6D51B53CA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5292" y="64835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F7283078-D760-1647-8B80-66BA8B52336D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text 2">
            <a:extLst>
              <a:ext uri="{FF2B5EF4-FFF2-40B4-BE49-F238E27FC236}">
                <a16:creationId xmlns:a16="http://schemas.microsoft.com/office/drawing/2014/main" id="{CD0A89FF-22DC-4B6A-B9ED-60B2F32ED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5894" y="1561865"/>
            <a:ext cx="9561022" cy="456539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82584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65" r:id="rId3"/>
    <p:sldLayoutId id="2147483667" r:id="rId4"/>
    <p:sldLayoutId id="2147483669" r:id="rId5"/>
    <p:sldLayoutId id="2147483650" r:id="rId6"/>
    <p:sldLayoutId id="2147483668" r:id="rId7"/>
    <p:sldLayoutId id="2147483662" r:id="rId8"/>
    <p:sldLayoutId id="2147483664" r:id="rId9"/>
    <p:sldLayoutId id="2147483663" r:id="rId10"/>
    <p:sldLayoutId id="2147483666" r:id="rId11"/>
    <p:sldLayoutId id="214748367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rgbClr val="666666"/>
          </a:solidFill>
          <a:latin typeface="+mj-lt"/>
          <a:ea typeface="+mj-ea"/>
          <a:cs typeface="+mj-cs"/>
        </a:defRPr>
      </a:lvl1pPr>
    </p:titleStyle>
    <p:bodyStyle>
      <a:lvl1pPr marL="101600" indent="-101600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Segoe UI" panose="020B0502040204020203" pitchFamily="34" charset="0"/>
        <a:buChar char=" "/>
        <a:defRPr sz="2000" kern="1200">
          <a:solidFill>
            <a:srgbClr val="666666"/>
          </a:solidFill>
          <a:latin typeface="+mn-lt"/>
          <a:ea typeface="+mn-ea"/>
          <a:cs typeface="+mn-cs"/>
        </a:defRPr>
      </a:lvl1pPr>
      <a:lvl2pPr marL="315913" indent="-233363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Wingdings" panose="05000000000000000000" pitchFamily="2" charset="2"/>
        <a:buChar char=""/>
        <a:defRPr sz="2000" kern="1200">
          <a:solidFill>
            <a:srgbClr val="666666"/>
          </a:solidFill>
          <a:latin typeface="+mn-lt"/>
          <a:ea typeface="+mn-ea"/>
          <a:cs typeface="+mn-cs"/>
        </a:defRPr>
      </a:lvl2pPr>
      <a:lvl3pPr marL="582613" indent="-250825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Arial" panose="020B0604020202020204" pitchFamily="34" charset="0"/>
        <a:buChar char="−"/>
        <a:defRPr sz="1800" kern="1200">
          <a:solidFill>
            <a:srgbClr val="666666"/>
          </a:solidFill>
          <a:latin typeface="+mn-lt"/>
          <a:ea typeface="+mn-ea"/>
          <a:cs typeface="+mn-cs"/>
        </a:defRPr>
      </a:lvl3pPr>
      <a:lvl4pPr marL="839788" indent="-233363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Arial" panose="020B0604020202020204" pitchFamily="34" charset="0"/>
        <a:buChar char="−"/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055688" indent="-200025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Arial" panose="020B0604020202020204" pitchFamily="34" charset="0"/>
        <a:buChar char="−"/>
        <a:defRPr sz="14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PaNOSC-ViNYL/McStasScrip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mads-bertelsen.github.io/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3145CF3-C12C-4347-8E68-43E798340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McStasScript</a:t>
            </a:r>
            <a:r>
              <a:rPr lang="en-GB" dirty="0"/>
              <a:t> Python interface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D51EF2D-F832-4781-89C3-3F5E4843BF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2000" dirty="0"/>
              <a:t>ISIS 2025  </a:t>
            </a:r>
            <a:r>
              <a:rPr lang="en-GB" sz="2000" dirty="0" err="1"/>
              <a:t>McStas</a:t>
            </a:r>
            <a:r>
              <a:rPr lang="en-GB" sz="2000" dirty="0"/>
              <a:t> School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D26DA0E2-82BB-493E-9B68-2D93A245C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PRESENTED BY Mads </a:t>
            </a:r>
            <a:r>
              <a:rPr lang="en-GB" dirty="0" err="1"/>
              <a:t>Bertelsen</a:t>
            </a:r>
            <a:endParaRPr lang="en-GB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30E777A6-9513-43F3-BB24-ED0539ADDD8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930395" y="6117873"/>
            <a:ext cx="3215183" cy="459883"/>
          </a:xfrm>
        </p:spPr>
        <p:txBody>
          <a:bodyPr/>
          <a:lstStyle/>
          <a:p>
            <a:fld id="{18896B66-0B3A-474C-9C9C-E4F07B1F5DAD}" type="datetime1">
              <a:rPr lang="sv-SE" sz="1200" b="1">
                <a:solidFill>
                  <a:schemeClr val="bg1"/>
                </a:solidFill>
              </a:rPr>
              <a:pPr/>
              <a:t>2025-11-05</a:t>
            </a:fld>
            <a:endParaRPr lang="en-GB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07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 dirty="0"/>
              <a:t>2023-10-10</a:t>
            </a:r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User interface</a:t>
            </a:r>
          </a:p>
        </p:txBody>
      </p:sp>
      <p:sp>
        <p:nvSpPr>
          <p:cNvPr id="12" name="Platshållare för innehåll 5">
            <a:extLst>
              <a:ext uri="{FF2B5EF4-FFF2-40B4-BE49-F238E27FC236}">
                <a16:creationId xmlns:a16="http://schemas.microsoft.com/office/drawing/2014/main" id="{29B867FF-67F5-20CE-F31A-EE1C39854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5082666" cy="4768062"/>
          </a:xfrm>
        </p:spPr>
        <p:txBody>
          <a:bodyPr/>
          <a:lstStyle/>
          <a:p>
            <a:pPr lvl="1"/>
            <a:r>
              <a:rPr lang="en-US" dirty="0"/>
              <a:t>C meta-language instrument file</a:t>
            </a:r>
          </a:p>
          <a:p>
            <a:pPr lvl="1"/>
            <a:r>
              <a:rPr lang="en-US" dirty="0"/>
              <a:t>Help and plotting from </a:t>
            </a:r>
            <a:r>
              <a:rPr lang="en-US" dirty="0" err="1"/>
              <a:t>mcgui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ABC480-8692-81F5-3DBB-962D410F49FC}"/>
              </a:ext>
            </a:extLst>
          </p:cNvPr>
          <p:cNvGrpSpPr/>
          <p:nvPr/>
        </p:nvGrpSpPr>
        <p:grpSpPr>
          <a:xfrm>
            <a:off x="6450334" y="265373"/>
            <a:ext cx="5249918" cy="6114278"/>
            <a:chOff x="6660541" y="216184"/>
            <a:chExt cx="5249918" cy="611427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87B06CE-E760-C567-F0DB-AF4331703E78}"/>
                </a:ext>
              </a:extLst>
            </p:cNvPr>
            <p:cNvGrpSpPr/>
            <p:nvPr/>
          </p:nvGrpSpPr>
          <p:grpSpPr>
            <a:xfrm>
              <a:off x="6660541" y="216184"/>
              <a:ext cx="5249918" cy="6114278"/>
              <a:chOff x="3176215" y="1892910"/>
              <a:chExt cx="6557011" cy="48192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18CCB2F-372A-66D7-F629-460933130B46}"/>
                  </a:ext>
                </a:extLst>
              </p:cNvPr>
              <p:cNvSpPr/>
              <p:nvPr/>
            </p:nvSpPr>
            <p:spPr>
              <a:xfrm>
                <a:off x="3176215" y="1892910"/>
                <a:ext cx="6557011" cy="481920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E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1FAADB6-BA90-1CDC-23D1-03B38A212DA2}"/>
                  </a:ext>
                </a:extLst>
              </p:cNvPr>
              <p:cNvSpPr/>
              <p:nvPr/>
            </p:nvSpPr>
            <p:spPr>
              <a:xfrm>
                <a:off x="3237176" y="1968893"/>
                <a:ext cx="6419850" cy="457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dirty="0" err="1"/>
                  <a:t>McStas</a:t>
                </a:r>
                <a:r>
                  <a:rPr lang="da-DK" dirty="0"/>
                  <a:t> instrument file</a:t>
                </a:r>
                <a:endParaRPr lang="en-SE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352ADF-BC65-76D4-69BE-0DC4996A85E1}"/>
                </a:ext>
              </a:extLst>
            </p:cNvPr>
            <p:cNvSpPr txBox="1"/>
            <p:nvPr/>
          </p:nvSpPr>
          <p:spPr>
            <a:xfrm>
              <a:off x="6709350" y="903891"/>
              <a:ext cx="5104278" cy="5355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SE" dirty="0">
                  <a:solidFill>
                    <a:srgbClr val="666666"/>
                  </a:solidFill>
                </a:rPr>
                <a:t>DEFINE INSTRUMENT example(</a:t>
              </a:r>
              <a:r>
                <a:rPr lang="en-SE" b="1" dirty="0">
                  <a:solidFill>
                    <a:srgbClr val="666666"/>
                  </a:solidFill>
                </a:rPr>
                <a:t>theta</a:t>
              </a:r>
              <a:r>
                <a:rPr lang="en-SE" dirty="0">
                  <a:solidFill>
                    <a:srgbClr val="666666"/>
                  </a:solidFill>
                </a:rPr>
                <a:t>)</a:t>
              </a:r>
            </a:p>
            <a:p>
              <a:pPr algn="l"/>
              <a:endParaRPr lang="en-SE" dirty="0">
                <a:solidFill>
                  <a:srgbClr val="666666"/>
                </a:solidFill>
              </a:endParaRPr>
            </a:p>
            <a:p>
              <a:pPr algn="l"/>
              <a:r>
                <a:rPr lang="en-SE" dirty="0">
                  <a:solidFill>
                    <a:srgbClr val="666666"/>
                  </a:solidFill>
                </a:rPr>
                <a:t>DECLARE</a:t>
              </a:r>
            </a:p>
            <a:p>
              <a:pPr algn="l"/>
              <a:r>
                <a:rPr lang="en-GB" i="1" dirty="0">
                  <a:solidFill>
                    <a:srgbClr val="666666"/>
                  </a:solidFill>
                </a:rPr>
                <a:t>// C-code – declare variables</a:t>
              </a:r>
            </a:p>
            <a:p>
              <a:pPr algn="l"/>
              <a:r>
                <a:rPr lang="en-GB" b="1" dirty="0">
                  <a:solidFill>
                    <a:srgbClr val="666666"/>
                  </a:solidFill>
                </a:rPr>
                <a:t>double </a:t>
              </a:r>
              <a:r>
                <a:rPr lang="en-GB" b="1" dirty="0" err="1">
                  <a:solidFill>
                    <a:srgbClr val="666666"/>
                  </a:solidFill>
                </a:rPr>
                <a:t>two_theta</a:t>
              </a:r>
              <a:r>
                <a:rPr lang="en-GB" b="1" dirty="0">
                  <a:solidFill>
                    <a:srgbClr val="666666"/>
                  </a:solidFill>
                </a:rPr>
                <a:t>;</a:t>
              </a:r>
              <a:endParaRPr lang="en-SE" b="1" dirty="0">
                <a:solidFill>
                  <a:srgbClr val="666666"/>
                </a:solidFill>
              </a:endParaRPr>
            </a:p>
            <a:p>
              <a:pPr algn="l"/>
              <a:endParaRPr lang="en-SE" dirty="0">
                <a:solidFill>
                  <a:srgbClr val="666666"/>
                </a:solidFill>
              </a:endParaRPr>
            </a:p>
            <a:p>
              <a:pPr algn="l"/>
              <a:r>
                <a:rPr lang="en-SE" dirty="0">
                  <a:solidFill>
                    <a:srgbClr val="666666"/>
                  </a:solidFill>
                </a:rPr>
                <a:t>INITIALIZE</a:t>
              </a:r>
            </a:p>
            <a:p>
              <a:r>
                <a:rPr lang="en-GB" i="1" dirty="0">
                  <a:solidFill>
                    <a:srgbClr val="666666"/>
                  </a:solidFill>
                </a:rPr>
                <a:t>// C-code - perform initial calculations</a:t>
              </a:r>
            </a:p>
            <a:p>
              <a:r>
                <a:rPr lang="en-GB" b="1" dirty="0" err="1">
                  <a:solidFill>
                    <a:srgbClr val="666666"/>
                  </a:solidFill>
                </a:rPr>
                <a:t>two_theta</a:t>
              </a:r>
              <a:r>
                <a:rPr lang="en-GB" b="1" dirty="0">
                  <a:solidFill>
                    <a:srgbClr val="666666"/>
                  </a:solidFill>
                </a:rPr>
                <a:t> = 2.0*theta;</a:t>
              </a:r>
            </a:p>
            <a:p>
              <a:pPr algn="l"/>
              <a:endParaRPr lang="en-SE" dirty="0">
                <a:solidFill>
                  <a:srgbClr val="666666"/>
                </a:solidFill>
              </a:endParaRPr>
            </a:p>
            <a:p>
              <a:pPr algn="l"/>
              <a:r>
                <a:rPr lang="en-SE" dirty="0">
                  <a:solidFill>
                    <a:srgbClr val="666666"/>
                  </a:solidFill>
                </a:rPr>
                <a:t>TRACE</a:t>
              </a:r>
            </a:p>
            <a:p>
              <a:r>
                <a:rPr lang="en-GB" i="1" dirty="0">
                  <a:solidFill>
                    <a:srgbClr val="666666"/>
                  </a:solidFill>
                </a:rPr>
                <a:t>// </a:t>
              </a:r>
              <a:r>
                <a:rPr lang="en-GB" i="1" dirty="0" err="1">
                  <a:solidFill>
                    <a:srgbClr val="666666"/>
                  </a:solidFill>
                </a:rPr>
                <a:t>McStas</a:t>
              </a:r>
              <a:r>
                <a:rPr lang="en-GB" i="1" dirty="0">
                  <a:solidFill>
                    <a:srgbClr val="666666"/>
                  </a:solidFill>
                </a:rPr>
                <a:t> component sequence</a:t>
              </a:r>
            </a:p>
            <a:p>
              <a:r>
                <a:rPr lang="en-GB" b="1" dirty="0">
                  <a:solidFill>
                    <a:srgbClr val="666666"/>
                  </a:solidFill>
                </a:rPr>
                <a:t>Monochromator = </a:t>
              </a:r>
              <a:r>
                <a:rPr lang="en-GB" b="1" dirty="0" err="1">
                  <a:solidFill>
                    <a:srgbClr val="666666"/>
                  </a:solidFill>
                </a:rPr>
                <a:t>Monochromator_flat</a:t>
              </a:r>
              <a:r>
                <a:rPr lang="en-GB" b="1" dirty="0">
                  <a:solidFill>
                    <a:srgbClr val="666666"/>
                  </a:solidFill>
                </a:rPr>
                <a:t>(</a:t>
              </a:r>
            </a:p>
            <a:p>
              <a:r>
                <a:rPr lang="en-GB" b="1" dirty="0">
                  <a:solidFill>
                    <a:srgbClr val="666666"/>
                  </a:solidFill>
                </a:rPr>
                <a:t>  </a:t>
              </a:r>
              <a:r>
                <a:rPr lang="en-GB" b="1" dirty="0" err="1">
                  <a:solidFill>
                    <a:srgbClr val="666666"/>
                  </a:solidFill>
                </a:rPr>
                <a:t>yheight</a:t>
              </a:r>
              <a:r>
                <a:rPr lang="en-GB" b="1" dirty="0">
                  <a:solidFill>
                    <a:srgbClr val="666666"/>
                  </a:solidFill>
                </a:rPr>
                <a:t>=0.1, </a:t>
              </a:r>
              <a:r>
                <a:rPr lang="en-GB" b="1" dirty="0" err="1">
                  <a:solidFill>
                    <a:srgbClr val="666666"/>
                  </a:solidFill>
                </a:rPr>
                <a:t>zdepth</a:t>
              </a:r>
              <a:r>
                <a:rPr lang="en-GB" b="1" dirty="0">
                  <a:solidFill>
                    <a:srgbClr val="666666"/>
                  </a:solidFill>
                </a:rPr>
                <a:t>=0.05, Q=1.78)</a:t>
              </a:r>
            </a:p>
            <a:p>
              <a:r>
                <a:rPr lang="en-GB" b="1" dirty="0">
                  <a:solidFill>
                    <a:srgbClr val="666666"/>
                  </a:solidFill>
                </a:rPr>
                <a:t>AT (0,0,2.0) RELATIVE source</a:t>
              </a:r>
            </a:p>
            <a:p>
              <a:r>
                <a:rPr lang="en-GB" b="1" dirty="0">
                  <a:solidFill>
                    <a:srgbClr val="666666"/>
                  </a:solidFill>
                </a:rPr>
                <a:t>ROTATED (0, theta, 0) RELATIVE source</a:t>
              </a:r>
              <a:endParaRPr lang="en-SE" b="1" dirty="0">
                <a:solidFill>
                  <a:srgbClr val="666666"/>
                </a:solidFill>
              </a:endParaRPr>
            </a:p>
            <a:p>
              <a:endParaRPr lang="en-SE" dirty="0">
                <a:solidFill>
                  <a:srgbClr val="666666"/>
                </a:solidFill>
              </a:endParaRPr>
            </a:p>
            <a:p>
              <a:pPr algn="l"/>
              <a:r>
                <a:rPr lang="en-SE" dirty="0">
                  <a:solidFill>
                    <a:srgbClr val="666666"/>
                  </a:solidFill>
                </a:rPr>
                <a:t>FINALLY</a:t>
              </a:r>
            </a:p>
            <a:p>
              <a:pPr algn="l"/>
              <a:r>
                <a:rPr lang="en-GB" i="1" dirty="0">
                  <a:solidFill>
                    <a:srgbClr val="666666"/>
                  </a:solidFill>
                </a:rPr>
                <a:t>// C</a:t>
              </a:r>
              <a:r>
                <a:rPr lang="en-SE" i="1" dirty="0">
                  <a:solidFill>
                    <a:srgbClr val="666666"/>
                  </a:solidFill>
                </a:rPr>
                <a:t>-code – perform calculations after simulation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04D16A9-402F-7C8F-5B1B-5CF3954A7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787" y="2946714"/>
            <a:ext cx="5104278" cy="36459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049E3E3-A60F-CE30-5519-B5E16E011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660" y="1102335"/>
            <a:ext cx="817030" cy="916890"/>
          </a:xfrm>
          <a:prstGeom prst="rect">
            <a:avLst/>
          </a:prstGeom>
        </p:spPr>
      </p:pic>
      <p:pic>
        <p:nvPicPr>
          <p:cNvPr id="21" name="Google Shape;124;p19">
            <a:extLst>
              <a:ext uri="{FF2B5EF4-FFF2-40B4-BE49-F238E27FC236}">
                <a16:creationId xmlns:a16="http://schemas.microsoft.com/office/drawing/2014/main" id="{8DE15CBE-8E57-34AD-73C0-CF3DBE92504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5769" y="5420514"/>
            <a:ext cx="1520107" cy="49158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C09035A-69CB-ACC1-C938-B53F7976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79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2B8DDE-FD00-B656-3C43-A3FC9AD594E0}"/>
              </a:ext>
            </a:extLst>
          </p:cNvPr>
          <p:cNvSpPr/>
          <p:nvPr/>
        </p:nvSpPr>
        <p:spPr>
          <a:xfrm>
            <a:off x="1082041" y="1821861"/>
            <a:ext cx="3660537" cy="402335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User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9D9B5-87A2-1877-859E-F902A85C9126}"/>
              </a:ext>
            </a:extLst>
          </p:cNvPr>
          <p:cNvSpPr txBox="1"/>
          <p:nvPr/>
        </p:nvSpPr>
        <p:spPr>
          <a:xfrm>
            <a:off x="2053244" y="1440944"/>
            <a:ext cx="1649960" cy="3600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da-DK" sz="2000" i="1" dirty="0"/>
              <a:t>Instrument 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7D997F-D21B-AA30-7AE3-B928593E9415}"/>
              </a:ext>
            </a:extLst>
          </p:cNvPr>
          <p:cNvSpPr txBox="1"/>
          <p:nvPr/>
        </p:nvSpPr>
        <p:spPr>
          <a:xfrm>
            <a:off x="6986115" y="1373934"/>
            <a:ext cx="3880847" cy="11439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da-DK" sz="2400" dirty="0" err="1"/>
              <a:t>Simulated</a:t>
            </a:r>
            <a:r>
              <a:rPr lang="da-DK" sz="2400" dirty="0"/>
              <a:t> instrument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183AC7-0CBE-C1F2-A78A-5B847343F814}"/>
              </a:ext>
            </a:extLst>
          </p:cNvPr>
          <p:cNvSpPr/>
          <p:nvPr/>
        </p:nvSpPr>
        <p:spPr>
          <a:xfrm rot="368612">
            <a:off x="7732301" y="2297345"/>
            <a:ext cx="2474209" cy="87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89FC7AF7-BD6F-535E-388E-5C0792CC1888}"/>
              </a:ext>
            </a:extLst>
          </p:cNvPr>
          <p:cNvSpPr/>
          <p:nvPr/>
        </p:nvSpPr>
        <p:spPr>
          <a:xfrm>
            <a:off x="4142627" y="2721050"/>
            <a:ext cx="2110852" cy="1250084"/>
          </a:xfrm>
          <a:custGeom>
            <a:avLst/>
            <a:gdLst>
              <a:gd name="connsiteX0" fmla="*/ 589436 w 805096"/>
              <a:gd name="connsiteY0" fmla="*/ 0 h 1682151"/>
              <a:gd name="connsiteX1" fmla="*/ 2840 w 805096"/>
              <a:gd name="connsiteY1" fmla="*/ 1147313 h 1682151"/>
              <a:gd name="connsiteX2" fmla="*/ 805096 w 805096"/>
              <a:gd name="connsiteY2" fmla="*/ 1682151 h 1682151"/>
              <a:gd name="connsiteX0" fmla="*/ 3358438 w 3358438"/>
              <a:gd name="connsiteY0" fmla="*/ 0 h 1190517"/>
              <a:gd name="connsiteX1" fmla="*/ 2771842 w 3358438"/>
              <a:gd name="connsiteY1" fmla="*/ 1147313 h 1190517"/>
              <a:gd name="connsiteX2" fmla="*/ 32245 w 3358438"/>
              <a:gd name="connsiteY2" fmla="*/ 374212 h 1190517"/>
              <a:gd name="connsiteX0" fmla="*/ 3365017 w 3365017"/>
              <a:gd name="connsiteY0" fmla="*/ 0 h 782137"/>
              <a:gd name="connsiteX1" fmla="*/ 2199687 w 3365017"/>
              <a:gd name="connsiteY1" fmla="*/ 719049 h 782137"/>
              <a:gd name="connsiteX2" fmla="*/ 38824 w 3365017"/>
              <a:gd name="connsiteY2" fmla="*/ 374212 h 782137"/>
              <a:gd name="connsiteX0" fmla="*/ 3365017 w 3365017"/>
              <a:gd name="connsiteY0" fmla="*/ 0 h 782137"/>
              <a:gd name="connsiteX1" fmla="*/ 2199687 w 3365017"/>
              <a:gd name="connsiteY1" fmla="*/ 719049 h 782137"/>
              <a:gd name="connsiteX2" fmla="*/ 38824 w 3365017"/>
              <a:gd name="connsiteY2" fmla="*/ 374212 h 782137"/>
              <a:gd name="connsiteX0" fmla="*/ 3378131 w 3378131"/>
              <a:gd name="connsiteY0" fmla="*/ 0 h 719049"/>
              <a:gd name="connsiteX1" fmla="*/ 2212801 w 3378131"/>
              <a:gd name="connsiteY1" fmla="*/ 719049 h 719049"/>
              <a:gd name="connsiteX2" fmla="*/ 51938 w 3378131"/>
              <a:gd name="connsiteY2" fmla="*/ 374212 h 719049"/>
              <a:gd name="connsiteX0" fmla="*/ 3377853 w 3377853"/>
              <a:gd name="connsiteY0" fmla="*/ 0 h 800071"/>
              <a:gd name="connsiteX1" fmla="*/ 2224097 w 3377853"/>
              <a:gd name="connsiteY1" fmla="*/ 800071 h 800071"/>
              <a:gd name="connsiteX2" fmla="*/ 51660 w 3377853"/>
              <a:gd name="connsiteY2" fmla="*/ 374212 h 800071"/>
              <a:gd name="connsiteX0" fmla="*/ 3377853 w 3377853"/>
              <a:gd name="connsiteY0" fmla="*/ 0 h 804273"/>
              <a:gd name="connsiteX1" fmla="*/ 2224097 w 3377853"/>
              <a:gd name="connsiteY1" fmla="*/ 800071 h 804273"/>
              <a:gd name="connsiteX2" fmla="*/ 51660 w 3377853"/>
              <a:gd name="connsiteY2" fmla="*/ 374212 h 804273"/>
              <a:gd name="connsiteX0" fmla="*/ 3326193 w 3326193"/>
              <a:gd name="connsiteY0" fmla="*/ 0 h 808777"/>
              <a:gd name="connsiteX1" fmla="*/ 2172437 w 3326193"/>
              <a:gd name="connsiteY1" fmla="*/ 800071 h 808777"/>
              <a:gd name="connsiteX2" fmla="*/ 0 w 3326193"/>
              <a:gd name="connsiteY2" fmla="*/ 374212 h 808777"/>
              <a:gd name="connsiteX0" fmla="*/ 2296047 w 2296047"/>
              <a:gd name="connsiteY0" fmla="*/ 482314 h 1284736"/>
              <a:gd name="connsiteX1" fmla="*/ 1142291 w 2296047"/>
              <a:gd name="connsiteY1" fmla="*/ 1282385 h 1284736"/>
              <a:gd name="connsiteX2" fmla="*/ 0 w 2296047"/>
              <a:gd name="connsiteY2" fmla="*/ 0 h 1284736"/>
              <a:gd name="connsiteX0" fmla="*/ 2110852 w 2110852"/>
              <a:gd name="connsiteY0" fmla="*/ 447590 h 1250084"/>
              <a:gd name="connsiteX1" fmla="*/ 957096 w 2110852"/>
              <a:gd name="connsiteY1" fmla="*/ 1247661 h 1250084"/>
              <a:gd name="connsiteX2" fmla="*/ 0 w 2110852"/>
              <a:gd name="connsiteY2" fmla="*/ 0 h 1250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0852" h="1250084">
                <a:moveTo>
                  <a:pt x="2110852" y="447590"/>
                </a:moveTo>
                <a:cubicBezTo>
                  <a:pt x="1799582" y="881067"/>
                  <a:pt x="1650358" y="1117773"/>
                  <a:pt x="957096" y="1247661"/>
                </a:cubicBezTo>
                <a:cubicBezTo>
                  <a:pt x="252259" y="1308100"/>
                  <a:pt x="855334" y="220000"/>
                  <a:pt x="0" y="0"/>
                </a:cubicBezTo>
              </a:path>
            </a:pathLst>
          </a:custGeom>
          <a:ln w="19050">
            <a:solidFill>
              <a:srgbClr val="F697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3C47D323-B0A2-01FE-2085-AE161735AE07}"/>
              </a:ext>
            </a:extLst>
          </p:cNvPr>
          <p:cNvSpPr/>
          <p:nvPr/>
        </p:nvSpPr>
        <p:spPr>
          <a:xfrm>
            <a:off x="3086601" y="3160013"/>
            <a:ext cx="5694417" cy="1036693"/>
          </a:xfrm>
          <a:custGeom>
            <a:avLst/>
            <a:gdLst>
              <a:gd name="connsiteX0" fmla="*/ 2817063 w 2817063"/>
              <a:gd name="connsiteY0" fmla="*/ 0 h 1923690"/>
              <a:gd name="connsiteX1" fmla="*/ 82490 w 2817063"/>
              <a:gd name="connsiteY1" fmla="*/ 879894 h 1923690"/>
              <a:gd name="connsiteX2" fmla="*/ 979637 w 2817063"/>
              <a:gd name="connsiteY2" fmla="*/ 1923690 h 1923690"/>
              <a:gd name="connsiteX0" fmla="*/ 3349013 w 3349013"/>
              <a:gd name="connsiteY0" fmla="*/ 0 h 1923690"/>
              <a:gd name="connsiteX1" fmla="*/ 114108 w 3349013"/>
              <a:gd name="connsiteY1" fmla="*/ 879894 h 1923690"/>
              <a:gd name="connsiteX2" fmla="*/ 1011255 w 3349013"/>
              <a:gd name="connsiteY2" fmla="*/ 1923690 h 1923690"/>
              <a:gd name="connsiteX0" fmla="*/ 3347326 w 3347326"/>
              <a:gd name="connsiteY0" fmla="*/ 0 h 1923690"/>
              <a:gd name="connsiteX1" fmla="*/ 112421 w 3347326"/>
              <a:gd name="connsiteY1" fmla="*/ 879894 h 1923690"/>
              <a:gd name="connsiteX2" fmla="*/ 1009568 w 3347326"/>
              <a:gd name="connsiteY2" fmla="*/ 1923690 h 1923690"/>
              <a:gd name="connsiteX0" fmla="*/ 5913391 w 5913391"/>
              <a:gd name="connsiteY0" fmla="*/ 0 h 1031030"/>
              <a:gd name="connsiteX1" fmla="*/ 2678486 w 5913391"/>
              <a:gd name="connsiteY1" fmla="*/ 879894 h 1031030"/>
              <a:gd name="connsiteX2" fmla="*/ 80078 w 5913391"/>
              <a:gd name="connsiteY2" fmla="*/ 939842 h 1031030"/>
              <a:gd name="connsiteX0" fmla="*/ 5910077 w 5910077"/>
              <a:gd name="connsiteY0" fmla="*/ 0 h 992447"/>
              <a:gd name="connsiteX1" fmla="*/ 2814069 w 5910077"/>
              <a:gd name="connsiteY1" fmla="*/ 822021 h 992447"/>
              <a:gd name="connsiteX2" fmla="*/ 76764 w 5910077"/>
              <a:gd name="connsiteY2" fmla="*/ 939842 h 992447"/>
              <a:gd name="connsiteX0" fmla="*/ 5910077 w 5910077"/>
              <a:gd name="connsiteY0" fmla="*/ 0 h 992447"/>
              <a:gd name="connsiteX1" fmla="*/ 2814069 w 5910077"/>
              <a:gd name="connsiteY1" fmla="*/ 822021 h 992447"/>
              <a:gd name="connsiteX2" fmla="*/ 76764 w 5910077"/>
              <a:gd name="connsiteY2" fmla="*/ 939842 h 992447"/>
              <a:gd name="connsiteX0" fmla="*/ 5924598 w 5924598"/>
              <a:gd name="connsiteY0" fmla="*/ 0 h 1012278"/>
              <a:gd name="connsiteX1" fmla="*/ 2828590 w 5924598"/>
              <a:gd name="connsiteY1" fmla="*/ 822021 h 1012278"/>
              <a:gd name="connsiteX2" fmla="*/ 91285 w 5924598"/>
              <a:gd name="connsiteY2" fmla="*/ 939842 h 1012278"/>
              <a:gd name="connsiteX0" fmla="*/ 5833313 w 5833313"/>
              <a:gd name="connsiteY0" fmla="*/ 0 h 1041686"/>
              <a:gd name="connsiteX1" fmla="*/ 2737305 w 5833313"/>
              <a:gd name="connsiteY1" fmla="*/ 822021 h 1041686"/>
              <a:gd name="connsiteX2" fmla="*/ 0 w 5833313"/>
              <a:gd name="connsiteY2" fmla="*/ 939842 h 1041686"/>
              <a:gd name="connsiteX0" fmla="*/ 5694417 w 5694417"/>
              <a:gd name="connsiteY0" fmla="*/ 0 h 1036693"/>
              <a:gd name="connsiteX1" fmla="*/ 2598409 w 5694417"/>
              <a:gd name="connsiteY1" fmla="*/ 822021 h 1036693"/>
              <a:gd name="connsiteX2" fmla="*/ 0 w 5694417"/>
              <a:gd name="connsiteY2" fmla="*/ 928268 h 1036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94417" h="1036693">
                <a:moveTo>
                  <a:pt x="5694417" y="0"/>
                </a:moveTo>
                <a:cubicBezTo>
                  <a:pt x="4480249" y="279639"/>
                  <a:pt x="3485746" y="408809"/>
                  <a:pt x="2598409" y="822021"/>
                </a:cubicBezTo>
                <a:cubicBezTo>
                  <a:pt x="1653198" y="1188935"/>
                  <a:pt x="665626" y="987079"/>
                  <a:pt x="0" y="928268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CF23CECC-76C7-5EA7-A773-2D1B415AF207}"/>
              </a:ext>
            </a:extLst>
          </p:cNvPr>
          <p:cNvSpPr/>
          <p:nvPr/>
        </p:nvSpPr>
        <p:spPr>
          <a:xfrm>
            <a:off x="4588364" y="3168641"/>
            <a:ext cx="6789206" cy="1763195"/>
          </a:xfrm>
          <a:custGeom>
            <a:avLst/>
            <a:gdLst>
              <a:gd name="connsiteX0" fmla="*/ 5328596 w 5328596"/>
              <a:gd name="connsiteY0" fmla="*/ 0 h 2104845"/>
              <a:gd name="connsiteX1" fmla="*/ 3568808 w 5328596"/>
              <a:gd name="connsiteY1" fmla="*/ 362310 h 2104845"/>
              <a:gd name="connsiteX2" fmla="*/ 144121 w 5328596"/>
              <a:gd name="connsiteY2" fmla="*/ 517585 h 2104845"/>
              <a:gd name="connsiteX3" fmla="*/ 963630 w 5328596"/>
              <a:gd name="connsiteY3" fmla="*/ 2104845 h 2104845"/>
              <a:gd name="connsiteX0" fmla="*/ 5535220 w 5535220"/>
              <a:gd name="connsiteY0" fmla="*/ 0 h 2104845"/>
              <a:gd name="connsiteX1" fmla="*/ 3775432 w 5535220"/>
              <a:gd name="connsiteY1" fmla="*/ 362310 h 2104845"/>
              <a:gd name="connsiteX2" fmla="*/ 117832 w 5535220"/>
              <a:gd name="connsiteY2" fmla="*/ 741871 h 2104845"/>
              <a:gd name="connsiteX3" fmla="*/ 1170254 w 5535220"/>
              <a:gd name="connsiteY3" fmla="*/ 2104845 h 2104845"/>
              <a:gd name="connsiteX0" fmla="*/ 5497786 w 5497786"/>
              <a:gd name="connsiteY0" fmla="*/ 0 h 2104845"/>
              <a:gd name="connsiteX1" fmla="*/ 3737998 w 5497786"/>
              <a:gd name="connsiteY1" fmla="*/ 362310 h 2104845"/>
              <a:gd name="connsiteX2" fmla="*/ 80398 w 5497786"/>
              <a:gd name="connsiteY2" fmla="*/ 741871 h 2104845"/>
              <a:gd name="connsiteX3" fmla="*/ 1132820 w 5497786"/>
              <a:gd name="connsiteY3" fmla="*/ 2104845 h 2104845"/>
              <a:gd name="connsiteX0" fmla="*/ 5500804 w 5500804"/>
              <a:gd name="connsiteY0" fmla="*/ 0 h 2104845"/>
              <a:gd name="connsiteX1" fmla="*/ 3741016 w 5500804"/>
              <a:gd name="connsiteY1" fmla="*/ 362310 h 2104845"/>
              <a:gd name="connsiteX2" fmla="*/ 83416 w 5500804"/>
              <a:gd name="connsiteY2" fmla="*/ 741871 h 2104845"/>
              <a:gd name="connsiteX3" fmla="*/ 1135838 w 5500804"/>
              <a:gd name="connsiteY3" fmla="*/ 2104845 h 2104845"/>
              <a:gd name="connsiteX0" fmla="*/ 5487507 w 5487507"/>
              <a:gd name="connsiteY0" fmla="*/ 0 h 2108761"/>
              <a:gd name="connsiteX1" fmla="*/ 3727719 w 5487507"/>
              <a:gd name="connsiteY1" fmla="*/ 362310 h 2108761"/>
              <a:gd name="connsiteX2" fmla="*/ 70119 w 5487507"/>
              <a:gd name="connsiteY2" fmla="*/ 741871 h 2108761"/>
              <a:gd name="connsiteX3" fmla="*/ 1122541 w 5487507"/>
              <a:gd name="connsiteY3" fmla="*/ 2104845 h 2108761"/>
              <a:gd name="connsiteX0" fmla="*/ 6048224 w 6048224"/>
              <a:gd name="connsiteY0" fmla="*/ 0 h 2195025"/>
              <a:gd name="connsiteX1" fmla="*/ 3727719 w 6048224"/>
              <a:gd name="connsiteY1" fmla="*/ 448574 h 2195025"/>
              <a:gd name="connsiteX2" fmla="*/ 70119 w 6048224"/>
              <a:gd name="connsiteY2" fmla="*/ 828135 h 2195025"/>
              <a:gd name="connsiteX3" fmla="*/ 1122541 w 6048224"/>
              <a:gd name="connsiteY3" fmla="*/ 2191109 h 2195025"/>
              <a:gd name="connsiteX0" fmla="*/ 6048224 w 6048224"/>
              <a:gd name="connsiteY0" fmla="*/ 0 h 2195025"/>
              <a:gd name="connsiteX1" fmla="*/ 3727719 w 6048224"/>
              <a:gd name="connsiteY1" fmla="*/ 448574 h 2195025"/>
              <a:gd name="connsiteX2" fmla="*/ 70119 w 6048224"/>
              <a:gd name="connsiteY2" fmla="*/ 828135 h 2195025"/>
              <a:gd name="connsiteX3" fmla="*/ 1122541 w 6048224"/>
              <a:gd name="connsiteY3" fmla="*/ 2191109 h 2195025"/>
              <a:gd name="connsiteX0" fmla="*/ 6053714 w 6053714"/>
              <a:gd name="connsiteY0" fmla="*/ 0 h 2193991"/>
              <a:gd name="connsiteX1" fmla="*/ 3267382 w 6053714"/>
              <a:gd name="connsiteY1" fmla="*/ 448574 h 2193991"/>
              <a:gd name="connsiteX2" fmla="*/ 75609 w 6053714"/>
              <a:gd name="connsiteY2" fmla="*/ 828135 h 2193991"/>
              <a:gd name="connsiteX3" fmla="*/ 1128031 w 6053714"/>
              <a:gd name="connsiteY3" fmla="*/ 2191109 h 2193991"/>
              <a:gd name="connsiteX0" fmla="*/ 6053714 w 6053714"/>
              <a:gd name="connsiteY0" fmla="*/ 0 h 2193991"/>
              <a:gd name="connsiteX1" fmla="*/ 3267382 w 6053714"/>
              <a:gd name="connsiteY1" fmla="*/ 448574 h 2193991"/>
              <a:gd name="connsiteX2" fmla="*/ 75609 w 6053714"/>
              <a:gd name="connsiteY2" fmla="*/ 828135 h 2193991"/>
              <a:gd name="connsiteX3" fmla="*/ 1128031 w 6053714"/>
              <a:gd name="connsiteY3" fmla="*/ 2191109 h 2193991"/>
              <a:gd name="connsiteX0" fmla="*/ 8284836 w 8284836"/>
              <a:gd name="connsiteY0" fmla="*/ 0 h 1560671"/>
              <a:gd name="connsiteX1" fmla="*/ 5498504 w 8284836"/>
              <a:gd name="connsiteY1" fmla="*/ 448574 h 1560671"/>
              <a:gd name="connsiteX2" fmla="*/ 2306731 w 8284836"/>
              <a:gd name="connsiteY2" fmla="*/ 828135 h 1560671"/>
              <a:gd name="connsiteX3" fmla="*/ 48794 w 8284836"/>
              <a:gd name="connsiteY3" fmla="*/ 1554502 h 1560671"/>
              <a:gd name="connsiteX0" fmla="*/ 8236042 w 8236042"/>
              <a:gd name="connsiteY0" fmla="*/ 0 h 1564867"/>
              <a:gd name="connsiteX1" fmla="*/ 5449710 w 8236042"/>
              <a:gd name="connsiteY1" fmla="*/ 448574 h 1564867"/>
              <a:gd name="connsiteX2" fmla="*/ 2257937 w 8236042"/>
              <a:gd name="connsiteY2" fmla="*/ 828135 h 1564867"/>
              <a:gd name="connsiteX3" fmla="*/ 0 w 8236042"/>
              <a:gd name="connsiteY3" fmla="*/ 1554502 h 1564867"/>
              <a:gd name="connsiteX0" fmla="*/ 8236042 w 8236042"/>
              <a:gd name="connsiteY0" fmla="*/ 0 h 1571713"/>
              <a:gd name="connsiteX1" fmla="*/ 5449710 w 8236042"/>
              <a:gd name="connsiteY1" fmla="*/ 448574 h 1571713"/>
              <a:gd name="connsiteX2" fmla="*/ 2419983 w 8236042"/>
              <a:gd name="connsiteY2" fmla="*/ 1071204 h 1571713"/>
              <a:gd name="connsiteX3" fmla="*/ 0 w 8236042"/>
              <a:gd name="connsiteY3" fmla="*/ 1554502 h 1571713"/>
              <a:gd name="connsiteX0" fmla="*/ 8236042 w 8236042"/>
              <a:gd name="connsiteY0" fmla="*/ 0 h 1571713"/>
              <a:gd name="connsiteX1" fmla="*/ 5449710 w 8236042"/>
              <a:gd name="connsiteY1" fmla="*/ 448574 h 1571713"/>
              <a:gd name="connsiteX2" fmla="*/ 2419983 w 8236042"/>
              <a:gd name="connsiteY2" fmla="*/ 1071204 h 1571713"/>
              <a:gd name="connsiteX3" fmla="*/ 0 w 8236042"/>
              <a:gd name="connsiteY3" fmla="*/ 1554502 h 1571713"/>
              <a:gd name="connsiteX0" fmla="*/ 8236042 w 8236042"/>
              <a:gd name="connsiteY0" fmla="*/ 0 h 1569097"/>
              <a:gd name="connsiteX1" fmla="*/ 5449710 w 8236042"/>
              <a:gd name="connsiteY1" fmla="*/ 448574 h 1569097"/>
              <a:gd name="connsiteX2" fmla="*/ 2419983 w 8236042"/>
              <a:gd name="connsiteY2" fmla="*/ 1071204 h 1569097"/>
              <a:gd name="connsiteX3" fmla="*/ 0 w 8236042"/>
              <a:gd name="connsiteY3" fmla="*/ 1554502 h 1569097"/>
              <a:gd name="connsiteX0" fmla="*/ 8305490 w 8305490"/>
              <a:gd name="connsiteY0" fmla="*/ 0 h 1580292"/>
              <a:gd name="connsiteX1" fmla="*/ 5519158 w 8305490"/>
              <a:gd name="connsiteY1" fmla="*/ 448574 h 1580292"/>
              <a:gd name="connsiteX2" fmla="*/ 2489431 w 8305490"/>
              <a:gd name="connsiteY2" fmla="*/ 1071204 h 1580292"/>
              <a:gd name="connsiteX3" fmla="*/ 0 w 8305490"/>
              <a:gd name="connsiteY3" fmla="*/ 1566077 h 1580292"/>
              <a:gd name="connsiteX0" fmla="*/ 8305490 w 8305490"/>
              <a:gd name="connsiteY0" fmla="*/ 0 h 1597051"/>
              <a:gd name="connsiteX1" fmla="*/ 5519158 w 8305490"/>
              <a:gd name="connsiteY1" fmla="*/ 448574 h 1597051"/>
              <a:gd name="connsiteX2" fmla="*/ 2489431 w 8305490"/>
              <a:gd name="connsiteY2" fmla="*/ 1071204 h 1597051"/>
              <a:gd name="connsiteX3" fmla="*/ 0 w 8305490"/>
              <a:gd name="connsiteY3" fmla="*/ 1566077 h 1597051"/>
              <a:gd name="connsiteX0" fmla="*/ 6893378 w 6893378"/>
              <a:gd name="connsiteY0" fmla="*/ 0 h 1785607"/>
              <a:gd name="connsiteX1" fmla="*/ 4107046 w 6893378"/>
              <a:gd name="connsiteY1" fmla="*/ 448574 h 1785607"/>
              <a:gd name="connsiteX2" fmla="*/ 1077319 w 6893378"/>
              <a:gd name="connsiteY2" fmla="*/ 1071204 h 1785607"/>
              <a:gd name="connsiteX3" fmla="*/ 0 w 6893378"/>
              <a:gd name="connsiteY3" fmla="*/ 1762847 h 1785607"/>
              <a:gd name="connsiteX0" fmla="*/ 6789206 w 6789206"/>
              <a:gd name="connsiteY0" fmla="*/ 0 h 1763195"/>
              <a:gd name="connsiteX1" fmla="*/ 4002874 w 6789206"/>
              <a:gd name="connsiteY1" fmla="*/ 448574 h 1763195"/>
              <a:gd name="connsiteX2" fmla="*/ 973147 w 6789206"/>
              <a:gd name="connsiteY2" fmla="*/ 1071204 h 1763195"/>
              <a:gd name="connsiteX3" fmla="*/ 0 w 6789206"/>
              <a:gd name="connsiteY3" fmla="*/ 1739698 h 17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9206" h="1763195">
                <a:moveTo>
                  <a:pt x="6789206" y="0"/>
                </a:moveTo>
                <a:cubicBezTo>
                  <a:pt x="6651902" y="405442"/>
                  <a:pt x="4972217" y="270040"/>
                  <a:pt x="4002874" y="448574"/>
                </a:cubicBezTo>
                <a:cubicBezTo>
                  <a:pt x="3033531" y="627108"/>
                  <a:pt x="1561199" y="815506"/>
                  <a:pt x="973147" y="1071204"/>
                </a:cubicBezTo>
                <a:cubicBezTo>
                  <a:pt x="500842" y="1292178"/>
                  <a:pt x="1058793" y="1888294"/>
                  <a:pt x="0" y="1739698"/>
                </a:cubicBezTo>
              </a:path>
            </a:pathLst>
          </a:cu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E111D3-17C7-447B-BACB-B7601790F679}"/>
              </a:ext>
            </a:extLst>
          </p:cNvPr>
          <p:cNvSpPr txBox="1"/>
          <p:nvPr/>
        </p:nvSpPr>
        <p:spPr>
          <a:xfrm>
            <a:off x="10109486" y="195231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 fontScale="25000" lnSpcReduction="20000"/>
          </a:bodyPr>
          <a:lstStyle/>
          <a:p>
            <a:pPr algn="l"/>
            <a:endParaRPr lang="da-DK" sz="20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8303B0-187E-07AD-F98C-2CEB8F29341D}"/>
              </a:ext>
            </a:extLst>
          </p:cNvPr>
          <p:cNvSpPr/>
          <p:nvPr/>
        </p:nvSpPr>
        <p:spPr>
          <a:xfrm rot="21338549">
            <a:off x="6135115" y="2249302"/>
            <a:ext cx="1366903" cy="875450"/>
          </a:xfrm>
          <a:prstGeom prst="rect">
            <a:avLst/>
          </a:prstGeom>
          <a:solidFill>
            <a:srgbClr val="F7974F"/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5A2AD9-667E-1E3A-B6F9-5074E31B16EC}"/>
              </a:ext>
            </a:extLst>
          </p:cNvPr>
          <p:cNvSpPr/>
          <p:nvPr/>
        </p:nvSpPr>
        <p:spPr>
          <a:xfrm rot="20965940">
            <a:off x="10528515" y="2322873"/>
            <a:ext cx="1366903" cy="8754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D339469-C837-88A9-29EB-DFF72280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C3F2D4E-287C-F1F5-6E91-E8FDB4D2BD42}"/>
              </a:ext>
            </a:extLst>
          </p:cNvPr>
          <p:cNvCxnSpPr/>
          <p:nvPr/>
        </p:nvCxnSpPr>
        <p:spPr>
          <a:xfrm>
            <a:off x="5323856" y="2843684"/>
            <a:ext cx="6754263" cy="0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8646C76-F022-C176-5215-784712C2224E}"/>
              </a:ext>
            </a:extLst>
          </p:cNvPr>
          <p:cNvCxnSpPr>
            <a:cxnSpLocks/>
          </p:cNvCxnSpPr>
          <p:nvPr/>
        </p:nvCxnSpPr>
        <p:spPr>
          <a:xfrm flipV="1">
            <a:off x="5522554" y="1438102"/>
            <a:ext cx="0" cy="2065058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E187A52-1EAB-6045-C16E-BAE264CA5C1B}"/>
              </a:ext>
            </a:extLst>
          </p:cNvPr>
          <p:cNvSpPr txBox="1"/>
          <p:nvPr/>
        </p:nvSpPr>
        <p:spPr>
          <a:xfrm>
            <a:off x="11667583" y="2931521"/>
            <a:ext cx="7755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dirty="0">
                <a:solidFill>
                  <a:srgbClr val="666666"/>
                </a:solidFill>
              </a:rPr>
              <a:t>z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634FA8-473A-5944-BB43-45A61056E03E}"/>
              </a:ext>
            </a:extLst>
          </p:cNvPr>
          <p:cNvSpPr txBox="1"/>
          <p:nvPr/>
        </p:nvSpPr>
        <p:spPr>
          <a:xfrm>
            <a:off x="5098537" y="709590"/>
            <a:ext cx="7755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dirty="0">
                <a:solidFill>
                  <a:srgbClr val="666666"/>
                </a:solidFill>
              </a:rPr>
              <a:t>y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DAD0EDA-93D3-8104-FB6E-FD7EC6FA6F5F}"/>
              </a:ext>
            </a:extLst>
          </p:cNvPr>
          <p:cNvSpPr/>
          <p:nvPr/>
        </p:nvSpPr>
        <p:spPr>
          <a:xfrm>
            <a:off x="1555795" y="2104454"/>
            <a:ext cx="1951333" cy="1041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D7D7FE2-03F4-0E09-0C3F-82E6029CA1B9}"/>
              </a:ext>
            </a:extLst>
          </p:cNvPr>
          <p:cNvSpPr/>
          <p:nvPr/>
        </p:nvSpPr>
        <p:spPr>
          <a:xfrm>
            <a:off x="1555796" y="2282493"/>
            <a:ext cx="1530805" cy="789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A117A6-4761-B7DD-176E-20CDA4F9F71B}"/>
              </a:ext>
            </a:extLst>
          </p:cNvPr>
          <p:cNvSpPr txBox="1"/>
          <p:nvPr/>
        </p:nvSpPr>
        <p:spPr>
          <a:xfrm>
            <a:off x="1482680" y="2517878"/>
            <a:ext cx="3260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8984F"/>
                </a:solidFill>
              </a:rPr>
              <a:t>COMPONENT A(par=2)</a:t>
            </a:r>
          </a:p>
          <a:p>
            <a:pPr algn="l"/>
            <a:r>
              <a:rPr lang="en-US" b="1" dirty="0">
                <a:solidFill>
                  <a:srgbClr val="F8984F"/>
                </a:solidFill>
              </a:rPr>
              <a:t>AT (0, 0, 0.5)</a:t>
            </a:r>
          </a:p>
          <a:p>
            <a:pPr algn="l"/>
            <a:r>
              <a:rPr lang="en-US" b="1" dirty="0">
                <a:solidFill>
                  <a:srgbClr val="F8984F"/>
                </a:solidFill>
              </a:rPr>
              <a:t>ROTATED (-10, 0, 0)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E63BED1-7089-A46C-C5B7-92BF09C8D0AD}"/>
              </a:ext>
            </a:extLst>
          </p:cNvPr>
          <p:cNvSpPr txBox="1"/>
          <p:nvPr/>
        </p:nvSpPr>
        <p:spPr>
          <a:xfrm>
            <a:off x="1482680" y="3594699"/>
            <a:ext cx="3260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0099DC"/>
                </a:solidFill>
              </a:rPr>
              <a:t>COMPONENT B(width=0.3)</a:t>
            </a:r>
          </a:p>
          <a:p>
            <a:pPr algn="l"/>
            <a:r>
              <a:rPr lang="en-US" b="1" dirty="0">
                <a:solidFill>
                  <a:srgbClr val="0099DC"/>
                </a:solidFill>
              </a:rPr>
              <a:t>AT (0, 0, 4.0)</a:t>
            </a:r>
          </a:p>
          <a:p>
            <a:pPr algn="l"/>
            <a:r>
              <a:rPr lang="en-US" b="1" dirty="0">
                <a:solidFill>
                  <a:srgbClr val="0099DC"/>
                </a:solidFill>
              </a:rPr>
              <a:t>ROTATED (10, 0, 0)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61892EC-35AC-C8ED-2EE6-3A4B25B07201}"/>
              </a:ext>
            </a:extLst>
          </p:cNvPr>
          <p:cNvSpPr txBox="1"/>
          <p:nvPr/>
        </p:nvSpPr>
        <p:spPr>
          <a:xfrm>
            <a:off x="1482680" y="4687785"/>
            <a:ext cx="3260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99BE00"/>
                </a:solidFill>
              </a:rPr>
              <a:t>COMPONENT C(length=2.5)</a:t>
            </a:r>
          </a:p>
          <a:p>
            <a:pPr algn="l"/>
            <a:r>
              <a:rPr lang="en-US" b="1" dirty="0">
                <a:solidFill>
                  <a:srgbClr val="99BE00"/>
                </a:solidFill>
              </a:rPr>
              <a:t>AT (0, 0, 11.5)</a:t>
            </a:r>
          </a:p>
          <a:p>
            <a:pPr algn="l"/>
            <a:r>
              <a:rPr lang="en-US" b="1" dirty="0">
                <a:solidFill>
                  <a:srgbClr val="99BE00"/>
                </a:solidFill>
              </a:rPr>
              <a:t>ROTATED (-12, 0, 0)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0551A3C-7D49-387E-540B-BB5818DD8976}"/>
              </a:ext>
            </a:extLst>
          </p:cNvPr>
          <p:cNvSpPr/>
          <p:nvPr/>
        </p:nvSpPr>
        <p:spPr>
          <a:xfrm>
            <a:off x="1524614" y="2622620"/>
            <a:ext cx="2575114" cy="194899"/>
          </a:xfrm>
          <a:prstGeom prst="rect">
            <a:avLst/>
          </a:prstGeom>
          <a:solidFill>
            <a:srgbClr val="F8984F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D074BBB-8167-228C-8992-572B2D336051}"/>
              </a:ext>
            </a:extLst>
          </p:cNvPr>
          <p:cNvSpPr/>
          <p:nvPr/>
        </p:nvSpPr>
        <p:spPr>
          <a:xfrm>
            <a:off x="1527708" y="5316223"/>
            <a:ext cx="2114961" cy="292015"/>
          </a:xfrm>
          <a:prstGeom prst="rect">
            <a:avLst/>
          </a:prstGeom>
          <a:solidFill>
            <a:srgbClr val="99BE00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E2370DB-3D65-CDD7-410D-6AFDFD5FE7FB}"/>
              </a:ext>
            </a:extLst>
          </p:cNvPr>
          <p:cNvSpPr/>
          <p:nvPr/>
        </p:nvSpPr>
        <p:spPr>
          <a:xfrm>
            <a:off x="1531816" y="2890808"/>
            <a:ext cx="1442495" cy="204633"/>
          </a:xfrm>
          <a:prstGeom prst="rect">
            <a:avLst/>
          </a:prstGeom>
          <a:solidFill>
            <a:srgbClr val="F8984F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5417441-E5B3-E3F1-5760-1B83831D445F}"/>
              </a:ext>
            </a:extLst>
          </p:cNvPr>
          <p:cNvSpPr/>
          <p:nvPr/>
        </p:nvSpPr>
        <p:spPr>
          <a:xfrm>
            <a:off x="1531817" y="3143520"/>
            <a:ext cx="2110853" cy="230407"/>
          </a:xfrm>
          <a:prstGeom prst="rect">
            <a:avLst/>
          </a:prstGeom>
          <a:solidFill>
            <a:srgbClr val="F8984F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F3334E8-7DD3-51F8-EC24-44DBE4DAAAC7}"/>
              </a:ext>
            </a:extLst>
          </p:cNvPr>
          <p:cNvSpPr/>
          <p:nvPr/>
        </p:nvSpPr>
        <p:spPr>
          <a:xfrm>
            <a:off x="1531816" y="3990906"/>
            <a:ext cx="1554785" cy="190543"/>
          </a:xfrm>
          <a:prstGeom prst="rect">
            <a:avLst/>
          </a:prstGeom>
          <a:solidFill>
            <a:srgbClr val="0099DC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2F53B62-09A9-8CC1-5C28-1C180F1FFD85}"/>
              </a:ext>
            </a:extLst>
          </p:cNvPr>
          <p:cNvSpPr/>
          <p:nvPr/>
        </p:nvSpPr>
        <p:spPr>
          <a:xfrm>
            <a:off x="1527709" y="4256659"/>
            <a:ext cx="2175495" cy="256375"/>
          </a:xfrm>
          <a:prstGeom prst="rect">
            <a:avLst/>
          </a:prstGeom>
          <a:solidFill>
            <a:srgbClr val="0099DC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ECEB722-67B3-0FB6-B5FB-C46F68537326}"/>
              </a:ext>
            </a:extLst>
          </p:cNvPr>
          <p:cNvSpPr/>
          <p:nvPr/>
        </p:nvSpPr>
        <p:spPr>
          <a:xfrm>
            <a:off x="1518443" y="5053393"/>
            <a:ext cx="1568157" cy="215188"/>
          </a:xfrm>
          <a:prstGeom prst="rect">
            <a:avLst/>
          </a:prstGeom>
          <a:solidFill>
            <a:srgbClr val="99BE00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2277A22-8223-E89B-C508-C729D49651AF}"/>
              </a:ext>
            </a:extLst>
          </p:cNvPr>
          <p:cNvSpPr/>
          <p:nvPr/>
        </p:nvSpPr>
        <p:spPr>
          <a:xfrm>
            <a:off x="1518444" y="4762995"/>
            <a:ext cx="3069093" cy="215188"/>
          </a:xfrm>
          <a:prstGeom prst="rect">
            <a:avLst/>
          </a:prstGeom>
          <a:solidFill>
            <a:srgbClr val="99BE00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8322159-B177-20D9-A990-A01E129CD08A}"/>
              </a:ext>
            </a:extLst>
          </p:cNvPr>
          <p:cNvSpPr/>
          <p:nvPr/>
        </p:nvSpPr>
        <p:spPr>
          <a:xfrm>
            <a:off x="1539225" y="3654209"/>
            <a:ext cx="2992581" cy="290350"/>
          </a:xfrm>
          <a:prstGeom prst="rect">
            <a:avLst/>
          </a:prstGeom>
          <a:solidFill>
            <a:srgbClr val="0099DC">
              <a:alpha val="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1D8A38-0F40-3053-D21D-2E2D0E04A0FB}"/>
              </a:ext>
            </a:extLst>
          </p:cNvPr>
          <p:cNvCxnSpPr>
            <a:cxnSpLocks/>
          </p:cNvCxnSpPr>
          <p:nvPr/>
        </p:nvCxnSpPr>
        <p:spPr>
          <a:xfrm flipV="1">
            <a:off x="5216333" y="2215590"/>
            <a:ext cx="673921" cy="1178776"/>
          </a:xfrm>
          <a:prstGeom prst="straightConnector1">
            <a:avLst/>
          </a:prstGeom>
          <a:ln w="38100">
            <a:solidFill>
              <a:schemeClr val="dk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0FBB41-4E5E-273A-FC75-EB24D8A3DD47}"/>
              </a:ext>
            </a:extLst>
          </p:cNvPr>
          <p:cNvSpPr txBox="1"/>
          <p:nvPr/>
        </p:nvSpPr>
        <p:spPr>
          <a:xfrm>
            <a:off x="5654574" y="1518276"/>
            <a:ext cx="7755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dirty="0">
                <a:solidFill>
                  <a:srgbClr val="666666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8033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79" grpId="0"/>
      <p:bldP spid="80" grpId="0"/>
      <p:bldP spid="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0A0C-D717-B082-A6C9-BD7238F6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BB529212-83BD-5C75-7A05-2E1992B068D5}"/>
              </a:ext>
            </a:extLst>
          </p:cNvPr>
          <p:cNvSpPr txBox="1"/>
          <p:nvPr/>
        </p:nvSpPr>
        <p:spPr>
          <a:xfrm>
            <a:off x="6319322" y="4897901"/>
            <a:ext cx="326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1" dirty="0">
                <a:solidFill>
                  <a:srgbClr val="0099DC">
                    <a:alpha val="0"/>
                  </a:srgbClr>
                </a:solidFill>
              </a:rPr>
              <a:t>COMPONENT B(width=0.3)</a:t>
            </a:r>
          </a:p>
          <a:p>
            <a:pPr algn="l"/>
            <a:r>
              <a:rPr lang="en-US" sz="600" b="1" dirty="0">
                <a:solidFill>
                  <a:srgbClr val="0099DC">
                    <a:alpha val="0"/>
                  </a:srgbClr>
                </a:solidFill>
              </a:rPr>
              <a:t>AT (0, 0, 4.0)</a:t>
            </a:r>
          </a:p>
          <a:p>
            <a:pPr algn="l"/>
            <a:r>
              <a:rPr lang="en-US" sz="600" b="1" dirty="0">
                <a:solidFill>
                  <a:srgbClr val="0099DC">
                    <a:alpha val="0"/>
                  </a:srgbClr>
                </a:solidFill>
              </a:rPr>
              <a:t>ROTATED (-10, 0, 0)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1AAE3-7E16-8397-6BF9-764C47F5FB39}"/>
              </a:ext>
            </a:extLst>
          </p:cNvPr>
          <p:cNvSpPr txBox="1"/>
          <p:nvPr/>
        </p:nvSpPr>
        <p:spPr>
          <a:xfrm>
            <a:off x="6295270" y="5200314"/>
            <a:ext cx="326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1" dirty="0">
                <a:solidFill>
                  <a:srgbClr val="99BE00">
                    <a:alpha val="0"/>
                  </a:srgbClr>
                </a:solidFill>
              </a:rPr>
              <a:t>COMPONENT C(length=2.5)</a:t>
            </a:r>
          </a:p>
          <a:p>
            <a:pPr algn="l"/>
            <a:r>
              <a:rPr lang="en-US" sz="600" b="1" dirty="0">
                <a:solidFill>
                  <a:srgbClr val="99BE00">
                    <a:alpha val="0"/>
                  </a:srgbClr>
                </a:solidFill>
              </a:rPr>
              <a:t>AT (0, 0, 11.5)</a:t>
            </a:r>
          </a:p>
          <a:p>
            <a:pPr algn="l"/>
            <a:r>
              <a:rPr lang="en-US" sz="600" b="1" dirty="0">
                <a:solidFill>
                  <a:srgbClr val="99BE00">
                    <a:alpha val="0"/>
                  </a:srgbClr>
                </a:solidFill>
              </a:rPr>
              <a:t>ROTATED (12, 0, 0)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7CB905-F80F-B931-2F3B-563AD734BBFC}"/>
              </a:ext>
            </a:extLst>
          </p:cNvPr>
          <p:cNvSpPr txBox="1"/>
          <p:nvPr/>
        </p:nvSpPr>
        <p:spPr>
          <a:xfrm>
            <a:off x="6275437" y="4490095"/>
            <a:ext cx="326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1" dirty="0">
                <a:solidFill>
                  <a:srgbClr val="F8984F">
                    <a:alpha val="0"/>
                  </a:srgbClr>
                </a:solidFill>
              </a:rPr>
              <a:t>COMPONENT A(par=2)</a:t>
            </a:r>
          </a:p>
          <a:p>
            <a:pPr algn="l"/>
            <a:r>
              <a:rPr lang="en-US" sz="600" b="1" dirty="0">
                <a:solidFill>
                  <a:srgbClr val="F8984F">
                    <a:alpha val="0"/>
                  </a:srgbClr>
                </a:solidFill>
              </a:rPr>
              <a:t>AT (0, 0, 0.5)</a:t>
            </a:r>
          </a:p>
          <a:p>
            <a:pPr algn="l"/>
            <a:r>
              <a:rPr lang="en-US" sz="600" b="1" dirty="0">
                <a:solidFill>
                  <a:srgbClr val="F8984F">
                    <a:alpha val="0"/>
                  </a:srgbClr>
                </a:solidFill>
              </a:rPr>
              <a:t>ROTATED (10, 0, 0)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C27CFF0-57CC-03F1-C91D-17A5F80D8DC0}"/>
              </a:ext>
            </a:extLst>
          </p:cNvPr>
          <p:cNvSpPr/>
          <p:nvPr/>
        </p:nvSpPr>
        <p:spPr>
          <a:xfrm>
            <a:off x="6286902" y="4214905"/>
            <a:ext cx="1401738" cy="15034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B2A8FAE-6872-2F58-2612-305C3D9D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56BA75BF-E6A7-028A-8DE9-A4D74D4B65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7710DD38-9467-87F1-1903-740FF9C4B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Execution of 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7B4269-7969-9835-E106-C8F9FC980A96}"/>
              </a:ext>
            </a:extLst>
          </p:cNvPr>
          <p:cNvSpPr txBox="1"/>
          <p:nvPr/>
        </p:nvSpPr>
        <p:spPr>
          <a:xfrm>
            <a:off x="6223261" y="3886438"/>
            <a:ext cx="1649960" cy="3600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da-DK" sz="2000" i="1"/>
              <a:t>Instrument file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263F9FD-2D07-0339-7665-4A8CFF18A040}"/>
              </a:ext>
            </a:extLst>
          </p:cNvPr>
          <p:cNvSpPr/>
          <p:nvPr/>
        </p:nvSpPr>
        <p:spPr>
          <a:xfrm>
            <a:off x="8378547" y="4214905"/>
            <a:ext cx="1381944" cy="14776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CBB2A-4F27-6A44-1CDE-16845ACC0A57}"/>
              </a:ext>
            </a:extLst>
          </p:cNvPr>
          <p:cNvSpPr txBox="1"/>
          <p:nvPr/>
        </p:nvSpPr>
        <p:spPr>
          <a:xfrm>
            <a:off x="8275174" y="3854865"/>
            <a:ext cx="1649960" cy="3600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da-DK" sz="2000" i="1"/>
              <a:t>c file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EEA21F-1871-76E9-46C4-E3A683AE21B4}"/>
              </a:ext>
            </a:extLst>
          </p:cNvPr>
          <p:cNvSpPr/>
          <p:nvPr/>
        </p:nvSpPr>
        <p:spPr>
          <a:xfrm>
            <a:off x="10398555" y="4214905"/>
            <a:ext cx="1381944" cy="14776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2A0A22-713A-3AA4-B33E-B80A3837A13F}"/>
              </a:ext>
            </a:extLst>
          </p:cNvPr>
          <p:cNvSpPr txBox="1"/>
          <p:nvPr/>
        </p:nvSpPr>
        <p:spPr>
          <a:xfrm>
            <a:off x="10256298" y="3854865"/>
            <a:ext cx="1649960" cy="3600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da-DK" sz="2000" i="1" err="1"/>
              <a:t>Executable</a:t>
            </a:r>
            <a:endParaRPr lang="da-DK" sz="2000" i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40B49-2012-77AB-8451-872E83DA619F}"/>
              </a:ext>
            </a:extLst>
          </p:cNvPr>
          <p:cNvSpPr txBox="1"/>
          <p:nvPr/>
        </p:nvSpPr>
        <p:spPr>
          <a:xfrm>
            <a:off x="7462363" y="6004984"/>
            <a:ext cx="1224136" cy="7200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da-DK" sz="2000" err="1"/>
              <a:t>McStas</a:t>
            </a:r>
            <a:endParaRPr lang="da-DK" sz="2000"/>
          </a:p>
          <a:p>
            <a:pPr algn="ctr"/>
            <a:r>
              <a:rPr lang="da-DK" sz="2000"/>
              <a:t>compiler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3F0388-F988-E8BA-AC19-CA9A6CE3DED9}"/>
              </a:ext>
            </a:extLst>
          </p:cNvPr>
          <p:cNvSpPr txBox="1"/>
          <p:nvPr/>
        </p:nvSpPr>
        <p:spPr>
          <a:xfrm>
            <a:off x="9342222" y="6004984"/>
            <a:ext cx="1599706" cy="7200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da-DK" sz="2000"/>
              <a:t>Users</a:t>
            </a:r>
          </a:p>
          <a:p>
            <a:pPr algn="ctr"/>
            <a:r>
              <a:rPr lang="da-DK" sz="2000"/>
              <a:t>c - compiler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F927F91-61C8-7100-47DB-738CCCC52965}"/>
              </a:ext>
            </a:extLst>
          </p:cNvPr>
          <p:cNvSpPr/>
          <p:nvPr/>
        </p:nvSpPr>
        <p:spPr>
          <a:xfrm>
            <a:off x="7640168" y="5692506"/>
            <a:ext cx="886179" cy="312478"/>
          </a:xfrm>
          <a:custGeom>
            <a:avLst/>
            <a:gdLst>
              <a:gd name="connsiteX0" fmla="*/ 0 w 905070"/>
              <a:gd name="connsiteY0" fmla="*/ 0 h 242610"/>
              <a:gd name="connsiteX1" fmla="*/ 438539 w 905070"/>
              <a:gd name="connsiteY1" fmla="*/ 242595 h 242610"/>
              <a:gd name="connsiteX2" fmla="*/ 905070 w 905070"/>
              <a:gd name="connsiteY2" fmla="*/ 9330 h 24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070" h="242610">
                <a:moveTo>
                  <a:pt x="0" y="0"/>
                </a:moveTo>
                <a:cubicBezTo>
                  <a:pt x="143847" y="120520"/>
                  <a:pt x="287694" y="241040"/>
                  <a:pt x="438539" y="242595"/>
                </a:cubicBezTo>
                <a:cubicBezTo>
                  <a:pt x="589384" y="244150"/>
                  <a:pt x="747227" y="126740"/>
                  <a:pt x="905070" y="933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D4B26D14-39A2-4171-E144-F585D960D521}"/>
              </a:ext>
            </a:extLst>
          </p:cNvPr>
          <p:cNvSpPr/>
          <p:nvPr/>
        </p:nvSpPr>
        <p:spPr>
          <a:xfrm>
            <a:off x="9681753" y="5689631"/>
            <a:ext cx="886179" cy="312478"/>
          </a:xfrm>
          <a:custGeom>
            <a:avLst/>
            <a:gdLst>
              <a:gd name="connsiteX0" fmla="*/ 0 w 905070"/>
              <a:gd name="connsiteY0" fmla="*/ 0 h 242610"/>
              <a:gd name="connsiteX1" fmla="*/ 438539 w 905070"/>
              <a:gd name="connsiteY1" fmla="*/ 242595 h 242610"/>
              <a:gd name="connsiteX2" fmla="*/ 905070 w 905070"/>
              <a:gd name="connsiteY2" fmla="*/ 9330 h 24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070" h="242610">
                <a:moveTo>
                  <a:pt x="0" y="0"/>
                </a:moveTo>
                <a:cubicBezTo>
                  <a:pt x="143847" y="120520"/>
                  <a:pt x="287694" y="241040"/>
                  <a:pt x="438539" y="242595"/>
                </a:cubicBezTo>
                <a:cubicBezTo>
                  <a:pt x="589384" y="244150"/>
                  <a:pt x="747227" y="126740"/>
                  <a:pt x="905070" y="933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E3CDB0-E789-D9D0-7E19-943ABB105685}"/>
              </a:ext>
            </a:extLst>
          </p:cNvPr>
          <p:cNvSpPr/>
          <p:nvPr/>
        </p:nvSpPr>
        <p:spPr>
          <a:xfrm rot="368612">
            <a:off x="7732301" y="2297345"/>
            <a:ext cx="2474209" cy="87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82F1812-F26E-11EA-2E2D-B00EE1EA4C69}"/>
              </a:ext>
            </a:extLst>
          </p:cNvPr>
          <p:cNvSpPr/>
          <p:nvPr/>
        </p:nvSpPr>
        <p:spPr>
          <a:xfrm>
            <a:off x="5664042" y="3168640"/>
            <a:ext cx="700165" cy="1625938"/>
          </a:xfrm>
          <a:custGeom>
            <a:avLst/>
            <a:gdLst>
              <a:gd name="connsiteX0" fmla="*/ 589436 w 805096"/>
              <a:gd name="connsiteY0" fmla="*/ 0 h 1682151"/>
              <a:gd name="connsiteX1" fmla="*/ 2840 w 805096"/>
              <a:gd name="connsiteY1" fmla="*/ 1147313 h 1682151"/>
              <a:gd name="connsiteX2" fmla="*/ 805096 w 805096"/>
              <a:gd name="connsiteY2" fmla="*/ 1682151 h 1682151"/>
              <a:gd name="connsiteX0" fmla="*/ 589436 w 700165"/>
              <a:gd name="connsiteY0" fmla="*/ 0 h 1625938"/>
              <a:gd name="connsiteX1" fmla="*/ 2840 w 700165"/>
              <a:gd name="connsiteY1" fmla="*/ 1147313 h 1625938"/>
              <a:gd name="connsiteX2" fmla="*/ 700165 w 700165"/>
              <a:gd name="connsiteY2" fmla="*/ 1625938 h 1625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165" h="1625938">
                <a:moveTo>
                  <a:pt x="589436" y="0"/>
                </a:moveTo>
                <a:cubicBezTo>
                  <a:pt x="278166" y="433477"/>
                  <a:pt x="-33103" y="866955"/>
                  <a:pt x="2840" y="1147313"/>
                </a:cubicBezTo>
                <a:cubicBezTo>
                  <a:pt x="38783" y="1427671"/>
                  <a:pt x="317008" y="1498698"/>
                  <a:pt x="700165" y="1625938"/>
                </a:cubicBezTo>
              </a:path>
            </a:pathLst>
          </a:custGeom>
          <a:ln w="19050">
            <a:solidFill>
              <a:srgbClr val="F697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53077C10-15BE-E613-271B-AC72A828B62B}"/>
              </a:ext>
            </a:extLst>
          </p:cNvPr>
          <p:cNvSpPr/>
          <p:nvPr/>
        </p:nvSpPr>
        <p:spPr>
          <a:xfrm>
            <a:off x="5425959" y="3160014"/>
            <a:ext cx="3355060" cy="2004713"/>
          </a:xfrm>
          <a:custGeom>
            <a:avLst/>
            <a:gdLst>
              <a:gd name="connsiteX0" fmla="*/ 2817063 w 2817063"/>
              <a:gd name="connsiteY0" fmla="*/ 0 h 1923690"/>
              <a:gd name="connsiteX1" fmla="*/ 82490 w 2817063"/>
              <a:gd name="connsiteY1" fmla="*/ 879894 h 1923690"/>
              <a:gd name="connsiteX2" fmla="*/ 979637 w 2817063"/>
              <a:gd name="connsiteY2" fmla="*/ 1923690 h 1923690"/>
              <a:gd name="connsiteX0" fmla="*/ 3349013 w 3349013"/>
              <a:gd name="connsiteY0" fmla="*/ 0 h 1923690"/>
              <a:gd name="connsiteX1" fmla="*/ 114108 w 3349013"/>
              <a:gd name="connsiteY1" fmla="*/ 879894 h 1923690"/>
              <a:gd name="connsiteX2" fmla="*/ 1011255 w 3349013"/>
              <a:gd name="connsiteY2" fmla="*/ 1923690 h 1923690"/>
              <a:gd name="connsiteX0" fmla="*/ 3347326 w 3347326"/>
              <a:gd name="connsiteY0" fmla="*/ 0 h 1923690"/>
              <a:gd name="connsiteX1" fmla="*/ 112421 w 3347326"/>
              <a:gd name="connsiteY1" fmla="*/ 879894 h 1923690"/>
              <a:gd name="connsiteX2" fmla="*/ 1009568 w 3347326"/>
              <a:gd name="connsiteY2" fmla="*/ 1923690 h 1923690"/>
              <a:gd name="connsiteX0" fmla="*/ 3355060 w 3355060"/>
              <a:gd name="connsiteY0" fmla="*/ 0 h 2004713"/>
              <a:gd name="connsiteX1" fmla="*/ 120155 w 3355060"/>
              <a:gd name="connsiteY1" fmla="*/ 879894 h 2004713"/>
              <a:gd name="connsiteX2" fmla="*/ 947854 w 3355060"/>
              <a:gd name="connsiteY2" fmla="*/ 2004713 h 2004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55060" h="2004713">
                <a:moveTo>
                  <a:pt x="3355060" y="0"/>
                </a:moveTo>
                <a:cubicBezTo>
                  <a:pt x="2140892" y="279639"/>
                  <a:pt x="509781" y="559279"/>
                  <a:pt x="120155" y="879894"/>
                </a:cubicBezTo>
                <a:cubicBezTo>
                  <a:pt x="-269471" y="1200509"/>
                  <a:pt x="363414" y="1970926"/>
                  <a:pt x="947854" y="2004713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19CFC97E-1882-1B66-5119-F62C75596FBD}"/>
              </a:ext>
            </a:extLst>
          </p:cNvPr>
          <p:cNvSpPr/>
          <p:nvPr/>
        </p:nvSpPr>
        <p:spPr>
          <a:xfrm>
            <a:off x="5317657" y="3168640"/>
            <a:ext cx="6059912" cy="2325261"/>
          </a:xfrm>
          <a:custGeom>
            <a:avLst/>
            <a:gdLst>
              <a:gd name="connsiteX0" fmla="*/ 5328596 w 5328596"/>
              <a:gd name="connsiteY0" fmla="*/ 0 h 2104845"/>
              <a:gd name="connsiteX1" fmla="*/ 3568808 w 5328596"/>
              <a:gd name="connsiteY1" fmla="*/ 362310 h 2104845"/>
              <a:gd name="connsiteX2" fmla="*/ 144121 w 5328596"/>
              <a:gd name="connsiteY2" fmla="*/ 517585 h 2104845"/>
              <a:gd name="connsiteX3" fmla="*/ 963630 w 5328596"/>
              <a:gd name="connsiteY3" fmla="*/ 2104845 h 2104845"/>
              <a:gd name="connsiteX0" fmla="*/ 5535220 w 5535220"/>
              <a:gd name="connsiteY0" fmla="*/ 0 h 2104845"/>
              <a:gd name="connsiteX1" fmla="*/ 3775432 w 5535220"/>
              <a:gd name="connsiteY1" fmla="*/ 362310 h 2104845"/>
              <a:gd name="connsiteX2" fmla="*/ 117832 w 5535220"/>
              <a:gd name="connsiteY2" fmla="*/ 741871 h 2104845"/>
              <a:gd name="connsiteX3" fmla="*/ 1170254 w 5535220"/>
              <a:gd name="connsiteY3" fmla="*/ 2104845 h 2104845"/>
              <a:gd name="connsiteX0" fmla="*/ 5497786 w 5497786"/>
              <a:gd name="connsiteY0" fmla="*/ 0 h 2104845"/>
              <a:gd name="connsiteX1" fmla="*/ 3737998 w 5497786"/>
              <a:gd name="connsiteY1" fmla="*/ 362310 h 2104845"/>
              <a:gd name="connsiteX2" fmla="*/ 80398 w 5497786"/>
              <a:gd name="connsiteY2" fmla="*/ 741871 h 2104845"/>
              <a:gd name="connsiteX3" fmla="*/ 1132820 w 5497786"/>
              <a:gd name="connsiteY3" fmla="*/ 2104845 h 2104845"/>
              <a:gd name="connsiteX0" fmla="*/ 5500804 w 5500804"/>
              <a:gd name="connsiteY0" fmla="*/ 0 h 2104845"/>
              <a:gd name="connsiteX1" fmla="*/ 3741016 w 5500804"/>
              <a:gd name="connsiteY1" fmla="*/ 362310 h 2104845"/>
              <a:gd name="connsiteX2" fmla="*/ 83416 w 5500804"/>
              <a:gd name="connsiteY2" fmla="*/ 741871 h 2104845"/>
              <a:gd name="connsiteX3" fmla="*/ 1135838 w 5500804"/>
              <a:gd name="connsiteY3" fmla="*/ 2104845 h 2104845"/>
              <a:gd name="connsiteX0" fmla="*/ 5487507 w 5487507"/>
              <a:gd name="connsiteY0" fmla="*/ 0 h 2108761"/>
              <a:gd name="connsiteX1" fmla="*/ 3727719 w 5487507"/>
              <a:gd name="connsiteY1" fmla="*/ 362310 h 2108761"/>
              <a:gd name="connsiteX2" fmla="*/ 70119 w 5487507"/>
              <a:gd name="connsiteY2" fmla="*/ 741871 h 2108761"/>
              <a:gd name="connsiteX3" fmla="*/ 1122541 w 5487507"/>
              <a:gd name="connsiteY3" fmla="*/ 2104845 h 2108761"/>
              <a:gd name="connsiteX0" fmla="*/ 6048224 w 6048224"/>
              <a:gd name="connsiteY0" fmla="*/ 0 h 2195025"/>
              <a:gd name="connsiteX1" fmla="*/ 3727719 w 6048224"/>
              <a:gd name="connsiteY1" fmla="*/ 448574 h 2195025"/>
              <a:gd name="connsiteX2" fmla="*/ 70119 w 6048224"/>
              <a:gd name="connsiteY2" fmla="*/ 828135 h 2195025"/>
              <a:gd name="connsiteX3" fmla="*/ 1122541 w 6048224"/>
              <a:gd name="connsiteY3" fmla="*/ 2191109 h 2195025"/>
              <a:gd name="connsiteX0" fmla="*/ 6048224 w 6048224"/>
              <a:gd name="connsiteY0" fmla="*/ 0 h 2195025"/>
              <a:gd name="connsiteX1" fmla="*/ 3727719 w 6048224"/>
              <a:gd name="connsiteY1" fmla="*/ 448574 h 2195025"/>
              <a:gd name="connsiteX2" fmla="*/ 70119 w 6048224"/>
              <a:gd name="connsiteY2" fmla="*/ 828135 h 2195025"/>
              <a:gd name="connsiteX3" fmla="*/ 1122541 w 6048224"/>
              <a:gd name="connsiteY3" fmla="*/ 2191109 h 2195025"/>
              <a:gd name="connsiteX0" fmla="*/ 6053714 w 6053714"/>
              <a:gd name="connsiteY0" fmla="*/ 0 h 2193991"/>
              <a:gd name="connsiteX1" fmla="*/ 3267382 w 6053714"/>
              <a:gd name="connsiteY1" fmla="*/ 448574 h 2193991"/>
              <a:gd name="connsiteX2" fmla="*/ 75609 w 6053714"/>
              <a:gd name="connsiteY2" fmla="*/ 828135 h 2193991"/>
              <a:gd name="connsiteX3" fmla="*/ 1128031 w 6053714"/>
              <a:gd name="connsiteY3" fmla="*/ 2191109 h 2193991"/>
              <a:gd name="connsiteX0" fmla="*/ 6053714 w 6053714"/>
              <a:gd name="connsiteY0" fmla="*/ 0 h 2193991"/>
              <a:gd name="connsiteX1" fmla="*/ 3267382 w 6053714"/>
              <a:gd name="connsiteY1" fmla="*/ 448574 h 2193991"/>
              <a:gd name="connsiteX2" fmla="*/ 75609 w 6053714"/>
              <a:gd name="connsiteY2" fmla="*/ 828135 h 2193991"/>
              <a:gd name="connsiteX3" fmla="*/ 1128031 w 6053714"/>
              <a:gd name="connsiteY3" fmla="*/ 2191109 h 2193991"/>
              <a:gd name="connsiteX0" fmla="*/ 6055803 w 6055803"/>
              <a:gd name="connsiteY0" fmla="*/ 0 h 2297931"/>
              <a:gd name="connsiteX1" fmla="*/ 3269471 w 6055803"/>
              <a:gd name="connsiteY1" fmla="*/ 448574 h 2297931"/>
              <a:gd name="connsiteX2" fmla="*/ 77698 w 6055803"/>
              <a:gd name="connsiteY2" fmla="*/ 828135 h 2297931"/>
              <a:gd name="connsiteX3" fmla="*/ 1095396 w 6055803"/>
              <a:gd name="connsiteY3" fmla="*/ 2295281 h 2297931"/>
              <a:gd name="connsiteX0" fmla="*/ 6059433 w 6059433"/>
              <a:gd name="connsiteY0" fmla="*/ 0 h 2327851"/>
              <a:gd name="connsiteX1" fmla="*/ 3273101 w 6059433"/>
              <a:gd name="connsiteY1" fmla="*/ 448574 h 2327851"/>
              <a:gd name="connsiteX2" fmla="*/ 81328 w 6059433"/>
              <a:gd name="connsiteY2" fmla="*/ 828135 h 2327851"/>
              <a:gd name="connsiteX3" fmla="*/ 1042813 w 6059433"/>
              <a:gd name="connsiteY3" fmla="*/ 2325261 h 2327851"/>
              <a:gd name="connsiteX0" fmla="*/ 6058961 w 6058961"/>
              <a:gd name="connsiteY0" fmla="*/ 0 h 2325261"/>
              <a:gd name="connsiteX1" fmla="*/ 3272629 w 6058961"/>
              <a:gd name="connsiteY1" fmla="*/ 448574 h 2325261"/>
              <a:gd name="connsiteX2" fmla="*/ 80856 w 6058961"/>
              <a:gd name="connsiteY2" fmla="*/ 828135 h 2325261"/>
              <a:gd name="connsiteX3" fmla="*/ 1042341 w 6058961"/>
              <a:gd name="connsiteY3" fmla="*/ 2325261 h 2325261"/>
              <a:gd name="connsiteX0" fmla="*/ 6059912 w 6059912"/>
              <a:gd name="connsiteY0" fmla="*/ 0 h 2325261"/>
              <a:gd name="connsiteX1" fmla="*/ 3273580 w 6059912"/>
              <a:gd name="connsiteY1" fmla="*/ 448574 h 2325261"/>
              <a:gd name="connsiteX2" fmla="*/ 81807 w 6059912"/>
              <a:gd name="connsiteY2" fmla="*/ 828135 h 2325261"/>
              <a:gd name="connsiteX3" fmla="*/ 1043292 w 6059912"/>
              <a:gd name="connsiteY3" fmla="*/ 2325261 h 232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9912" h="2325261">
                <a:moveTo>
                  <a:pt x="6059912" y="0"/>
                </a:moveTo>
                <a:cubicBezTo>
                  <a:pt x="5922608" y="405442"/>
                  <a:pt x="4364821" y="396816"/>
                  <a:pt x="3273580" y="448574"/>
                </a:cubicBezTo>
                <a:cubicBezTo>
                  <a:pt x="2182339" y="500332"/>
                  <a:pt x="438365" y="537713"/>
                  <a:pt x="81807" y="828135"/>
                </a:cubicBezTo>
                <a:cubicBezTo>
                  <a:pt x="-274751" y="1118557"/>
                  <a:pt x="624606" y="2299146"/>
                  <a:pt x="1043292" y="2325261"/>
                </a:cubicBezTo>
              </a:path>
            </a:pathLst>
          </a:cu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6F6670-D4BC-C6A6-FB12-2D5ACE27E7AC}"/>
              </a:ext>
            </a:extLst>
          </p:cNvPr>
          <p:cNvSpPr txBox="1"/>
          <p:nvPr/>
        </p:nvSpPr>
        <p:spPr>
          <a:xfrm>
            <a:off x="10109486" y="195231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 fontScale="25000" lnSpcReduction="20000"/>
          </a:bodyPr>
          <a:lstStyle/>
          <a:p>
            <a:pPr algn="l"/>
            <a:endParaRPr lang="da-DK" sz="20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958F02-CB3B-C20C-7413-6432A59E9738}"/>
              </a:ext>
            </a:extLst>
          </p:cNvPr>
          <p:cNvSpPr/>
          <p:nvPr/>
        </p:nvSpPr>
        <p:spPr>
          <a:xfrm rot="21338549">
            <a:off x="6135115" y="2249302"/>
            <a:ext cx="1366903" cy="875450"/>
          </a:xfrm>
          <a:prstGeom prst="rect">
            <a:avLst/>
          </a:prstGeom>
          <a:solidFill>
            <a:srgbClr val="F7974F"/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BA1F749-DF1E-CA60-0877-7E66FAF9392A}"/>
              </a:ext>
            </a:extLst>
          </p:cNvPr>
          <p:cNvSpPr/>
          <p:nvPr/>
        </p:nvSpPr>
        <p:spPr>
          <a:xfrm rot="20965940">
            <a:off x="10528515" y="2322873"/>
            <a:ext cx="1366903" cy="8754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0" name="Platshållare för innehåll 5">
            <a:extLst>
              <a:ext uri="{FF2B5EF4-FFF2-40B4-BE49-F238E27FC236}">
                <a16:creationId xmlns:a16="http://schemas.microsoft.com/office/drawing/2014/main" id="{7C73C299-C8D0-A86A-AB07-CEB1EF426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5082666" cy="4768062"/>
          </a:xfrm>
        </p:spPr>
        <p:txBody>
          <a:bodyPr/>
          <a:lstStyle/>
          <a:p>
            <a:pPr lvl="1"/>
            <a:r>
              <a:rPr lang="en-US" dirty="0"/>
              <a:t>Assemble from component library</a:t>
            </a:r>
          </a:p>
          <a:p>
            <a:pPr lvl="1"/>
            <a:r>
              <a:rPr lang="en-US" dirty="0"/>
              <a:t>Place components in a sequence</a:t>
            </a:r>
          </a:p>
          <a:p>
            <a:pPr lvl="1"/>
            <a:r>
              <a:rPr lang="en-US" dirty="0"/>
              <a:t>Place them in simulated space</a:t>
            </a:r>
          </a:p>
          <a:p>
            <a:pPr lvl="1"/>
            <a:r>
              <a:rPr lang="en-US" dirty="0"/>
              <a:t>Execute through terminal or </a:t>
            </a:r>
            <a:r>
              <a:rPr lang="en-US" dirty="0" err="1"/>
              <a:t>mcgui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FF73A1C-06E1-0DB6-6D63-18C2208E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59063B8-9F0F-3496-D659-E70635F7C911}"/>
              </a:ext>
            </a:extLst>
          </p:cNvPr>
          <p:cNvSpPr/>
          <p:nvPr/>
        </p:nvSpPr>
        <p:spPr>
          <a:xfrm>
            <a:off x="6407823" y="4352121"/>
            <a:ext cx="887626" cy="472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E54941E-9225-839B-52BA-EA3089A0A4CE}"/>
              </a:ext>
            </a:extLst>
          </p:cNvPr>
          <p:cNvSpPr/>
          <p:nvPr/>
        </p:nvSpPr>
        <p:spPr>
          <a:xfrm>
            <a:off x="6407823" y="4428809"/>
            <a:ext cx="723398" cy="472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07B3CF4-0F8A-EDA3-7820-31883A9BB694}"/>
              </a:ext>
            </a:extLst>
          </p:cNvPr>
          <p:cNvSpPr/>
          <p:nvPr/>
        </p:nvSpPr>
        <p:spPr>
          <a:xfrm>
            <a:off x="6399866" y="4641759"/>
            <a:ext cx="834566" cy="45719"/>
          </a:xfrm>
          <a:prstGeom prst="rect">
            <a:avLst/>
          </a:prstGeom>
          <a:solidFill>
            <a:srgbClr val="F89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0F5692F-6D0A-74FF-2445-F6779AB42E81}"/>
              </a:ext>
            </a:extLst>
          </p:cNvPr>
          <p:cNvSpPr/>
          <p:nvPr/>
        </p:nvSpPr>
        <p:spPr>
          <a:xfrm>
            <a:off x="6407823" y="5534876"/>
            <a:ext cx="723398" cy="45719"/>
          </a:xfrm>
          <a:prstGeom prst="rect">
            <a:avLst/>
          </a:prstGeom>
          <a:solidFill>
            <a:srgbClr val="9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C70250-DA69-5C74-0250-242881A2242A}"/>
              </a:ext>
            </a:extLst>
          </p:cNvPr>
          <p:cNvSpPr/>
          <p:nvPr/>
        </p:nvSpPr>
        <p:spPr>
          <a:xfrm>
            <a:off x="6407642" y="4722999"/>
            <a:ext cx="594629" cy="45719"/>
          </a:xfrm>
          <a:prstGeom prst="rect">
            <a:avLst/>
          </a:prstGeom>
          <a:solidFill>
            <a:srgbClr val="F89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BD9A628-333E-DCB8-DD2D-B79440F1BD24}"/>
              </a:ext>
            </a:extLst>
          </p:cNvPr>
          <p:cNvSpPr/>
          <p:nvPr/>
        </p:nvSpPr>
        <p:spPr>
          <a:xfrm>
            <a:off x="6407642" y="4799374"/>
            <a:ext cx="672436" cy="45719"/>
          </a:xfrm>
          <a:prstGeom prst="rect">
            <a:avLst/>
          </a:prstGeom>
          <a:solidFill>
            <a:srgbClr val="F89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1F9F27C-DF9A-5180-B3F5-B4F608B826C1}"/>
              </a:ext>
            </a:extLst>
          </p:cNvPr>
          <p:cNvSpPr/>
          <p:nvPr/>
        </p:nvSpPr>
        <p:spPr>
          <a:xfrm>
            <a:off x="6397487" y="5066046"/>
            <a:ext cx="469486" cy="45719"/>
          </a:xfrm>
          <a:prstGeom prst="rect">
            <a:avLst/>
          </a:prstGeom>
          <a:solidFill>
            <a:srgbClr val="0099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D1776C-EA1E-CA87-33B0-FDDCA71DB106}"/>
              </a:ext>
            </a:extLst>
          </p:cNvPr>
          <p:cNvSpPr/>
          <p:nvPr/>
        </p:nvSpPr>
        <p:spPr>
          <a:xfrm>
            <a:off x="6400884" y="5151452"/>
            <a:ext cx="532067" cy="45719"/>
          </a:xfrm>
          <a:prstGeom prst="rect">
            <a:avLst/>
          </a:prstGeom>
          <a:solidFill>
            <a:srgbClr val="0099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60A17C5-CB93-CD13-F9B4-5067759DA922}"/>
              </a:ext>
            </a:extLst>
          </p:cNvPr>
          <p:cNvSpPr/>
          <p:nvPr/>
        </p:nvSpPr>
        <p:spPr>
          <a:xfrm>
            <a:off x="6407642" y="5447392"/>
            <a:ext cx="459330" cy="45719"/>
          </a:xfrm>
          <a:prstGeom prst="rect">
            <a:avLst/>
          </a:prstGeom>
          <a:solidFill>
            <a:srgbClr val="9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56B9DAD-3071-8850-5A0C-C2528910AB34}"/>
              </a:ext>
            </a:extLst>
          </p:cNvPr>
          <p:cNvSpPr/>
          <p:nvPr/>
        </p:nvSpPr>
        <p:spPr>
          <a:xfrm>
            <a:off x="6407642" y="5356177"/>
            <a:ext cx="824410" cy="45719"/>
          </a:xfrm>
          <a:prstGeom prst="rect">
            <a:avLst/>
          </a:prstGeom>
          <a:solidFill>
            <a:srgbClr val="9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C53557-C05C-4136-2102-0953AFCB7A26}"/>
              </a:ext>
            </a:extLst>
          </p:cNvPr>
          <p:cNvSpPr/>
          <p:nvPr/>
        </p:nvSpPr>
        <p:spPr>
          <a:xfrm>
            <a:off x="6397486" y="4989827"/>
            <a:ext cx="834566" cy="45719"/>
          </a:xfrm>
          <a:prstGeom prst="rect">
            <a:avLst/>
          </a:prstGeom>
          <a:solidFill>
            <a:srgbClr val="0099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F3266-E985-8042-0A13-338A5038C240}"/>
              </a:ext>
            </a:extLst>
          </p:cNvPr>
          <p:cNvSpPr txBox="1"/>
          <p:nvPr/>
        </p:nvSpPr>
        <p:spPr>
          <a:xfrm>
            <a:off x="6986115" y="1373934"/>
            <a:ext cx="3880847" cy="11439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da-DK" sz="2400" dirty="0" err="1"/>
              <a:t>Simulated</a:t>
            </a:r>
            <a:r>
              <a:rPr lang="da-DK" sz="2400" dirty="0"/>
              <a:t> instrument</a:t>
            </a:r>
          </a:p>
        </p:txBody>
      </p:sp>
    </p:spTree>
    <p:extLst>
      <p:ext uri="{BB962C8B-B14F-4D97-AF65-F5344CB8AC3E}">
        <p14:creationId xmlns:p14="http://schemas.microsoft.com/office/powerpoint/2010/main" val="3530478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  <p:bldP spid="13" grpId="0"/>
      <p:bldP spid="14" grpId="0"/>
      <p:bldP spid="15" grpId="0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 err="1"/>
              <a:t>McStasScript</a:t>
            </a:r>
            <a:r>
              <a:rPr lang="en-GB" dirty="0"/>
              <a:t> overview</a:t>
            </a:r>
          </a:p>
        </p:txBody>
      </p:sp>
      <p:sp>
        <p:nvSpPr>
          <p:cNvPr id="12" name="Platshållare för innehåll 5">
            <a:extLst>
              <a:ext uri="{FF2B5EF4-FFF2-40B4-BE49-F238E27FC236}">
                <a16:creationId xmlns:a16="http://schemas.microsoft.com/office/drawing/2014/main" id="{29B867FF-67F5-20CE-F31A-EE1C39854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6049931" cy="4768062"/>
          </a:xfrm>
        </p:spPr>
        <p:txBody>
          <a:bodyPr/>
          <a:lstStyle/>
          <a:p>
            <a:pPr lvl="1"/>
            <a:r>
              <a:rPr lang="en-US" dirty="0"/>
              <a:t>Python </a:t>
            </a:r>
            <a:r>
              <a:rPr lang="en-US" dirty="0" err="1"/>
              <a:t>McStas</a:t>
            </a:r>
            <a:r>
              <a:rPr lang="en-US" dirty="0"/>
              <a:t> API</a:t>
            </a:r>
          </a:p>
          <a:p>
            <a:pPr lvl="2"/>
            <a:r>
              <a:rPr lang="en-US" dirty="0"/>
              <a:t>Build instrument object</a:t>
            </a:r>
          </a:p>
          <a:p>
            <a:pPr lvl="2"/>
            <a:r>
              <a:rPr lang="en-US" dirty="0"/>
              <a:t>Execute simulation</a:t>
            </a:r>
          </a:p>
          <a:p>
            <a:pPr lvl="2"/>
            <a:r>
              <a:rPr lang="en-US" dirty="0"/>
              <a:t>Receive data as Python objects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252413" lvl="2" indent="0">
              <a:buNone/>
            </a:pPr>
            <a:endParaRPr lang="en-US" dirty="0"/>
          </a:p>
          <a:p>
            <a:pPr marL="252413" lvl="2" indent="0">
              <a:buNone/>
            </a:pPr>
            <a:endParaRPr lang="en-US" dirty="0"/>
          </a:p>
          <a:p>
            <a:pPr lvl="1"/>
            <a:r>
              <a:rPr lang="en-US" dirty="0"/>
              <a:t>Open source</a:t>
            </a:r>
          </a:p>
          <a:p>
            <a:pPr lvl="1"/>
            <a:r>
              <a:rPr lang="en-US" sz="1600" dirty="0">
                <a:hlinkClick r:id="rId2"/>
              </a:rPr>
              <a:t>https://github.com/PaNOSC-ViNYL/McStasScript</a:t>
            </a:r>
            <a:endParaRPr lang="en-US" sz="1600" dirty="0"/>
          </a:p>
          <a:p>
            <a:pPr lvl="1"/>
            <a:r>
              <a:rPr lang="en-US" dirty="0"/>
              <a:t>Comprehensive test suite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B43CE-9CBB-D1C9-F8BB-C0F324356867}"/>
              </a:ext>
            </a:extLst>
          </p:cNvPr>
          <p:cNvSpPr txBox="1"/>
          <p:nvPr/>
        </p:nvSpPr>
        <p:spPr>
          <a:xfrm>
            <a:off x="10146771" y="1769472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 fontScale="25000" lnSpcReduction="20000"/>
          </a:bodyPr>
          <a:lstStyle/>
          <a:p>
            <a:pPr algn="l"/>
            <a:endParaRPr lang="da-DK" sz="200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83CC977-8BB4-2604-F149-E8D381ACB3C4}"/>
              </a:ext>
            </a:extLst>
          </p:cNvPr>
          <p:cNvSpPr/>
          <p:nvPr/>
        </p:nvSpPr>
        <p:spPr>
          <a:xfrm rot="5099891">
            <a:off x="5414033" y="3351874"/>
            <a:ext cx="1368779" cy="365875"/>
          </a:xfrm>
          <a:custGeom>
            <a:avLst/>
            <a:gdLst>
              <a:gd name="connsiteX0" fmla="*/ 0 w 905070"/>
              <a:gd name="connsiteY0" fmla="*/ 0 h 242610"/>
              <a:gd name="connsiteX1" fmla="*/ 438539 w 905070"/>
              <a:gd name="connsiteY1" fmla="*/ 242595 h 242610"/>
              <a:gd name="connsiteX2" fmla="*/ 905070 w 905070"/>
              <a:gd name="connsiteY2" fmla="*/ 9330 h 242610"/>
              <a:gd name="connsiteX0" fmla="*/ 0 w 1229338"/>
              <a:gd name="connsiteY0" fmla="*/ 99134 h 233280"/>
              <a:gd name="connsiteX1" fmla="*/ 762807 w 1229338"/>
              <a:gd name="connsiteY1" fmla="*/ 233265 h 233280"/>
              <a:gd name="connsiteX2" fmla="*/ 1229338 w 1229338"/>
              <a:gd name="connsiteY2" fmla="*/ 0 h 233280"/>
              <a:gd name="connsiteX0" fmla="*/ 0 w 1229338"/>
              <a:gd name="connsiteY0" fmla="*/ 99134 h 272718"/>
              <a:gd name="connsiteX1" fmla="*/ 555276 w 1229338"/>
              <a:gd name="connsiteY1" fmla="*/ 272707 h 272718"/>
              <a:gd name="connsiteX2" fmla="*/ 1229338 w 1229338"/>
              <a:gd name="connsiteY2" fmla="*/ 0 h 272718"/>
              <a:gd name="connsiteX0" fmla="*/ 0 w 1229338"/>
              <a:gd name="connsiteY0" fmla="*/ 99134 h 282577"/>
              <a:gd name="connsiteX1" fmla="*/ 646071 w 1229338"/>
              <a:gd name="connsiteY1" fmla="*/ 282567 h 282577"/>
              <a:gd name="connsiteX2" fmla="*/ 1229338 w 1229338"/>
              <a:gd name="connsiteY2" fmla="*/ 0 h 282577"/>
              <a:gd name="connsiteX0" fmla="*/ 0 w 1229338"/>
              <a:gd name="connsiteY0" fmla="*/ 99134 h 243139"/>
              <a:gd name="connsiteX1" fmla="*/ 581217 w 1229338"/>
              <a:gd name="connsiteY1" fmla="*/ 243125 h 243139"/>
              <a:gd name="connsiteX2" fmla="*/ 1229338 w 1229338"/>
              <a:gd name="connsiteY2" fmla="*/ 0 h 243139"/>
              <a:gd name="connsiteX0" fmla="*/ 0 w 1229338"/>
              <a:gd name="connsiteY0" fmla="*/ 99134 h 292437"/>
              <a:gd name="connsiteX1" fmla="*/ 555276 w 1229338"/>
              <a:gd name="connsiteY1" fmla="*/ 292427 h 292437"/>
              <a:gd name="connsiteX2" fmla="*/ 1229338 w 1229338"/>
              <a:gd name="connsiteY2" fmla="*/ 0 h 292437"/>
              <a:gd name="connsiteX0" fmla="*/ 0 w 1229338"/>
              <a:gd name="connsiteY0" fmla="*/ 99134 h 297150"/>
              <a:gd name="connsiteX1" fmla="*/ 555276 w 1229338"/>
              <a:gd name="connsiteY1" fmla="*/ 292427 h 297150"/>
              <a:gd name="connsiteX2" fmla="*/ 1229338 w 1229338"/>
              <a:gd name="connsiteY2" fmla="*/ 0 h 297150"/>
              <a:gd name="connsiteX0" fmla="*/ 0 w 1229338"/>
              <a:gd name="connsiteY0" fmla="*/ 99134 h 297150"/>
              <a:gd name="connsiteX1" fmla="*/ 555276 w 1229338"/>
              <a:gd name="connsiteY1" fmla="*/ 292427 h 297150"/>
              <a:gd name="connsiteX2" fmla="*/ 1229338 w 1229338"/>
              <a:gd name="connsiteY2" fmla="*/ 0 h 297150"/>
              <a:gd name="connsiteX0" fmla="*/ 0 w 1229338"/>
              <a:gd name="connsiteY0" fmla="*/ 99134 h 432738"/>
              <a:gd name="connsiteX1" fmla="*/ 646071 w 1229338"/>
              <a:gd name="connsiteY1" fmla="*/ 430472 h 432738"/>
              <a:gd name="connsiteX2" fmla="*/ 1229338 w 1229338"/>
              <a:gd name="connsiteY2" fmla="*/ 0 h 432738"/>
              <a:gd name="connsiteX0" fmla="*/ 0 w 1229338"/>
              <a:gd name="connsiteY0" fmla="*/ 99134 h 430472"/>
              <a:gd name="connsiteX1" fmla="*/ 646071 w 1229338"/>
              <a:gd name="connsiteY1" fmla="*/ 430472 h 430472"/>
              <a:gd name="connsiteX2" fmla="*/ 1229338 w 1229338"/>
              <a:gd name="connsiteY2" fmla="*/ 0 h 430472"/>
              <a:gd name="connsiteX0" fmla="*/ 0 w 1229338"/>
              <a:gd name="connsiteY0" fmla="*/ 99134 h 430472"/>
              <a:gd name="connsiteX1" fmla="*/ 646071 w 1229338"/>
              <a:gd name="connsiteY1" fmla="*/ 430472 h 430472"/>
              <a:gd name="connsiteX2" fmla="*/ 1229338 w 1229338"/>
              <a:gd name="connsiteY2" fmla="*/ 0 h 430472"/>
              <a:gd name="connsiteX0" fmla="*/ 0 w 1229338"/>
              <a:gd name="connsiteY0" fmla="*/ 99134 h 431491"/>
              <a:gd name="connsiteX1" fmla="*/ 646071 w 1229338"/>
              <a:gd name="connsiteY1" fmla="*/ 430472 h 431491"/>
              <a:gd name="connsiteX2" fmla="*/ 1229338 w 1229338"/>
              <a:gd name="connsiteY2" fmla="*/ 0 h 431491"/>
              <a:gd name="connsiteX0" fmla="*/ 0 w 1229338"/>
              <a:gd name="connsiteY0" fmla="*/ 99134 h 323833"/>
              <a:gd name="connsiteX1" fmla="*/ 646071 w 1229338"/>
              <a:gd name="connsiteY1" fmla="*/ 322008 h 323833"/>
              <a:gd name="connsiteX2" fmla="*/ 1229338 w 1229338"/>
              <a:gd name="connsiteY2" fmla="*/ 0 h 323833"/>
              <a:gd name="connsiteX0" fmla="*/ 0 w 1384987"/>
              <a:gd name="connsiteY0" fmla="*/ 99134 h 323833"/>
              <a:gd name="connsiteX1" fmla="*/ 801720 w 1384987"/>
              <a:gd name="connsiteY1" fmla="*/ 322008 h 323833"/>
              <a:gd name="connsiteX2" fmla="*/ 1384987 w 1384987"/>
              <a:gd name="connsiteY2" fmla="*/ 0 h 323833"/>
              <a:gd name="connsiteX0" fmla="*/ 0 w 1514694"/>
              <a:gd name="connsiteY0" fmla="*/ 59692 h 284391"/>
              <a:gd name="connsiteX1" fmla="*/ 801720 w 1514694"/>
              <a:gd name="connsiteY1" fmla="*/ 282566 h 284391"/>
              <a:gd name="connsiteX2" fmla="*/ 1514694 w 1514694"/>
              <a:gd name="connsiteY2" fmla="*/ 0 h 284391"/>
              <a:gd name="connsiteX0" fmla="*/ 0 w 1397957"/>
              <a:gd name="connsiteY0" fmla="*/ 30111 h 284069"/>
              <a:gd name="connsiteX1" fmla="*/ 684983 w 1397957"/>
              <a:gd name="connsiteY1" fmla="*/ 282566 h 284069"/>
              <a:gd name="connsiteX2" fmla="*/ 1397957 w 1397957"/>
              <a:gd name="connsiteY2" fmla="*/ 0 h 28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957" h="284069">
                <a:moveTo>
                  <a:pt x="0" y="30111"/>
                </a:moveTo>
                <a:cubicBezTo>
                  <a:pt x="143847" y="150631"/>
                  <a:pt x="417402" y="300732"/>
                  <a:pt x="684983" y="282566"/>
                </a:cubicBezTo>
                <a:cubicBezTo>
                  <a:pt x="1017419" y="274261"/>
                  <a:pt x="1240114" y="117410"/>
                  <a:pt x="1397957" y="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4FB81E-AC01-A15E-24D4-BFDDFB383E03}"/>
              </a:ext>
            </a:extLst>
          </p:cNvPr>
          <p:cNvGrpSpPr/>
          <p:nvPr/>
        </p:nvGrpSpPr>
        <p:grpSpPr>
          <a:xfrm>
            <a:off x="8390066" y="1468943"/>
            <a:ext cx="3534730" cy="891193"/>
            <a:chOff x="7915025" y="527964"/>
            <a:chExt cx="3534730" cy="891193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8DE6C0F-D9CD-5A40-C742-4764CF9E4358}"/>
                </a:ext>
              </a:extLst>
            </p:cNvPr>
            <p:cNvSpPr/>
            <p:nvPr/>
          </p:nvSpPr>
          <p:spPr>
            <a:xfrm>
              <a:off x="8458200" y="527964"/>
              <a:ext cx="2438400" cy="2340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F4BA2F6-8082-5270-A723-CFE1B95143EC}"/>
                </a:ext>
              </a:extLst>
            </p:cNvPr>
            <p:cNvSpPr/>
            <p:nvPr/>
          </p:nvSpPr>
          <p:spPr>
            <a:xfrm>
              <a:off x="8458200" y="1185121"/>
              <a:ext cx="2438400" cy="2340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F7BC4B0-649B-2E8D-0F2F-61A697F87E99}"/>
                </a:ext>
              </a:extLst>
            </p:cNvPr>
            <p:cNvSpPr/>
            <p:nvPr/>
          </p:nvSpPr>
          <p:spPr>
            <a:xfrm>
              <a:off x="7915025" y="1013178"/>
              <a:ext cx="3534730" cy="339261"/>
            </a:xfrm>
            <a:prstGeom prst="ellipse">
              <a:avLst/>
            </a:prstGeom>
            <a:solidFill>
              <a:schemeClr val="bg1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0E86458-A4BC-4CD5-8A7C-2DF2AA7B438D}"/>
                </a:ext>
              </a:extLst>
            </p:cNvPr>
            <p:cNvCxnSpPr>
              <a:stCxn id="33" idx="2"/>
              <a:endCxn id="34" idx="2"/>
            </p:cNvCxnSpPr>
            <p:nvPr/>
          </p:nvCxnSpPr>
          <p:spPr>
            <a:xfrm>
              <a:off x="8458200" y="644982"/>
              <a:ext cx="0" cy="6571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207AA1-D2D7-6D93-AA52-74CB208D0711}"/>
                </a:ext>
              </a:extLst>
            </p:cNvPr>
            <p:cNvCxnSpPr/>
            <p:nvPr/>
          </p:nvCxnSpPr>
          <p:spPr>
            <a:xfrm>
              <a:off x="10890956" y="639337"/>
              <a:ext cx="0" cy="6571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EF4043A-0C0A-1411-E77A-837640F203A3}"/>
              </a:ext>
            </a:extLst>
          </p:cNvPr>
          <p:cNvSpPr txBox="1"/>
          <p:nvPr/>
        </p:nvSpPr>
        <p:spPr>
          <a:xfrm>
            <a:off x="9085640" y="1802765"/>
            <a:ext cx="213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/>
              <a:t>Local components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5541737-DFE4-8CC8-4366-BFD7C7B8C263}"/>
              </a:ext>
            </a:extLst>
          </p:cNvPr>
          <p:cNvGrpSpPr/>
          <p:nvPr/>
        </p:nvGrpSpPr>
        <p:grpSpPr>
          <a:xfrm>
            <a:off x="8379302" y="2410397"/>
            <a:ext cx="3534730" cy="891193"/>
            <a:chOff x="7915025" y="527964"/>
            <a:chExt cx="3534730" cy="89119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B49F67D-2014-5802-91DB-4F85351A3F59}"/>
                </a:ext>
              </a:extLst>
            </p:cNvPr>
            <p:cNvSpPr/>
            <p:nvPr/>
          </p:nvSpPr>
          <p:spPr>
            <a:xfrm>
              <a:off x="8458200" y="527964"/>
              <a:ext cx="2438400" cy="2340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A82BDC9-FC99-BF70-466B-68121BEEBB87}"/>
                </a:ext>
              </a:extLst>
            </p:cNvPr>
            <p:cNvSpPr/>
            <p:nvPr/>
          </p:nvSpPr>
          <p:spPr>
            <a:xfrm>
              <a:off x="8458200" y="1185121"/>
              <a:ext cx="2438400" cy="2340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016E53A-70F7-4BF8-D78A-5EC5BD22BAC0}"/>
                </a:ext>
              </a:extLst>
            </p:cNvPr>
            <p:cNvSpPr/>
            <p:nvPr/>
          </p:nvSpPr>
          <p:spPr>
            <a:xfrm>
              <a:off x="7915025" y="1013178"/>
              <a:ext cx="3534730" cy="339261"/>
            </a:xfrm>
            <a:prstGeom prst="ellipse">
              <a:avLst/>
            </a:prstGeom>
            <a:solidFill>
              <a:schemeClr val="bg1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4AEDC7-02B1-6196-4F16-1AC825697BBE}"/>
                </a:ext>
              </a:extLst>
            </p:cNvPr>
            <p:cNvCxnSpPr>
              <a:stCxn id="40" idx="2"/>
              <a:endCxn id="41" idx="2"/>
            </p:cNvCxnSpPr>
            <p:nvPr/>
          </p:nvCxnSpPr>
          <p:spPr>
            <a:xfrm>
              <a:off x="8458200" y="644982"/>
              <a:ext cx="0" cy="6571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1F53F5F-1B05-2044-DBD9-C11DD3435EE8}"/>
                </a:ext>
              </a:extLst>
            </p:cNvPr>
            <p:cNvCxnSpPr/>
            <p:nvPr/>
          </p:nvCxnSpPr>
          <p:spPr>
            <a:xfrm>
              <a:off x="10890956" y="639337"/>
              <a:ext cx="0" cy="6571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844C484-4285-8CB6-FE9F-182B9B086496}"/>
              </a:ext>
            </a:extLst>
          </p:cNvPr>
          <p:cNvSpPr txBox="1"/>
          <p:nvPr/>
        </p:nvSpPr>
        <p:spPr>
          <a:xfrm>
            <a:off x="9075240" y="2739843"/>
            <a:ext cx="213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err="1"/>
              <a:t>Produced</a:t>
            </a:r>
            <a:r>
              <a:rPr lang="da-DK"/>
              <a:t> data</a:t>
            </a: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B3BC99BD-59F8-C64E-CEFE-B5E5C0F0F105}"/>
              </a:ext>
            </a:extLst>
          </p:cNvPr>
          <p:cNvSpPr/>
          <p:nvPr/>
        </p:nvSpPr>
        <p:spPr>
          <a:xfrm rot="4341924" flipH="1" flipV="1">
            <a:off x="11175638" y="3381850"/>
            <a:ext cx="1255479" cy="500554"/>
          </a:xfrm>
          <a:custGeom>
            <a:avLst/>
            <a:gdLst>
              <a:gd name="connsiteX0" fmla="*/ 0 w 905070"/>
              <a:gd name="connsiteY0" fmla="*/ 0 h 242610"/>
              <a:gd name="connsiteX1" fmla="*/ 438539 w 905070"/>
              <a:gd name="connsiteY1" fmla="*/ 242595 h 242610"/>
              <a:gd name="connsiteX2" fmla="*/ 905070 w 905070"/>
              <a:gd name="connsiteY2" fmla="*/ 9330 h 242610"/>
              <a:gd name="connsiteX0" fmla="*/ 0 w 1229338"/>
              <a:gd name="connsiteY0" fmla="*/ 99134 h 233280"/>
              <a:gd name="connsiteX1" fmla="*/ 762807 w 1229338"/>
              <a:gd name="connsiteY1" fmla="*/ 233265 h 233280"/>
              <a:gd name="connsiteX2" fmla="*/ 1229338 w 1229338"/>
              <a:gd name="connsiteY2" fmla="*/ 0 h 233280"/>
              <a:gd name="connsiteX0" fmla="*/ 0 w 1229338"/>
              <a:gd name="connsiteY0" fmla="*/ 99134 h 272718"/>
              <a:gd name="connsiteX1" fmla="*/ 555276 w 1229338"/>
              <a:gd name="connsiteY1" fmla="*/ 272707 h 272718"/>
              <a:gd name="connsiteX2" fmla="*/ 1229338 w 1229338"/>
              <a:gd name="connsiteY2" fmla="*/ 0 h 272718"/>
              <a:gd name="connsiteX0" fmla="*/ 0 w 1229338"/>
              <a:gd name="connsiteY0" fmla="*/ 99134 h 282577"/>
              <a:gd name="connsiteX1" fmla="*/ 646071 w 1229338"/>
              <a:gd name="connsiteY1" fmla="*/ 282567 h 282577"/>
              <a:gd name="connsiteX2" fmla="*/ 1229338 w 1229338"/>
              <a:gd name="connsiteY2" fmla="*/ 0 h 282577"/>
              <a:gd name="connsiteX0" fmla="*/ 0 w 1229338"/>
              <a:gd name="connsiteY0" fmla="*/ 99134 h 243139"/>
              <a:gd name="connsiteX1" fmla="*/ 581217 w 1229338"/>
              <a:gd name="connsiteY1" fmla="*/ 243125 h 243139"/>
              <a:gd name="connsiteX2" fmla="*/ 1229338 w 1229338"/>
              <a:gd name="connsiteY2" fmla="*/ 0 h 243139"/>
              <a:gd name="connsiteX0" fmla="*/ 0 w 1229338"/>
              <a:gd name="connsiteY0" fmla="*/ 99134 h 292437"/>
              <a:gd name="connsiteX1" fmla="*/ 555276 w 1229338"/>
              <a:gd name="connsiteY1" fmla="*/ 292427 h 292437"/>
              <a:gd name="connsiteX2" fmla="*/ 1229338 w 1229338"/>
              <a:gd name="connsiteY2" fmla="*/ 0 h 292437"/>
              <a:gd name="connsiteX0" fmla="*/ 0 w 1229338"/>
              <a:gd name="connsiteY0" fmla="*/ 99134 h 297150"/>
              <a:gd name="connsiteX1" fmla="*/ 555276 w 1229338"/>
              <a:gd name="connsiteY1" fmla="*/ 292427 h 297150"/>
              <a:gd name="connsiteX2" fmla="*/ 1229338 w 1229338"/>
              <a:gd name="connsiteY2" fmla="*/ 0 h 297150"/>
              <a:gd name="connsiteX0" fmla="*/ 0 w 1229338"/>
              <a:gd name="connsiteY0" fmla="*/ 99134 h 297150"/>
              <a:gd name="connsiteX1" fmla="*/ 555276 w 1229338"/>
              <a:gd name="connsiteY1" fmla="*/ 292427 h 297150"/>
              <a:gd name="connsiteX2" fmla="*/ 1229338 w 1229338"/>
              <a:gd name="connsiteY2" fmla="*/ 0 h 297150"/>
              <a:gd name="connsiteX0" fmla="*/ 0 w 1229338"/>
              <a:gd name="connsiteY0" fmla="*/ 99134 h 432738"/>
              <a:gd name="connsiteX1" fmla="*/ 646071 w 1229338"/>
              <a:gd name="connsiteY1" fmla="*/ 430472 h 432738"/>
              <a:gd name="connsiteX2" fmla="*/ 1229338 w 1229338"/>
              <a:gd name="connsiteY2" fmla="*/ 0 h 432738"/>
              <a:gd name="connsiteX0" fmla="*/ 0 w 1229338"/>
              <a:gd name="connsiteY0" fmla="*/ 99134 h 430472"/>
              <a:gd name="connsiteX1" fmla="*/ 646071 w 1229338"/>
              <a:gd name="connsiteY1" fmla="*/ 430472 h 430472"/>
              <a:gd name="connsiteX2" fmla="*/ 1229338 w 1229338"/>
              <a:gd name="connsiteY2" fmla="*/ 0 h 430472"/>
              <a:gd name="connsiteX0" fmla="*/ 0 w 1229338"/>
              <a:gd name="connsiteY0" fmla="*/ 99134 h 430472"/>
              <a:gd name="connsiteX1" fmla="*/ 646071 w 1229338"/>
              <a:gd name="connsiteY1" fmla="*/ 430472 h 430472"/>
              <a:gd name="connsiteX2" fmla="*/ 1229338 w 1229338"/>
              <a:gd name="connsiteY2" fmla="*/ 0 h 430472"/>
              <a:gd name="connsiteX0" fmla="*/ 0 w 1229338"/>
              <a:gd name="connsiteY0" fmla="*/ 99134 h 431491"/>
              <a:gd name="connsiteX1" fmla="*/ 646071 w 1229338"/>
              <a:gd name="connsiteY1" fmla="*/ 430472 h 431491"/>
              <a:gd name="connsiteX2" fmla="*/ 1229338 w 1229338"/>
              <a:gd name="connsiteY2" fmla="*/ 0 h 431491"/>
              <a:gd name="connsiteX0" fmla="*/ 0 w 1229338"/>
              <a:gd name="connsiteY0" fmla="*/ 99134 h 323833"/>
              <a:gd name="connsiteX1" fmla="*/ 646071 w 1229338"/>
              <a:gd name="connsiteY1" fmla="*/ 322008 h 323833"/>
              <a:gd name="connsiteX2" fmla="*/ 1229338 w 1229338"/>
              <a:gd name="connsiteY2" fmla="*/ 0 h 323833"/>
              <a:gd name="connsiteX0" fmla="*/ 0 w 1384987"/>
              <a:gd name="connsiteY0" fmla="*/ 99134 h 323833"/>
              <a:gd name="connsiteX1" fmla="*/ 801720 w 1384987"/>
              <a:gd name="connsiteY1" fmla="*/ 322008 h 323833"/>
              <a:gd name="connsiteX2" fmla="*/ 1384987 w 1384987"/>
              <a:gd name="connsiteY2" fmla="*/ 0 h 323833"/>
              <a:gd name="connsiteX0" fmla="*/ 0 w 1514694"/>
              <a:gd name="connsiteY0" fmla="*/ 59692 h 284391"/>
              <a:gd name="connsiteX1" fmla="*/ 801720 w 1514694"/>
              <a:gd name="connsiteY1" fmla="*/ 282566 h 284391"/>
              <a:gd name="connsiteX2" fmla="*/ 1514694 w 1514694"/>
              <a:gd name="connsiteY2" fmla="*/ 0 h 284391"/>
              <a:gd name="connsiteX0" fmla="*/ 0 w 1397957"/>
              <a:gd name="connsiteY0" fmla="*/ 30111 h 284069"/>
              <a:gd name="connsiteX1" fmla="*/ 684983 w 1397957"/>
              <a:gd name="connsiteY1" fmla="*/ 282566 h 284069"/>
              <a:gd name="connsiteX2" fmla="*/ 1397957 w 1397957"/>
              <a:gd name="connsiteY2" fmla="*/ 0 h 284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957" h="284069">
                <a:moveTo>
                  <a:pt x="0" y="30111"/>
                </a:moveTo>
                <a:cubicBezTo>
                  <a:pt x="143847" y="150631"/>
                  <a:pt x="417402" y="300732"/>
                  <a:pt x="684983" y="282566"/>
                </a:cubicBezTo>
                <a:cubicBezTo>
                  <a:pt x="1017419" y="274261"/>
                  <a:pt x="1240114" y="117410"/>
                  <a:pt x="1397957" y="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A86BF77-8154-3F91-70E3-92D89FB7442B}"/>
              </a:ext>
            </a:extLst>
          </p:cNvPr>
          <p:cNvCxnSpPr>
            <a:cxnSpLocks/>
          </p:cNvCxnSpPr>
          <p:nvPr/>
        </p:nvCxnSpPr>
        <p:spPr>
          <a:xfrm>
            <a:off x="7986269" y="2655474"/>
            <a:ext cx="880533" cy="180622"/>
          </a:xfrm>
          <a:prstGeom prst="line">
            <a:avLst/>
          </a:prstGeom>
          <a:ln w="50800">
            <a:solidFill>
              <a:srgbClr val="3E5D85"/>
            </a:solidFill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8019667-52B1-82A9-0A83-8BF488DD4158}"/>
              </a:ext>
            </a:extLst>
          </p:cNvPr>
          <p:cNvSpPr txBox="1"/>
          <p:nvPr/>
        </p:nvSpPr>
        <p:spPr>
          <a:xfrm>
            <a:off x="4090037" y="3680917"/>
            <a:ext cx="2129892" cy="7200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da-DK" sz="2000" dirty="0"/>
              <a:t>Generate instrument file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E238C8D-D388-FF68-5BD2-2CE9F12FB664}"/>
              </a:ext>
            </a:extLst>
          </p:cNvPr>
          <p:cNvCxnSpPr>
            <a:cxnSpLocks/>
          </p:cNvCxnSpPr>
          <p:nvPr/>
        </p:nvCxnSpPr>
        <p:spPr>
          <a:xfrm flipV="1">
            <a:off x="7940651" y="1973888"/>
            <a:ext cx="1008844" cy="177332"/>
          </a:xfrm>
          <a:prstGeom prst="line">
            <a:avLst/>
          </a:prstGeom>
          <a:ln w="44450">
            <a:solidFill>
              <a:srgbClr val="3E5D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BD1EC9F7-7D6E-027C-3A50-06908EC58C89}"/>
              </a:ext>
            </a:extLst>
          </p:cNvPr>
          <p:cNvSpPr/>
          <p:nvPr/>
        </p:nvSpPr>
        <p:spPr>
          <a:xfrm>
            <a:off x="6023992" y="1329059"/>
            <a:ext cx="1972531" cy="1972531"/>
          </a:xfrm>
          <a:prstGeom prst="ellipse">
            <a:avLst/>
          </a:prstGeom>
          <a:solidFill>
            <a:srgbClr val="5371DC"/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 dirty="0"/>
          </a:p>
        </p:txBody>
      </p:sp>
      <p:pic>
        <p:nvPicPr>
          <p:cNvPr id="51" name="Google Shape;124;p19">
            <a:extLst>
              <a:ext uri="{FF2B5EF4-FFF2-40B4-BE49-F238E27FC236}">
                <a16:creationId xmlns:a16="http://schemas.microsoft.com/office/drawing/2014/main" id="{7744147C-329A-BB01-AABB-BBEAD985D5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349" y="588207"/>
            <a:ext cx="1932701" cy="625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352A724-B93A-3156-3849-C9BE7967F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492" y="454230"/>
            <a:ext cx="1491703" cy="774945"/>
          </a:xfrm>
          <a:prstGeom prst="rect">
            <a:avLst/>
          </a:prstGeom>
        </p:spPr>
      </p:pic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3DB3322-9861-70C7-7DB2-2AE27B8C58D3}"/>
              </a:ext>
            </a:extLst>
          </p:cNvPr>
          <p:cNvSpPr/>
          <p:nvPr/>
        </p:nvSpPr>
        <p:spPr>
          <a:xfrm>
            <a:off x="8378547" y="4214905"/>
            <a:ext cx="1381944" cy="14776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BC8808-D1D8-EA67-6203-828E7FB8D384}"/>
              </a:ext>
            </a:extLst>
          </p:cNvPr>
          <p:cNvSpPr txBox="1"/>
          <p:nvPr/>
        </p:nvSpPr>
        <p:spPr>
          <a:xfrm>
            <a:off x="8275174" y="3854865"/>
            <a:ext cx="1649960" cy="3600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da-DK" sz="2000" i="1"/>
              <a:t>c file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32165F66-89EB-CB00-77C3-A6ED82DC15A8}"/>
              </a:ext>
            </a:extLst>
          </p:cNvPr>
          <p:cNvSpPr/>
          <p:nvPr/>
        </p:nvSpPr>
        <p:spPr>
          <a:xfrm>
            <a:off x="10398555" y="4214905"/>
            <a:ext cx="1381944" cy="14776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8B54D6-A31A-BCA1-B1EC-B2E3FBAC5C1D}"/>
              </a:ext>
            </a:extLst>
          </p:cNvPr>
          <p:cNvSpPr txBox="1"/>
          <p:nvPr/>
        </p:nvSpPr>
        <p:spPr>
          <a:xfrm>
            <a:off x="10256298" y="3854865"/>
            <a:ext cx="1649960" cy="3600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da-DK" sz="2000" i="1" err="1"/>
              <a:t>Executable</a:t>
            </a:r>
            <a:endParaRPr lang="da-DK" sz="2000" i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E6537A-8A62-39C6-3646-1D0CAE43A426}"/>
              </a:ext>
            </a:extLst>
          </p:cNvPr>
          <p:cNvSpPr txBox="1"/>
          <p:nvPr/>
        </p:nvSpPr>
        <p:spPr>
          <a:xfrm>
            <a:off x="7462363" y="6004984"/>
            <a:ext cx="1224136" cy="7200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da-DK" sz="2000" err="1"/>
              <a:t>McStas</a:t>
            </a:r>
            <a:endParaRPr lang="da-DK" sz="2000"/>
          </a:p>
          <a:p>
            <a:pPr algn="ctr"/>
            <a:r>
              <a:rPr lang="da-DK" sz="2000"/>
              <a:t>compiler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EC3A69-A7EA-7D30-7720-178CD9DBAFDC}"/>
              </a:ext>
            </a:extLst>
          </p:cNvPr>
          <p:cNvSpPr txBox="1"/>
          <p:nvPr/>
        </p:nvSpPr>
        <p:spPr>
          <a:xfrm>
            <a:off x="9342222" y="6004984"/>
            <a:ext cx="1599706" cy="7200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da-DK" sz="2000"/>
              <a:t>Users</a:t>
            </a:r>
          </a:p>
          <a:p>
            <a:pPr algn="ctr"/>
            <a:r>
              <a:rPr lang="da-DK" sz="2000"/>
              <a:t>c - compiler</a:t>
            </a: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DE57C85A-80A4-53D9-E799-E9B9E65596B4}"/>
              </a:ext>
            </a:extLst>
          </p:cNvPr>
          <p:cNvSpPr/>
          <p:nvPr/>
        </p:nvSpPr>
        <p:spPr>
          <a:xfrm>
            <a:off x="7640168" y="5692506"/>
            <a:ext cx="886179" cy="312478"/>
          </a:xfrm>
          <a:custGeom>
            <a:avLst/>
            <a:gdLst>
              <a:gd name="connsiteX0" fmla="*/ 0 w 905070"/>
              <a:gd name="connsiteY0" fmla="*/ 0 h 242610"/>
              <a:gd name="connsiteX1" fmla="*/ 438539 w 905070"/>
              <a:gd name="connsiteY1" fmla="*/ 242595 h 242610"/>
              <a:gd name="connsiteX2" fmla="*/ 905070 w 905070"/>
              <a:gd name="connsiteY2" fmla="*/ 9330 h 24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070" h="242610">
                <a:moveTo>
                  <a:pt x="0" y="0"/>
                </a:moveTo>
                <a:cubicBezTo>
                  <a:pt x="143847" y="120520"/>
                  <a:pt x="287694" y="241040"/>
                  <a:pt x="438539" y="242595"/>
                </a:cubicBezTo>
                <a:cubicBezTo>
                  <a:pt x="589384" y="244150"/>
                  <a:pt x="747227" y="126740"/>
                  <a:pt x="905070" y="933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32C475E3-C066-9392-06F3-A4599285FFA6}"/>
              </a:ext>
            </a:extLst>
          </p:cNvPr>
          <p:cNvSpPr/>
          <p:nvPr/>
        </p:nvSpPr>
        <p:spPr>
          <a:xfrm>
            <a:off x="9681753" y="5689631"/>
            <a:ext cx="886179" cy="312478"/>
          </a:xfrm>
          <a:custGeom>
            <a:avLst/>
            <a:gdLst>
              <a:gd name="connsiteX0" fmla="*/ 0 w 905070"/>
              <a:gd name="connsiteY0" fmla="*/ 0 h 242610"/>
              <a:gd name="connsiteX1" fmla="*/ 438539 w 905070"/>
              <a:gd name="connsiteY1" fmla="*/ 242595 h 242610"/>
              <a:gd name="connsiteX2" fmla="*/ 905070 w 905070"/>
              <a:gd name="connsiteY2" fmla="*/ 9330 h 24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070" h="242610">
                <a:moveTo>
                  <a:pt x="0" y="0"/>
                </a:moveTo>
                <a:cubicBezTo>
                  <a:pt x="143847" y="120520"/>
                  <a:pt x="287694" y="241040"/>
                  <a:pt x="438539" y="242595"/>
                </a:cubicBezTo>
                <a:cubicBezTo>
                  <a:pt x="589384" y="244150"/>
                  <a:pt x="747227" y="126740"/>
                  <a:pt x="905070" y="9330"/>
                </a:cubicBezTo>
              </a:path>
            </a:pathLst>
          </a:custGeom>
          <a:noFill/>
          <a:ln w="635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C83860-033A-FB2C-CF40-CC3C7B928E9D}"/>
              </a:ext>
            </a:extLst>
          </p:cNvPr>
          <p:cNvSpPr txBox="1"/>
          <p:nvPr/>
        </p:nvSpPr>
        <p:spPr>
          <a:xfrm>
            <a:off x="6032118" y="2103650"/>
            <a:ext cx="1972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000" dirty="0">
                <a:solidFill>
                  <a:schemeClr val="bg1"/>
                </a:solidFill>
              </a:rPr>
              <a:t>McStasScript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BFA17B1-8C39-5098-0D3F-C5C7A86D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DD530C-C56F-466A-DEA5-3C8FEB9B73AE}"/>
              </a:ext>
            </a:extLst>
          </p:cNvPr>
          <p:cNvSpPr/>
          <p:nvPr/>
        </p:nvSpPr>
        <p:spPr>
          <a:xfrm>
            <a:off x="6286902" y="4214905"/>
            <a:ext cx="1401738" cy="15034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32AB7-395C-419C-A587-25494256C1A8}"/>
              </a:ext>
            </a:extLst>
          </p:cNvPr>
          <p:cNvSpPr txBox="1"/>
          <p:nvPr/>
        </p:nvSpPr>
        <p:spPr>
          <a:xfrm>
            <a:off x="6223261" y="3886438"/>
            <a:ext cx="1649960" cy="3600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da-DK" sz="2000" i="1"/>
              <a:t>Instrument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8A5CC-5C4F-3A36-0E53-726974902F97}"/>
              </a:ext>
            </a:extLst>
          </p:cNvPr>
          <p:cNvSpPr/>
          <p:nvPr/>
        </p:nvSpPr>
        <p:spPr>
          <a:xfrm>
            <a:off x="6407823" y="4352121"/>
            <a:ext cx="887626" cy="472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953D48-A0B4-2E18-0B86-6432D5452506}"/>
              </a:ext>
            </a:extLst>
          </p:cNvPr>
          <p:cNvSpPr/>
          <p:nvPr/>
        </p:nvSpPr>
        <p:spPr>
          <a:xfrm>
            <a:off x="6407823" y="4428809"/>
            <a:ext cx="723398" cy="472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A14436-83C2-45EB-B41D-814C67E0C3E4}"/>
              </a:ext>
            </a:extLst>
          </p:cNvPr>
          <p:cNvSpPr/>
          <p:nvPr/>
        </p:nvSpPr>
        <p:spPr>
          <a:xfrm>
            <a:off x="6399866" y="4641759"/>
            <a:ext cx="834566" cy="45719"/>
          </a:xfrm>
          <a:prstGeom prst="rect">
            <a:avLst/>
          </a:prstGeom>
          <a:solidFill>
            <a:srgbClr val="F89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59B1A0-0F6F-95A7-21DC-90CAE866F352}"/>
              </a:ext>
            </a:extLst>
          </p:cNvPr>
          <p:cNvSpPr/>
          <p:nvPr/>
        </p:nvSpPr>
        <p:spPr>
          <a:xfrm>
            <a:off x="6407823" y="5534876"/>
            <a:ext cx="723398" cy="45719"/>
          </a:xfrm>
          <a:prstGeom prst="rect">
            <a:avLst/>
          </a:prstGeom>
          <a:solidFill>
            <a:srgbClr val="9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72AF94-8C3F-B60E-BBFB-26F246176FCA}"/>
              </a:ext>
            </a:extLst>
          </p:cNvPr>
          <p:cNvSpPr/>
          <p:nvPr/>
        </p:nvSpPr>
        <p:spPr>
          <a:xfrm>
            <a:off x="6407642" y="4722999"/>
            <a:ext cx="594629" cy="45719"/>
          </a:xfrm>
          <a:prstGeom prst="rect">
            <a:avLst/>
          </a:prstGeom>
          <a:solidFill>
            <a:srgbClr val="F89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288DC7-7BE4-A444-AC95-A11B53748D7B}"/>
              </a:ext>
            </a:extLst>
          </p:cNvPr>
          <p:cNvSpPr/>
          <p:nvPr/>
        </p:nvSpPr>
        <p:spPr>
          <a:xfrm>
            <a:off x="6407642" y="4799374"/>
            <a:ext cx="672436" cy="45719"/>
          </a:xfrm>
          <a:prstGeom prst="rect">
            <a:avLst/>
          </a:prstGeom>
          <a:solidFill>
            <a:srgbClr val="F898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7A0872-4B94-0586-956A-31A05EB657A5}"/>
              </a:ext>
            </a:extLst>
          </p:cNvPr>
          <p:cNvSpPr/>
          <p:nvPr/>
        </p:nvSpPr>
        <p:spPr>
          <a:xfrm>
            <a:off x="6397487" y="5066046"/>
            <a:ext cx="469486" cy="45719"/>
          </a:xfrm>
          <a:prstGeom prst="rect">
            <a:avLst/>
          </a:prstGeom>
          <a:solidFill>
            <a:srgbClr val="0099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313516-9DC9-0D05-1E13-DB9B33425872}"/>
              </a:ext>
            </a:extLst>
          </p:cNvPr>
          <p:cNvSpPr/>
          <p:nvPr/>
        </p:nvSpPr>
        <p:spPr>
          <a:xfrm>
            <a:off x="6400884" y="5151452"/>
            <a:ext cx="532067" cy="45719"/>
          </a:xfrm>
          <a:prstGeom prst="rect">
            <a:avLst/>
          </a:prstGeom>
          <a:solidFill>
            <a:srgbClr val="0099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9AB278-B449-BB71-406A-213B884692AC}"/>
              </a:ext>
            </a:extLst>
          </p:cNvPr>
          <p:cNvSpPr/>
          <p:nvPr/>
        </p:nvSpPr>
        <p:spPr>
          <a:xfrm>
            <a:off x="6407642" y="5447392"/>
            <a:ext cx="459330" cy="45719"/>
          </a:xfrm>
          <a:prstGeom prst="rect">
            <a:avLst/>
          </a:prstGeom>
          <a:solidFill>
            <a:srgbClr val="9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E7B4AA-94CD-5BE1-55F7-51592F134784}"/>
              </a:ext>
            </a:extLst>
          </p:cNvPr>
          <p:cNvSpPr/>
          <p:nvPr/>
        </p:nvSpPr>
        <p:spPr>
          <a:xfrm>
            <a:off x="6407642" y="5356177"/>
            <a:ext cx="824410" cy="45719"/>
          </a:xfrm>
          <a:prstGeom prst="rect">
            <a:avLst/>
          </a:prstGeom>
          <a:solidFill>
            <a:srgbClr val="99B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47E877-99DE-7D0C-5EDA-63CC3925007E}"/>
              </a:ext>
            </a:extLst>
          </p:cNvPr>
          <p:cNvSpPr/>
          <p:nvPr/>
        </p:nvSpPr>
        <p:spPr>
          <a:xfrm>
            <a:off x="6397486" y="4989827"/>
            <a:ext cx="834566" cy="45719"/>
          </a:xfrm>
          <a:prstGeom prst="rect">
            <a:avLst/>
          </a:prstGeom>
          <a:solidFill>
            <a:srgbClr val="0099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0F659-49C7-4F8C-92EF-37B2E3AA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375" y="433658"/>
            <a:ext cx="670667" cy="777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CC4DB-4576-084B-879F-4FFB4975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514" y="1446416"/>
            <a:ext cx="7772400" cy="755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EFCF0-134C-73BB-6241-A4358D0E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514" y="2210380"/>
            <a:ext cx="7772400" cy="2639868"/>
          </a:xfrm>
          <a:prstGeom prst="rect">
            <a:avLst/>
          </a:prstGeom>
        </p:spPr>
      </p:pic>
      <p:sp>
        <p:nvSpPr>
          <p:cNvPr id="14" name="Platshållare för innehåll 5">
            <a:extLst>
              <a:ext uri="{FF2B5EF4-FFF2-40B4-BE49-F238E27FC236}">
                <a16:creationId xmlns:a16="http://schemas.microsoft.com/office/drawing/2014/main" id="{053378F0-76B0-FB2B-7ADD-D74D08C6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709" y="1776116"/>
            <a:ext cx="2737372" cy="4768062"/>
          </a:xfrm>
        </p:spPr>
        <p:txBody>
          <a:bodyPr/>
          <a:lstStyle/>
          <a:p>
            <a:pPr lvl="1"/>
            <a:r>
              <a:rPr lang="en-US" dirty="0"/>
              <a:t>Instrument object</a:t>
            </a:r>
          </a:p>
          <a:p>
            <a:pPr lvl="1"/>
            <a:r>
              <a:rPr lang="en-US" dirty="0"/>
              <a:t>Knows components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5" name="Google Shape;124;p19">
            <a:extLst>
              <a:ext uri="{FF2B5EF4-FFF2-40B4-BE49-F238E27FC236}">
                <a16:creationId xmlns:a16="http://schemas.microsoft.com/office/drawing/2014/main" id="{EB18057C-6EA1-9268-DBAE-9B6888B16DE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4191" y="509944"/>
            <a:ext cx="1932701" cy="62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21B47C9-D1E2-D95E-605E-C01F49CF7E95}"/>
              </a:ext>
            </a:extLst>
          </p:cNvPr>
          <p:cNvGrpSpPr/>
          <p:nvPr/>
        </p:nvGrpSpPr>
        <p:grpSpPr>
          <a:xfrm>
            <a:off x="7036091" y="337843"/>
            <a:ext cx="1363660" cy="851628"/>
            <a:chOff x="6599184" y="818119"/>
            <a:chExt cx="1877516" cy="1169399"/>
          </a:xfrm>
        </p:grpSpPr>
        <p:pic>
          <p:nvPicPr>
            <p:cNvPr id="17" name="mcstas_logo_371x218.png">
              <a:extLst>
                <a:ext uri="{FF2B5EF4-FFF2-40B4-BE49-F238E27FC236}">
                  <a16:creationId xmlns:a16="http://schemas.microsoft.com/office/drawing/2014/main" id="{D93FFBDF-9F9D-899D-F667-4327D5466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36169"/>
            <a:stretch/>
          </p:blipFill>
          <p:spPr>
            <a:xfrm>
              <a:off x="6642249" y="1299467"/>
              <a:ext cx="1834451" cy="6880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7614A0-3AF6-097D-68A6-854CCD6867BB}"/>
                </a:ext>
              </a:extLst>
            </p:cNvPr>
            <p:cNvSpPr txBox="1"/>
            <p:nvPr/>
          </p:nvSpPr>
          <p:spPr>
            <a:xfrm>
              <a:off x="6599184" y="818119"/>
              <a:ext cx="1834450" cy="549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sz="2000" b="1" i="1" dirty="0">
                  <a:latin typeface="Times" pitchFamily="2" charset="0"/>
                  <a:cs typeface="Arial" panose="020B0604020202020204" pitchFamily="34" charset="0"/>
                </a:rPr>
                <a:t>McStas</a:t>
              </a:r>
            </a:p>
          </p:txBody>
        </p:sp>
      </p:grp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8099267-D640-3C9A-C41B-4080444FB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0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0F659-49C7-4F8C-92EF-37B2E3AA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375" y="433658"/>
            <a:ext cx="670667" cy="777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CC4DB-4576-084B-879F-4FFB4975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514" y="1446416"/>
            <a:ext cx="7772400" cy="755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A35B73-9D6A-429F-C799-10610F354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514" y="1379528"/>
            <a:ext cx="7772400" cy="26889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18867C-A19D-B67C-2509-598639454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514" y="4135352"/>
            <a:ext cx="7772400" cy="2129559"/>
          </a:xfrm>
          <a:prstGeom prst="rect">
            <a:avLst/>
          </a:prstGeom>
        </p:spPr>
      </p:pic>
      <p:sp>
        <p:nvSpPr>
          <p:cNvPr id="13" name="Platshållare för innehåll 5">
            <a:extLst>
              <a:ext uri="{FF2B5EF4-FFF2-40B4-BE49-F238E27FC236}">
                <a16:creationId xmlns:a16="http://schemas.microsoft.com/office/drawing/2014/main" id="{A9003D0D-83F1-16BD-2CA5-F429E037C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466150"/>
            <a:ext cx="2737372" cy="4768062"/>
          </a:xfrm>
        </p:spPr>
        <p:txBody>
          <a:bodyPr/>
          <a:lstStyle/>
          <a:p>
            <a:pPr lvl="1"/>
            <a:r>
              <a:rPr lang="en-US" dirty="0"/>
              <a:t>Component object</a:t>
            </a:r>
          </a:p>
          <a:p>
            <a:pPr marL="142875" lvl="1" indent="0">
              <a:buNone/>
            </a:pPr>
            <a:endParaRPr lang="en-US" dirty="0"/>
          </a:p>
          <a:p>
            <a:pPr lvl="1"/>
            <a:r>
              <a:rPr lang="en-US" dirty="0"/>
              <a:t>Spots errors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142875" lvl="1" indent="0">
              <a:buNone/>
            </a:pPr>
            <a:endParaRPr lang="en-US" dirty="0"/>
          </a:p>
          <a:p>
            <a:pPr lvl="1"/>
            <a:r>
              <a:rPr lang="en-US" dirty="0"/>
              <a:t>Autocompletion</a:t>
            </a:r>
          </a:p>
          <a:p>
            <a:pPr lvl="1"/>
            <a:endParaRPr lang="en-US" dirty="0"/>
          </a:p>
        </p:txBody>
      </p:sp>
      <p:pic>
        <p:nvPicPr>
          <p:cNvPr id="14" name="Google Shape;124;p19">
            <a:extLst>
              <a:ext uri="{FF2B5EF4-FFF2-40B4-BE49-F238E27FC236}">
                <a16:creationId xmlns:a16="http://schemas.microsoft.com/office/drawing/2014/main" id="{516FB759-CAEF-2AD2-4375-4E7C5AEA7BF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4191" y="509944"/>
            <a:ext cx="1932701" cy="62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E621096-ED99-193A-60C0-9F5BE110AEEB}"/>
              </a:ext>
            </a:extLst>
          </p:cNvPr>
          <p:cNvGrpSpPr/>
          <p:nvPr/>
        </p:nvGrpSpPr>
        <p:grpSpPr>
          <a:xfrm>
            <a:off x="7036091" y="337843"/>
            <a:ext cx="1363660" cy="851628"/>
            <a:chOff x="6599184" y="818119"/>
            <a:chExt cx="1877516" cy="1169399"/>
          </a:xfrm>
        </p:grpSpPr>
        <p:pic>
          <p:nvPicPr>
            <p:cNvPr id="16" name="mcstas_logo_371x218.png">
              <a:extLst>
                <a:ext uri="{FF2B5EF4-FFF2-40B4-BE49-F238E27FC236}">
                  <a16:creationId xmlns:a16="http://schemas.microsoft.com/office/drawing/2014/main" id="{1A153B29-2035-54E8-E021-A1908E1059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6169"/>
            <a:stretch/>
          </p:blipFill>
          <p:spPr>
            <a:xfrm>
              <a:off x="6642249" y="1299467"/>
              <a:ext cx="1834451" cy="6880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79AA7A-0FA5-1E73-D57E-283E3D32687C}"/>
                </a:ext>
              </a:extLst>
            </p:cNvPr>
            <p:cNvSpPr txBox="1"/>
            <p:nvPr/>
          </p:nvSpPr>
          <p:spPr>
            <a:xfrm>
              <a:off x="6599184" y="818119"/>
              <a:ext cx="1834450" cy="549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sz="2000" b="1" i="1" dirty="0">
                  <a:latin typeface="Times" pitchFamily="2" charset="0"/>
                  <a:cs typeface="Arial" panose="020B0604020202020204" pitchFamily="34" charset="0"/>
                </a:rPr>
                <a:t>McStas</a:t>
              </a:r>
            </a:p>
          </p:txBody>
        </p:sp>
      </p:grp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D0BC10C-9D70-9DB3-0CC1-22AF0920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755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0F659-49C7-4F8C-92EF-37B2E3AA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375" y="433658"/>
            <a:ext cx="670667" cy="777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CC4DB-4576-084B-879F-4FFB4975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514" y="1446416"/>
            <a:ext cx="7772400" cy="755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954DC4-041F-B6FC-66BF-353F6184D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514" y="1446416"/>
            <a:ext cx="7772400" cy="22963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A6E899-B632-048D-511E-F55B15FF5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514" y="3751120"/>
            <a:ext cx="7772400" cy="637886"/>
          </a:xfrm>
          <a:prstGeom prst="rect">
            <a:avLst/>
          </a:prstGeom>
        </p:spPr>
      </p:pic>
      <p:sp>
        <p:nvSpPr>
          <p:cNvPr id="13" name="Platshållare för innehåll 5">
            <a:extLst>
              <a:ext uri="{FF2B5EF4-FFF2-40B4-BE49-F238E27FC236}">
                <a16:creationId xmlns:a16="http://schemas.microsoft.com/office/drawing/2014/main" id="{40C06FDE-C972-57DB-95F2-828F383CE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2737372" cy="4768062"/>
          </a:xfrm>
        </p:spPr>
        <p:txBody>
          <a:bodyPr/>
          <a:lstStyle/>
          <a:p>
            <a:pPr lvl="1"/>
            <a:r>
              <a:rPr lang="en-US" dirty="0"/>
              <a:t>Parameter objects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Calculations</a:t>
            </a:r>
          </a:p>
          <a:p>
            <a:pPr marL="142875" lvl="1" indent="0">
              <a:buNone/>
            </a:pPr>
            <a:endParaRPr lang="en-US" dirty="0"/>
          </a:p>
          <a:p>
            <a:pPr lvl="1"/>
            <a:r>
              <a:rPr lang="en-US" dirty="0"/>
              <a:t>Parameter overview</a:t>
            </a:r>
          </a:p>
        </p:txBody>
      </p:sp>
      <p:pic>
        <p:nvPicPr>
          <p:cNvPr id="14" name="Google Shape;124;p19">
            <a:extLst>
              <a:ext uri="{FF2B5EF4-FFF2-40B4-BE49-F238E27FC236}">
                <a16:creationId xmlns:a16="http://schemas.microsoft.com/office/drawing/2014/main" id="{14B90C27-D7D5-DBF0-5898-310935F91A0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4191" y="509944"/>
            <a:ext cx="1932701" cy="62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DF88AFE-F937-73D1-8431-0F2FF4DEFC06}"/>
              </a:ext>
            </a:extLst>
          </p:cNvPr>
          <p:cNvGrpSpPr/>
          <p:nvPr/>
        </p:nvGrpSpPr>
        <p:grpSpPr>
          <a:xfrm>
            <a:off x="7036091" y="337843"/>
            <a:ext cx="1363660" cy="851628"/>
            <a:chOff x="6599184" y="818119"/>
            <a:chExt cx="1877516" cy="1169399"/>
          </a:xfrm>
        </p:grpSpPr>
        <p:pic>
          <p:nvPicPr>
            <p:cNvPr id="16" name="mcstas_logo_371x218.png">
              <a:extLst>
                <a:ext uri="{FF2B5EF4-FFF2-40B4-BE49-F238E27FC236}">
                  <a16:creationId xmlns:a16="http://schemas.microsoft.com/office/drawing/2014/main" id="{157EC107-CC9C-94E5-B071-D432FC9A64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6169"/>
            <a:stretch/>
          </p:blipFill>
          <p:spPr>
            <a:xfrm>
              <a:off x="6642249" y="1299467"/>
              <a:ext cx="1834451" cy="6880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B60ADC-863D-5C4B-F498-1CB46CB169EA}"/>
                </a:ext>
              </a:extLst>
            </p:cNvPr>
            <p:cNvSpPr txBox="1"/>
            <p:nvPr/>
          </p:nvSpPr>
          <p:spPr>
            <a:xfrm>
              <a:off x="6599184" y="818119"/>
              <a:ext cx="1834450" cy="549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sz="2000" b="1" i="1" dirty="0">
                  <a:latin typeface="Times" pitchFamily="2" charset="0"/>
                  <a:cs typeface="Arial" panose="020B0604020202020204" pitchFamily="34" charset="0"/>
                </a:rPr>
                <a:t>McStas</a:t>
              </a:r>
            </a:p>
          </p:txBody>
        </p:sp>
      </p:grp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01908D2-36E9-8716-97BF-B7C383D2E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0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0F659-49C7-4F8C-92EF-37B2E3AA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375" y="433658"/>
            <a:ext cx="670667" cy="777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CC4DB-4576-084B-879F-4FFB4975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514" y="1446416"/>
            <a:ext cx="7772400" cy="755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E92C4F-A992-8648-5717-3A6E613E1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514" y="2212742"/>
            <a:ext cx="7772400" cy="1540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2E035C-4CB3-E355-DAD7-CBB429353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514" y="1428116"/>
            <a:ext cx="7772400" cy="7458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D6D108-AE52-2F8F-7BF1-9488BB3FCF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1514" y="3807702"/>
            <a:ext cx="7772400" cy="2443595"/>
          </a:xfrm>
          <a:prstGeom prst="rect">
            <a:avLst/>
          </a:prstGeom>
        </p:spPr>
      </p:pic>
      <p:sp>
        <p:nvSpPr>
          <p:cNvPr id="17" name="Platshållare för innehåll 5">
            <a:extLst>
              <a:ext uri="{FF2B5EF4-FFF2-40B4-BE49-F238E27FC236}">
                <a16:creationId xmlns:a16="http://schemas.microsoft.com/office/drawing/2014/main" id="{22193CD4-4121-21B0-9DB4-893964437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668279"/>
            <a:ext cx="2737372" cy="4768062"/>
          </a:xfrm>
        </p:spPr>
        <p:txBody>
          <a:bodyPr/>
          <a:lstStyle/>
          <a:p>
            <a:pPr lvl="1"/>
            <a:r>
              <a:rPr lang="en-US" dirty="0"/>
              <a:t>Set position</a:t>
            </a:r>
          </a:p>
        </p:txBody>
      </p:sp>
      <p:pic>
        <p:nvPicPr>
          <p:cNvPr id="18" name="Google Shape;124;p19">
            <a:extLst>
              <a:ext uri="{FF2B5EF4-FFF2-40B4-BE49-F238E27FC236}">
                <a16:creationId xmlns:a16="http://schemas.microsoft.com/office/drawing/2014/main" id="{C2AC1CDE-B1D5-3963-97CF-C30E6609521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4191" y="509944"/>
            <a:ext cx="1932701" cy="62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F8388EA-20A3-F72C-E0EF-88341B40E710}"/>
              </a:ext>
            </a:extLst>
          </p:cNvPr>
          <p:cNvGrpSpPr/>
          <p:nvPr/>
        </p:nvGrpSpPr>
        <p:grpSpPr>
          <a:xfrm>
            <a:off x="7036091" y="337843"/>
            <a:ext cx="1363660" cy="851628"/>
            <a:chOff x="6599184" y="818119"/>
            <a:chExt cx="1877516" cy="1169399"/>
          </a:xfrm>
        </p:grpSpPr>
        <p:pic>
          <p:nvPicPr>
            <p:cNvPr id="20" name="mcstas_logo_371x218.png">
              <a:extLst>
                <a:ext uri="{FF2B5EF4-FFF2-40B4-BE49-F238E27FC236}">
                  <a16:creationId xmlns:a16="http://schemas.microsoft.com/office/drawing/2014/main" id="{F84C1395-F990-297A-5564-280BA86EE6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6169"/>
            <a:stretch/>
          </p:blipFill>
          <p:spPr>
            <a:xfrm>
              <a:off x="6642249" y="1299467"/>
              <a:ext cx="1834451" cy="6880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139470B-4E47-8D78-90EA-9094945FCD02}"/>
                </a:ext>
              </a:extLst>
            </p:cNvPr>
            <p:cNvSpPr txBox="1"/>
            <p:nvPr/>
          </p:nvSpPr>
          <p:spPr>
            <a:xfrm>
              <a:off x="6599184" y="818119"/>
              <a:ext cx="1834450" cy="549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sz="2000" b="1" i="1" dirty="0">
                  <a:latin typeface="Times" pitchFamily="2" charset="0"/>
                  <a:cs typeface="Arial" panose="020B0604020202020204" pitchFamily="34" charset="0"/>
                </a:rPr>
                <a:t>McStas</a:t>
              </a:r>
            </a:p>
          </p:txBody>
        </p:sp>
      </p:grp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89DDC46-22CE-CE5F-69E9-94D34D30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  <p:sp>
        <p:nvSpPr>
          <p:cNvPr id="5" name="Platshållare för innehåll 5">
            <a:extLst>
              <a:ext uri="{FF2B5EF4-FFF2-40B4-BE49-F238E27FC236}">
                <a16:creationId xmlns:a16="http://schemas.microsoft.com/office/drawing/2014/main" id="{DAFC54D8-640B-B37B-AB51-ED489CE29BD2}"/>
              </a:ext>
            </a:extLst>
          </p:cNvPr>
          <p:cNvSpPr txBox="1">
            <a:spLocks/>
          </p:cNvSpPr>
          <p:nvPr/>
        </p:nvSpPr>
        <p:spPr>
          <a:xfrm>
            <a:off x="1094399" y="2165573"/>
            <a:ext cx="2737372" cy="4768062"/>
          </a:xfrm>
          <a:prstGeom prst="rect">
            <a:avLst/>
          </a:prstGeom>
        </p:spPr>
        <p:txBody>
          <a:bodyPr vert="horz" lIns="0" tIns="45720" rIns="18000" bIns="45720" rtlCol="0">
            <a:noAutofit/>
          </a:bodyPr>
          <a:lstStyle>
            <a:lvl1pPr marL="101600" indent="-101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Segoe UI" panose="020B0502040204020203" pitchFamily="34" charset="0"/>
              <a:buChar char=" "/>
              <a:defRPr sz="20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358775" indent="-215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"/>
              <a:tabLst/>
              <a:defRPr sz="20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2pPr>
            <a:lvl3pPr marL="449263" indent="-1968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3pPr>
            <a:lvl4pPr marL="541338" indent="-18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6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4pPr>
            <a:lvl5pPr marL="630000" indent="-162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4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For-loop</a:t>
            </a:r>
          </a:p>
          <a:p>
            <a:pPr lvl="1"/>
            <a:endParaRPr lang="en-US" sz="1800" dirty="0"/>
          </a:p>
          <a:p>
            <a:pPr marL="142875" lvl="1" indent="0">
              <a:buFont typeface="Wingdings" panose="05000000000000000000" pitchFamily="2" charset="2"/>
              <a:buNone/>
            </a:pPr>
            <a:endParaRPr lang="en-US" sz="1200" dirty="0"/>
          </a:p>
          <a:p>
            <a:pPr marL="142875" lvl="1" indent="0">
              <a:buFont typeface="Wingdings" panose="05000000000000000000" pitchFamily="2" charset="2"/>
              <a:buNone/>
            </a:pPr>
            <a:endParaRPr lang="en-US" dirty="0"/>
          </a:p>
          <a:p>
            <a:pPr lvl="1"/>
            <a:r>
              <a:rPr lang="en-US" dirty="0"/>
              <a:t>Component list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74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99D5660-9467-4193-D347-03C5A0621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514" y="2304489"/>
            <a:ext cx="7772400" cy="36997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84EF03-9F3F-4C58-5ED9-02E789258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514" y="2304489"/>
            <a:ext cx="7772400" cy="439650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5B25A01-AE9D-38E5-7BEF-3E023F55802A}"/>
              </a:ext>
            </a:extLst>
          </p:cNvPr>
          <p:cNvGrpSpPr/>
          <p:nvPr/>
        </p:nvGrpSpPr>
        <p:grpSpPr>
          <a:xfrm>
            <a:off x="3951514" y="2337060"/>
            <a:ext cx="7772400" cy="4629798"/>
            <a:chOff x="3951514" y="2293516"/>
            <a:chExt cx="7772400" cy="462979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B8333F2-0859-7214-E087-4BBD924B4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1514" y="2293516"/>
              <a:ext cx="7772400" cy="395489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A75084A-4948-332E-F720-93A411A47AE3}"/>
                </a:ext>
              </a:extLst>
            </p:cNvPr>
            <p:cNvSpPr/>
            <p:nvPr/>
          </p:nvSpPr>
          <p:spPr>
            <a:xfrm>
              <a:off x="3951514" y="6237525"/>
              <a:ext cx="4783778" cy="6857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0F659-49C7-4F8C-92EF-37B2E3AAE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8375" y="433658"/>
            <a:ext cx="670667" cy="777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CC4DB-4576-084B-879F-4FFB497579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1514" y="1446416"/>
            <a:ext cx="7772400" cy="755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4047A7-84C4-C08B-9102-74C482332D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1514" y="1416975"/>
            <a:ext cx="7772400" cy="814531"/>
          </a:xfrm>
          <a:prstGeom prst="rect">
            <a:avLst/>
          </a:prstGeom>
        </p:spPr>
      </p:pic>
      <p:sp>
        <p:nvSpPr>
          <p:cNvPr id="19" name="Platshållare för innehåll 5">
            <a:extLst>
              <a:ext uri="{FF2B5EF4-FFF2-40B4-BE49-F238E27FC236}">
                <a16:creationId xmlns:a16="http://schemas.microsoft.com/office/drawing/2014/main" id="{97BDFBF6-16D4-1DE1-A43C-FD23F89E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427650"/>
            <a:ext cx="2737372" cy="4768062"/>
          </a:xfrm>
        </p:spPr>
        <p:txBody>
          <a:bodyPr/>
          <a:lstStyle/>
          <a:p>
            <a:pPr lvl="1"/>
            <a:r>
              <a:rPr lang="en-US" dirty="0"/>
              <a:t>Filename pitfall</a:t>
            </a:r>
          </a:p>
          <a:p>
            <a:pPr lvl="1"/>
            <a:endParaRPr lang="en-US" dirty="0"/>
          </a:p>
        </p:txBody>
      </p:sp>
      <p:pic>
        <p:nvPicPr>
          <p:cNvPr id="20" name="Google Shape;124;p19">
            <a:extLst>
              <a:ext uri="{FF2B5EF4-FFF2-40B4-BE49-F238E27FC236}">
                <a16:creationId xmlns:a16="http://schemas.microsoft.com/office/drawing/2014/main" id="{0146F301-F127-3919-839B-68E40F4F4A2E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74191" y="509944"/>
            <a:ext cx="1932701" cy="62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FACB59B-2828-E288-7A8F-39D6CC234651}"/>
              </a:ext>
            </a:extLst>
          </p:cNvPr>
          <p:cNvGrpSpPr/>
          <p:nvPr/>
        </p:nvGrpSpPr>
        <p:grpSpPr>
          <a:xfrm>
            <a:off x="7036091" y="337843"/>
            <a:ext cx="1363660" cy="851628"/>
            <a:chOff x="6599184" y="818119"/>
            <a:chExt cx="1877516" cy="1169399"/>
          </a:xfrm>
        </p:grpSpPr>
        <p:pic>
          <p:nvPicPr>
            <p:cNvPr id="22" name="mcstas_logo_371x218.png">
              <a:extLst>
                <a:ext uri="{FF2B5EF4-FFF2-40B4-BE49-F238E27FC236}">
                  <a16:creationId xmlns:a16="http://schemas.microsoft.com/office/drawing/2014/main" id="{3BEE7A30-E2B1-C8F9-6418-F87748284C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6169"/>
            <a:stretch/>
          </p:blipFill>
          <p:spPr>
            <a:xfrm>
              <a:off x="6642249" y="1299467"/>
              <a:ext cx="1834451" cy="6880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50A5668-8BA2-497D-1361-56191F523EC2}"/>
                </a:ext>
              </a:extLst>
            </p:cNvPr>
            <p:cNvSpPr txBox="1"/>
            <p:nvPr/>
          </p:nvSpPr>
          <p:spPr>
            <a:xfrm>
              <a:off x="6599184" y="818119"/>
              <a:ext cx="1834450" cy="549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sz="2000" b="1" i="1" dirty="0">
                  <a:latin typeface="Times" pitchFamily="2" charset="0"/>
                  <a:cs typeface="Arial" panose="020B0604020202020204" pitchFamily="34" charset="0"/>
                </a:rPr>
                <a:t>McStas</a:t>
              </a:r>
            </a:p>
          </p:txBody>
        </p:sp>
      </p:grp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08A537D-6DE7-377C-7287-E3FD3092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  <p:sp>
        <p:nvSpPr>
          <p:cNvPr id="5" name="Platshållare för innehåll 5">
            <a:extLst>
              <a:ext uri="{FF2B5EF4-FFF2-40B4-BE49-F238E27FC236}">
                <a16:creationId xmlns:a16="http://schemas.microsoft.com/office/drawing/2014/main" id="{0503BCE3-6600-955D-2F66-45D07EB6981B}"/>
              </a:ext>
            </a:extLst>
          </p:cNvPr>
          <p:cNvSpPr txBox="1">
            <a:spLocks/>
          </p:cNvSpPr>
          <p:nvPr/>
        </p:nvSpPr>
        <p:spPr>
          <a:xfrm>
            <a:off x="1094399" y="2231506"/>
            <a:ext cx="2737372" cy="4768062"/>
          </a:xfrm>
          <a:prstGeom prst="rect">
            <a:avLst/>
          </a:prstGeom>
        </p:spPr>
        <p:txBody>
          <a:bodyPr vert="horz" lIns="0" tIns="45720" rIns="18000" bIns="45720" rtlCol="0">
            <a:noAutofit/>
          </a:bodyPr>
          <a:lstStyle>
            <a:lvl1pPr marL="101600" indent="-101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Segoe UI" panose="020B0502040204020203" pitchFamily="34" charset="0"/>
              <a:buChar char=" "/>
              <a:defRPr sz="20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358775" indent="-215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"/>
              <a:tabLst/>
              <a:defRPr sz="20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2pPr>
            <a:lvl3pPr marL="449263" indent="-1968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3pPr>
            <a:lvl4pPr marL="541338" indent="-18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6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4pPr>
            <a:lvl5pPr marL="630000" indent="-162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4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Diagrams</a:t>
            </a:r>
          </a:p>
        </p:txBody>
      </p:sp>
    </p:spTree>
    <p:extLst>
      <p:ext uri="{BB962C8B-B14F-4D97-AF65-F5344CB8AC3E}">
        <p14:creationId xmlns:p14="http://schemas.microsoft.com/office/powerpoint/2010/main" val="76799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0F659-49C7-4F8C-92EF-37B2E3AA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375" y="433658"/>
            <a:ext cx="670667" cy="777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CC4DB-4576-084B-879F-4FFB4975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514" y="1446416"/>
            <a:ext cx="7772400" cy="755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2BB1EF-E424-748B-CCC5-D344BB09D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514" y="1446416"/>
            <a:ext cx="7772400" cy="4926445"/>
          </a:xfrm>
          <a:prstGeom prst="rect">
            <a:avLst/>
          </a:prstGeom>
        </p:spPr>
      </p:pic>
      <p:sp>
        <p:nvSpPr>
          <p:cNvPr id="13" name="Platshållare för innehåll 5">
            <a:extLst>
              <a:ext uri="{FF2B5EF4-FFF2-40B4-BE49-F238E27FC236}">
                <a16:creationId xmlns:a16="http://schemas.microsoft.com/office/drawing/2014/main" id="{AD179318-A1D1-62AD-90DC-35D39CD02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2737372" cy="4768062"/>
          </a:xfrm>
        </p:spPr>
        <p:txBody>
          <a:bodyPr/>
          <a:lstStyle/>
          <a:p>
            <a:pPr lvl="1"/>
            <a:r>
              <a:rPr lang="en-US" dirty="0"/>
              <a:t>Visualization</a:t>
            </a:r>
          </a:p>
        </p:txBody>
      </p:sp>
      <p:pic>
        <p:nvPicPr>
          <p:cNvPr id="15" name="Google Shape;124;p19">
            <a:extLst>
              <a:ext uri="{FF2B5EF4-FFF2-40B4-BE49-F238E27FC236}">
                <a16:creationId xmlns:a16="http://schemas.microsoft.com/office/drawing/2014/main" id="{F35128C7-96BE-680B-AB54-3847BC0677F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4191" y="509944"/>
            <a:ext cx="1932701" cy="62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3B32C39-979E-78DB-5863-C5FD86632D87}"/>
              </a:ext>
            </a:extLst>
          </p:cNvPr>
          <p:cNvGrpSpPr/>
          <p:nvPr/>
        </p:nvGrpSpPr>
        <p:grpSpPr>
          <a:xfrm>
            <a:off x="7036091" y="337843"/>
            <a:ext cx="1363660" cy="851628"/>
            <a:chOff x="6599184" y="818119"/>
            <a:chExt cx="1877516" cy="1169399"/>
          </a:xfrm>
        </p:grpSpPr>
        <p:pic>
          <p:nvPicPr>
            <p:cNvPr id="20" name="mcstas_logo_371x218.png">
              <a:extLst>
                <a:ext uri="{FF2B5EF4-FFF2-40B4-BE49-F238E27FC236}">
                  <a16:creationId xmlns:a16="http://schemas.microsoft.com/office/drawing/2014/main" id="{6304E7EE-010A-5A05-2CF0-2CF86C3E0E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36169"/>
            <a:stretch/>
          </p:blipFill>
          <p:spPr>
            <a:xfrm>
              <a:off x="6642249" y="1299467"/>
              <a:ext cx="1834451" cy="6880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17EAA4C-4074-218F-644E-659B9D9EDC7C}"/>
                </a:ext>
              </a:extLst>
            </p:cNvPr>
            <p:cNvSpPr txBox="1"/>
            <p:nvPr/>
          </p:nvSpPr>
          <p:spPr>
            <a:xfrm>
              <a:off x="6599184" y="818119"/>
              <a:ext cx="1834450" cy="549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sz="2000" b="1" i="1" dirty="0">
                  <a:latin typeface="Times" pitchFamily="2" charset="0"/>
                  <a:cs typeface="Arial" panose="020B0604020202020204" pitchFamily="34" charset="0"/>
                </a:rPr>
                <a:t>McStas</a:t>
              </a:r>
            </a:p>
          </p:txBody>
        </p:sp>
      </p:grp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59E4352-376F-36E9-8FC4-65BE6B4A0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353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453C31-5CA4-5714-AECB-251B5A461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514" y="2210380"/>
            <a:ext cx="7772400" cy="4573154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0F659-49C7-4F8C-92EF-37B2E3AAE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375" y="433658"/>
            <a:ext cx="670667" cy="777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CC4DB-4576-084B-879F-4FFB49757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514" y="1446416"/>
            <a:ext cx="7772400" cy="755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AF93E8-C615-D6BE-75A3-98C22C92A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514" y="1446416"/>
            <a:ext cx="7772400" cy="775277"/>
          </a:xfrm>
          <a:prstGeom prst="rect">
            <a:avLst/>
          </a:prstGeom>
        </p:spPr>
      </p:pic>
      <p:sp>
        <p:nvSpPr>
          <p:cNvPr id="13" name="Platshållare för innehåll 5">
            <a:extLst>
              <a:ext uri="{FF2B5EF4-FFF2-40B4-BE49-F238E27FC236}">
                <a16:creationId xmlns:a16="http://schemas.microsoft.com/office/drawing/2014/main" id="{020C5AA4-5672-D050-9ADF-1F900841E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2737372" cy="4768062"/>
          </a:xfrm>
        </p:spPr>
        <p:txBody>
          <a:bodyPr/>
          <a:lstStyle/>
          <a:p>
            <a:pPr lvl="1"/>
            <a:r>
              <a:rPr lang="en-US" dirty="0"/>
              <a:t>Settings</a:t>
            </a:r>
          </a:p>
          <a:p>
            <a:pPr lvl="1"/>
            <a:r>
              <a:rPr lang="en-US" dirty="0"/>
              <a:t>Parameters</a:t>
            </a:r>
          </a:p>
          <a:p>
            <a:pPr lvl="1"/>
            <a:r>
              <a:rPr lang="en-US" dirty="0"/>
              <a:t>Run simulation</a:t>
            </a:r>
          </a:p>
          <a:p>
            <a:pPr lvl="1"/>
            <a:endParaRPr lang="en-US" dirty="0"/>
          </a:p>
        </p:txBody>
      </p:sp>
      <p:pic>
        <p:nvPicPr>
          <p:cNvPr id="14" name="Google Shape;124;p19">
            <a:extLst>
              <a:ext uri="{FF2B5EF4-FFF2-40B4-BE49-F238E27FC236}">
                <a16:creationId xmlns:a16="http://schemas.microsoft.com/office/drawing/2014/main" id="{121D78C9-400B-6826-99FE-DD781ADEEA0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4191" y="509944"/>
            <a:ext cx="1932701" cy="62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62038D1-018E-FBEB-7550-F7E9F17FA6E1}"/>
              </a:ext>
            </a:extLst>
          </p:cNvPr>
          <p:cNvGrpSpPr/>
          <p:nvPr/>
        </p:nvGrpSpPr>
        <p:grpSpPr>
          <a:xfrm>
            <a:off x="7036091" y="337843"/>
            <a:ext cx="1363660" cy="851628"/>
            <a:chOff x="6599184" y="818119"/>
            <a:chExt cx="1877516" cy="1169399"/>
          </a:xfrm>
        </p:grpSpPr>
        <p:pic>
          <p:nvPicPr>
            <p:cNvPr id="16" name="mcstas_logo_371x218.png">
              <a:extLst>
                <a:ext uri="{FF2B5EF4-FFF2-40B4-BE49-F238E27FC236}">
                  <a16:creationId xmlns:a16="http://schemas.microsoft.com/office/drawing/2014/main" id="{7A0D09FB-44F4-25F0-57B7-1F87077CC4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6169"/>
            <a:stretch/>
          </p:blipFill>
          <p:spPr>
            <a:xfrm>
              <a:off x="6642249" y="1299467"/>
              <a:ext cx="1834451" cy="6880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0F4E53-5A2C-D872-29D8-DC8508450E11}"/>
                </a:ext>
              </a:extLst>
            </p:cNvPr>
            <p:cNvSpPr txBox="1"/>
            <p:nvPr/>
          </p:nvSpPr>
          <p:spPr>
            <a:xfrm>
              <a:off x="6599184" y="818119"/>
              <a:ext cx="1834450" cy="549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sz="2000" b="1" i="1" dirty="0">
                  <a:latin typeface="Times" pitchFamily="2" charset="0"/>
                  <a:cs typeface="Arial" panose="020B0604020202020204" pitchFamily="34" charset="0"/>
                </a:rPr>
                <a:t>McStas</a:t>
              </a:r>
            </a:p>
          </p:txBody>
        </p:sp>
      </p:grpSp>
      <p:sp>
        <p:nvSpPr>
          <p:cNvPr id="5" name="Platshållare för innehåll 5">
            <a:extLst>
              <a:ext uri="{FF2B5EF4-FFF2-40B4-BE49-F238E27FC236}">
                <a16:creationId xmlns:a16="http://schemas.microsoft.com/office/drawing/2014/main" id="{42D5369B-0FBE-7819-69CE-39CFC413BA8E}"/>
              </a:ext>
            </a:extLst>
          </p:cNvPr>
          <p:cNvSpPr txBox="1">
            <a:spLocks/>
          </p:cNvSpPr>
          <p:nvPr/>
        </p:nvSpPr>
        <p:spPr>
          <a:xfrm>
            <a:off x="1094399" y="2831219"/>
            <a:ext cx="2737372" cy="4768062"/>
          </a:xfrm>
          <a:prstGeom prst="rect">
            <a:avLst/>
          </a:prstGeom>
        </p:spPr>
        <p:txBody>
          <a:bodyPr vert="horz" lIns="0" tIns="45720" rIns="18000" bIns="45720" rtlCol="0">
            <a:noAutofit/>
          </a:bodyPr>
          <a:lstStyle>
            <a:lvl1pPr marL="101600" indent="-101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Segoe UI" panose="020B0502040204020203" pitchFamily="34" charset="0"/>
              <a:buChar char=" "/>
              <a:defRPr sz="20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358775" indent="-215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"/>
              <a:tabLst/>
              <a:defRPr sz="20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2pPr>
            <a:lvl3pPr marL="449263" indent="-1968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3pPr>
            <a:lvl4pPr marL="541338" indent="-18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6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4pPr>
            <a:lvl5pPr marL="630000" indent="-162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4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Plot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0F659-49C7-4F8C-92EF-37B2E3AA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375" y="433658"/>
            <a:ext cx="670667" cy="777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BCC4DB-4576-084B-879F-4FFB4975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514" y="1446416"/>
            <a:ext cx="7772400" cy="755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EE6E5A-F920-02AE-9A53-856245D80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514" y="1438102"/>
            <a:ext cx="7772400" cy="3042227"/>
          </a:xfrm>
          <a:prstGeom prst="rect">
            <a:avLst/>
          </a:prstGeom>
        </p:spPr>
      </p:pic>
      <p:sp>
        <p:nvSpPr>
          <p:cNvPr id="8" name="Platshållare för innehåll 5">
            <a:extLst>
              <a:ext uri="{FF2B5EF4-FFF2-40B4-BE49-F238E27FC236}">
                <a16:creationId xmlns:a16="http://schemas.microsoft.com/office/drawing/2014/main" id="{1054DBED-1CCD-8404-4071-1239B4367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2737372" cy="4768062"/>
          </a:xfrm>
        </p:spPr>
        <p:txBody>
          <a:bodyPr/>
          <a:lstStyle/>
          <a:p>
            <a:pPr lvl="1"/>
            <a:r>
              <a:rPr lang="en-US" dirty="0"/>
              <a:t>Python objects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Metadata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CC545A-B329-CABA-29FE-1439AB52D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514" y="4430744"/>
            <a:ext cx="7772400" cy="1795895"/>
          </a:xfrm>
          <a:prstGeom prst="rect">
            <a:avLst/>
          </a:prstGeom>
        </p:spPr>
      </p:pic>
      <p:pic>
        <p:nvPicPr>
          <p:cNvPr id="16" name="Google Shape;124;p19">
            <a:extLst>
              <a:ext uri="{FF2B5EF4-FFF2-40B4-BE49-F238E27FC236}">
                <a16:creationId xmlns:a16="http://schemas.microsoft.com/office/drawing/2014/main" id="{71EA9C59-AB16-534F-D750-35E983F7B1F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4191" y="509944"/>
            <a:ext cx="1932701" cy="62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1CF5E6A-464B-1076-F1D6-53F3526E6356}"/>
              </a:ext>
            </a:extLst>
          </p:cNvPr>
          <p:cNvGrpSpPr/>
          <p:nvPr/>
        </p:nvGrpSpPr>
        <p:grpSpPr>
          <a:xfrm>
            <a:off x="7036091" y="337843"/>
            <a:ext cx="1363660" cy="851628"/>
            <a:chOff x="6599184" y="818119"/>
            <a:chExt cx="1877516" cy="1169399"/>
          </a:xfrm>
        </p:grpSpPr>
        <p:pic>
          <p:nvPicPr>
            <p:cNvPr id="18" name="mcstas_logo_371x218.png">
              <a:extLst>
                <a:ext uri="{FF2B5EF4-FFF2-40B4-BE49-F238E27FC236}">
                  <a16:creationId xmlns:a16="http://schemas.microsoft.com/office/drawing/2014/main" id="{B4A8CDFC-DDF9-1969-666E-160DD0AB6F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6169"/>
            <a:stretch/>
          </p:blipFill>
          <p:spPr>
            <a:xfrm>
              <a:off x="6642249" y="1299467"/>
              <a:ext cx="1834451" cy="6880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C7CC539-0497-A6EB-7FB0-861C496853DA}"/>
                </a:ext>
              </a:extLst>
            </p:cNvPr>
            <p:cNvSpPr txBox="1"/>
            <p:nvPr/>
          </p:nvSpPr>
          <p:spPr>
            <a:xfrm>
              <a:off x="6599184" y="818119"/>
              <a:ext cx="1834450" cy="549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sz="2000" b="1" i="1" dirty="0">
                  <a:latin typeface="Times" pitchFamily="2" charset="0"/>
                  <a:cs typeface="Arial" panose="020B0604020202020204" pitchFamily="34" charset="0"/>
                </a:rPr>
                <a:t>McStas</a:t>
              </a:r>
            </a:p>
          </p:txBody>
        </p:sp>
      </p:grp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515CC75-DA9A-EDFE-5574-4B9E00E8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  <p:sp>
        <p:nvSpPr>
          <p:cNvPr id="5" name="Platshållare för innehåll 5">
            <a:extLst>
              <a:ext uri="{FF2B5EF4-FFF2-40B4-BE49-F238E27FC236}">
                <a16:creationId xmlns:a16="http://schemas.microsoft.com/office/drawing/2014/main" id="{D22059C3-3A38-9651-38E6-9A4F9AB1E241}"/>
              </a:ext>
            </a:extLst>
          </p:cNvPr>
          <p:cNvSpPr txBox="1">
            <a:spLocks/>
          </p:cNvSpPr>
          <p:nvPr/>
        </p:nvSpPr>
        <p:spPr>
          <a:xfrm>
            <a:off x="1053984" y="4430744"/>
            <a:ext cx="2737372" cy="4768062"/>
          </a:xfrm>
          <a:prstGeom prst="rect">
            <a:avLst/>
          </a:prstGeom>
        </p:spPr>
        <p:txBody>
          <a:bodyPr vert="horz" lIns="0" tIns="45720" rIns="18000" bIns="45720" rtlCol="0">
            <a:noAutofit/>
          </a:bodyPr>
          <a:lstStyle>
            <a:lvl1pPr marL="101600" indent="-101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Segoe UI" panose="020B0502040204020203" pitchFamily="34" charset="0"/>
              <a:buChar char=" "/>
              <a:defRPr sz="20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358775" indent="-215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Wingdings" panose="05000000000000000000" pitchFamily="2" charset="2"/>
              <a:buChar char=""/>
              <a:tabLst/>
              <a:defRPr sz="20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2pPr>
            <a:lvl3pPr marL="449263" indent="-1968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3pPr>
            <a:lvl4pPr marL="541338" indent="-18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6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4pPr>
            <a:lvl5pPr marL="630000" indent="-162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666666"/>
              </a:buClr>
              <a:buFont typeface="Arial" panose="020B0604020202020204" pitchFamily="34" charset="0"/>
              <a:buChar char="−"/>
              <a:tabLst/>
              <a:defRPr sz="14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</p:spTree>
    <p:extLst>
      <p:ext uri="{BB962C8B-B14F-4D97-AF65-F5344CB8AC3E}">
        <p14:creationId xmlns:p14="http://schemas.microsoft.com/office/powerpoint/2010/main" val="95494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Demo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A5F10D-2955-61AF-8C0F-37F220C6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904" y="1175658"/>
            <a:ext cx="7228115" cy="5416970"/>
          </a:xfrm>
          <a:prstGeom prst="rect">
            <a:avLst/>
          </a:prstGeom>
        </p:spPr>
      </p:pic>
      <p:sp>
        <p:nvSpPr>
          <p:cNvPr id="16" name="Platshållare för innehåll 5">
            <a:extLst>
              <a:ext uri="{FF2B5EF4-FFF2-40B4-BE49-F238E27FC236}">
                <a16:creationId xmlns:a16="http://schemas.microsoft.com/office/drawing/2014/main" id="{C092CECE-C028-115E-402D-72BC3ED66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2737372" cy="4768062"/>
          </a:xfrm>
        </p:spPr>
        <p:txBody>
          <a:bodyPr/>
          <a:lstStyle/>
          <a:p>
            <a:pPr lvl="1"/>
            <a:r>
              <a:rPr lang="en-US" dirty="0"/>
              <a:t>Simulation widget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EFE5820-13B1-59C7-C600-53644302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367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Tools</a:t>
            </a:r>
          </a:p>
        </p:txBody>
      </p:sp>
      <p:sp>
        <p:nvSpPr>
          <p:cNvPr id="12" name="Platshållare för innehåll 5">
            <a:extLst>
              <a:ext uri="{FF2B5EF4-FFF2-40B4-BE49-F238E27FC236}">
                <a16:creationId xmlns:a16="http://schemas.microsoft.com/office/drawing/2014/main" id="{29B867FF-67F5-20CE-F31A-EE1C39854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2998630" cy="4768062"/>
          </a:xfrm>
        </p:spPr>
        <p:txBody>
          <a:bodyPr/>
          <a:lstStyle/>
          <a:p>
            <a:pPr lvl="1"/>
            <a:r>
              <a:rPr lang="en-US" dirty="0"/>
              <a:t>Cryostat tool</a:t>
            </a:r>
          </a:p>
          <a:p>
            <a:pPr lvl="1"/>
            <a:r>
              <a:rPr lang="en-US" dirty="0" err="1"/>
              <a:t>NCrystal</a:t>
            </a:r>
            <a:r>
              <a:rPr lang="en-US" dirty="0"/>
              <a:t> tool</a:t>
            </a:r>
          </a:p>
        </p:txBody>
      </p:sp>
      <p:pic>
        <p:nvPicPr>
          <p:cNvPr id="13" name="OC70mmglamourshot-1RTJO1.jpg">
            <a:extLst>
              <a:ext uri="{FF2B5EF4-FFF2-40B4-BE49-F238E27FC236}">
                <a16:creationId xmlns:a16="http://schemas.microsoft.com/office/drawing/2014/main" id="{9C3154F8-2481-FE0A-35AF-A0EB944A4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68" y="2650844"/>
            <a:ext cx="1659239" cy="3339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7101D2-F389-9365-88A5-86ADE34EB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383" y="3470896"/>
            <a:ext cx="1477108" cy="25903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D045D15-A2A2-E2B8-3BAC-A6BB76A43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351" y="1417592"/>
            <a:ext cx="8196287" cy="4732935"/>
          </a:xfrm>
          <a:prstGeom prst="rect">
            <a:avLst/>
          </a:prstGeom>
        </p:spPr>
      </p:pic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B7D2B5A-1F48-9F79-24D1-92115B89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33ED28-7746-573D-90A5-76B3686DDC17}"/>
              </a:ext>
            </a:extLst>
          </p:cNvPr>
          <p:cNvGrpSpPr/>
          <p:nvPr/>
        </p:nvGrpSpPr>
        <p:grpSpPr>
          <a:xfrm>
            <a:off x="3945351" y="3150988"/>
            <a:ext cx="8196287" cy="3344289"/>
            <a:chOff x="3945351" y="3150988"/>
            <a:chExt cx="8196287" cy="3344289"/>
          </a:xfrm>
        </p:grpSpPr>
        <p:pic>
          <p:nvPicPr>
            <p:cNvPr id="6" name="Picture 5" descr="A diagram of a window and a window&#10;&#10;Description automatically generated">
              <a:extLst>
                <a:ext uri="{FF2B5EF4-FFF2-40B4-BE49-F238E27FC236}">
                  <a16:creationId xmlns:a16="http://schemas.microsoft.com/office/drawing/2014/main" id="{983F45A1-7DD9-603D-64E2-08F7F1F2B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770" b="4563"/>
            <a:stretch/>
          </p:blipFill>
          <p:spPr>
            <a:xfrm>
              <a:off x="3945351" y="3151841"/>
              <a:ext cx="6780177" cy="3343436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93C8FE-E7D2-8C07-DB16-D129688E12A9}"/>
                </a:ext>
              </a:extLst>
            </p:cNvPr>
            <p:cNvSpPr/>
            <p:nvPr/>
          </p:nvSpPr>
          <p:spPr>
            <a:xfrm>
              <a:off x="9769330" y="3150988"/>
              <a:ext cx="2372308" cy="3230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125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Documentation</a:t>
            </a:r>
          </a:p>
        </p:txBody>
      </p:sp>
      <p:sp>
        <p:nvSpPr>
          <p:cNvPr id="16" name="Platshållare för innehåll 5">
            <a:extLst>
              <a:ext uri="{FF2B5EF4-FFF2-40B4-BE49-F238E27FC236}">
                <a16:creationId xmlns:a16="http://schemas.microsoft.com/office/drawing/2014/main" id="{C092CECE-C028-115E-402D-72BC3ED66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8" y="1562400"/>
            <a:ext cx="4152516" cy="4768062"/>
          </a:xfrm>
        </p:spPr>
        <p:txBody>
          <a:bodyPr/>
          <a:lstStyle/>
          <a:p>
            <a:pPr lvl="1"/>
            <a:r>
              <a:rPr lang="en-US" dirty="0"/>
              <a:t>Comprehensive documentation</a:t>
            </a:r>
          </a:p>
          <a:p>
            <a:pPr lvl="1"/>
            <a:r>
              <a:rPr lang="en-US" dirty="0"/>
              <a:t>Descriptions of the classes</a:t>
            </a:r>
          </a:p>
          <a:p>
            <a:pPr lvl="1"/>
            <a:r>
              <a:rPr lang="en-US" dirty="0"/>
              <a:t>Tutorials for</a:t>
            </a:r>
          </a:p>
          <a:p>
            <a:pPr lvl="2"/>
            <a:r>
              <a:rPr lang="en-US" dirty="0" err="1"/>
              <a:t>McStasScript</a:t>
            </a:r>
            <a:endParaRPr lang="en-US" dirty="0"/>
          </a:p>
          <a:p>
            <a:pPr lvl="2"/>
            <a:r>
              <a:rPr lang="en-US" dirty="0" err="1"/>
              <a:t>McStas</a:t>
            </a:r>
            <a:r>
              <a:rPr lang="en-US" dirty="0"/>
              <a:t> features</a:t>
            </a:r>
          </a:p>
          <a:p>
            <a:pPr lvl="2"/>
            <a:r>
              <a:rPr lang="en-US" dirty="0" err="1"/>
              <a:t>McStas</a:t>
            </a:r>
            <a:r>
              <a:rPr lang="en-US" dirty="0"/>
              <a:t> Union components</a:t>
            </a:r>
          </a:p>
          <a:p>
            <a:pPr lvl="1"/>
            <a:r>
              <a:rPr lang="en-US" u="sng" dirty="0">
                <a:solidFill>
                  <a:schemeClr val="accent2">
                    <a:lumMod val="60000"/>
                    <a:lumOff val="40000"/>
                  </a:schemeClr>
                </a:solidFill>
                <a:hlinkClick r:id="rId2"/>
              </a:rPr>
              <a:t>https://mads-bertelsen.github.io</a:t>
            </a:r>
            <a:endParaRPr lang="en-US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Should be moved to better place</a:t>
            </a:r>
          </a:p>
          <a:p>
            <a:pPr lvl="2"/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/>
              <a:t>Workshop / School available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84F914-38FB-1958-4AB5-ABA103B69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781" y="70757"/>
            <a:ext cx="7103084" cy="6716486"/>
          </a:xfrm>
          <a:prstGeom prst="rect">
            <a:avLst/>
          </a:prstGeom>
        </p:spPr>
      </p:pic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8E8BAA1-D385-D182-2C3C-358FCFBE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436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Code structure</a:t>
            </a:r>
          </a:p>
        </p:txBody>
      </p:sp>
      <p:sp>
        <p:nvSpPr>
          <p:cNvPr id="12" name="Platshållare för innehåll 5">
            <a:extLst>
              <a:ext uri="{FF2B5EF4-FFF2-40B4-BE49-F238E27FC236}">
                <a16:creationId xmlns:a16="http://schemas.microsoft.com/office/drawing/2014/main" id="{29B867FF-67F5-20CE-F31A-EE1C39854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5082666" cy="4768062"/>
          </a:xfrm>
        </p:spPr>
        <p:txBody>
          <a:bodyPr/>
          <a:lstStyle/>
          <a:p>
            <a:pPr lvl="1"/>
            <a:r>
              <a:rPr lang="en-US" dirty="0"/>
              <a:t>Powerful Python features</a:t>
            </a:r>
          </a:p>
          <a:p>
            <a:pPr lvl="2"/>
            <a:r>
              <a:rPr lang="en-US" dirty="0"/>
              <a:t>for-loops</a:t>
            </a:r>
          </a:p>
          <a:p>
            <a:pPr lvl="2"/>
            <a:r>
              <a:rPr lang="en-US" dirty="0"/>
              <a:t>functions</a:t>
            </a:r>
          </a:p>
          <a:p>
            <a:pPr lvl="2"/>
            <a:r>
              <a:rPr lang="en-US" dirty="0"/>
              <a:t>classes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Chopper example</a:t>
            </a:r>
          </a:p>
          <a:p>
            <a:pPr lvl="2"/>
            <a:r>
              <a:rPr lang="en-US" dirty="0"/>
              <a:t>Parameters for wavelength band</a:t>
            </a:r>
          </a:p>
          <a:p>
            <a:pPr lvl="2"/>
            <a:r>
              <a:rPr lang="en-US" dirty="0"/>
              <a:t>Variables for frequency phase</a:t>
            </a:r>
          </a:p>
          <a:p>
            <a:pPr lvl="2"/>
            <a:r>
              <a:rPr lang="en-US" dirty="0"/>
              <a:t>Calculations</a:t>
            </a:r>
          </a:p>
          <a:p>
            <a:pPr lvl="2"/>
            <a:r>
              <a:rPr lang="en-US" dirty="0"/>
              <a:t>Component</a:t>
            </a: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8258A3D-A149-B139-11E6-CEB529F64D27}"/>
              </a:ext>
            </a:extLst>
          </p:cNvPr>
          <p:cNvGrpSpPr/>
          <p:nvPr/>
        </p:nvGrpSpPr>
        <p:grpSpPr>
          <a:xfrm>
            <a:off x="5241644" y="360992"/>
            <a:ext cx="3493648" cy="6114278"/>
            <a:chOff x="5241644" y="360992"/>
            <a:chExt cx="3493648" cy="611427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CCCC58C-5733-F87F-48F0-AAA13B7FB46D}"/>
                </a:ext>
              </a:extLst>
            </p:cNvPr>
            <p:cNvGrpSpPr/>
            <p:nvPr/>
          </p:nvGrpSpPr>
          <p:grpSpPr>
            <a:xfrm>
              <a:off x="5241644" y="360992"/>
              <a:ext cx="3493648" cy="6114278"/>
              <a:chOff x="6660541" y="216184"/>
              <a:chExt cx="5249918" cy="611427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5934B6-E68D-4BED-ED09-A7C3342C907B}"/>
                  </a:ext>
                </a:extLst>
              </p:cNvPr>
              <p:cNvGrpSpPr/>
              <p:nvPr/>
            </p:nvGrpSpPr>
            <p:grpSpPr>
              <a:xfrm>
                <a:off x="6660541" y="216184"/>
                <a:ext cx="5249918" cy="6114278"/>
                <a:chOff x="3176215" y="1892910"/>
                <a:chExt cx="6557011" cy="4819209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ACE48B9-C4CF-8989-7251-3EDBC435EA68}"/>
                    </a:ext>
                  </a:extLst>
                </p:cNvPr>
                <p:cNvSpPr/>
                <p:nvPr/>
              </p:nvSpPr>
              <p:spPr>
                <a:xfrm>
                  <a:off x="3176215" y="1892910"/>
                  <a:ext cx="6557011" cy="481920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E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FA695A59-FAFC-1AD3-9323-9EB8698B43A3}"/>
                    </a:ext>
                  </a:extLst>
                </p:cNvPr>
                <p:cNvSpPr/>
                <p:nvPr/>
              </p:nvSpPr>
              <p:spPr>
                <a:xfrm>
                  <a:off x="3237176" y="1968893"/>
                  <a:ext cx="6419850" cy="457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a-DK" dirty="0" err="1"/>
                    <a:t>McStas</a:t>
                  </a:r>
                  <a:r>
                    <a:rPr lang="da-DK" dirty="0"/>
                    <a:t> instrument file</a:t>
                  </a:r>
                  <a:endParaRPr lang="en-SE" dirty="0"/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CE5DFF-087B-D82D-168D-A32852F47FEC}"/>
                  </a:ext>
                </a:extLst>
              </p:cNvPr>
              <p:cNvSpPr txBox="1"/>
              <p:nvPr/>
            </p:nvSpPr>
            <p:spPr>
              <a:xfrm>
                <a:off x="6709350" y="903891"/>
                <a:ext cx="5104278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SE" dirty="0">
                    <a:solidFill>
                      <a:srgbClr val="666666"/>
                    </a:solidFill>
                  </a:rPr>
                  <a:t>DEFINE INSTRUMENT example(</a:t>
                </a: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r>
                  <a:rPr lang="en-SE" dirty="0">
                    <a:solidFill>
                      <a:srgbClr val="666666"/>
                    </a:solidFill>
                  </a:rPr>
                  <a:t>)</a:t>
                </a: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r>
                  <a:rPr lang="en-SE" dirty="0">
                    <a:solidFill>
                      <a:srgbClr val="666666"/>
                    </a:solidFill>
                  </a:rPr>
                  <a:t>DECLARE</a:t>
                </a: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r>
                  <a:rPr lang="en-SE" dirty="0">
                    <a:solidFill>
                      <a:srgbClr val="666666"/>
                    </a:solidFill>
                  </a:rPr>
                  <a:t>INITIALIZE</a:t>
                </a: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r>
                  <a:rPr lang="en-SE" dirty="0">
                    <a:solidFill>
                      <a:srgbClr val="666666"/>
                    </a:solidFill>
                  </a:rPr>
                  <a:t>TRACE</a:t>
                </a:r>
              </a:p>
            </p:txBody>
          </p: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A3AC1EC-83F8-877A-352F-F29CE421F3A0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6" y="2531023"/>
              <a:ext cx="95381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961E58-EC59-21BF-1AA7-D66B3C730942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6" y="2614777"/>
              <a:ext cx="141907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97A7B6-B563-8DC3-AF60-49471E59DEE3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6" y="2704858"/>
              <a:ext cx="122741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6B4161C-BF48-A223-0751-B7F18F174226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5" y="2803283"/>
              <a:ext cx="138097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BD35F2-75BB-5578-8405-326C4CD1E0C0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6" y="2899323"/>
              <a:ext cx="122741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319C0FB-7F9C-EF37-4366-D1F975669DA0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6" y="2983077"/>
              <a:ext cx="138097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D580F4-27EB-F5BA-0AC1-EBBFA1265E37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6" y="3073158"/>
              <a:ext cx="106982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F56154-46FE-86C0-9C60-BF4A0E958ACD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5" y="3171583"/>
              <a:ext cx="149776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33A944C-6589-BB51-E29E-5FAA9E54D79C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6" y="1381673"/>
              <a:ext cx="141907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8AAD3F-CFF3-87A5-EAAA-9473E25F41C7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6" y="1465427"/>
              <a:ext cx="167928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F771C51-D57E-3353-B3D0-81B7186A479A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6" y="1555508"/>
              <a:ext cx="138097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4A5F9E-87F9-73F7-0F98-28077D4B7626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5" y="1653933"/>
              <a:ext cx="122741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DE35227-226C-3099-5A13-DC22E5272FA4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5" y="3607348"/>
              <a:ext cx="149776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75A1E1-CD58-7C09-C3A2-750B5C6E8DF8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5" y="3691102"/>
              <a:ext cx="214181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760AAA9-DF7F-6FB2-0A6A-835643F9D83E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5" y="3781183"/>
              <a:ext cx="183966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B7E7D7F-F0E7-87E8-01E7-6E704E9A903F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4" y="3879608"/>
              <a:ext cx="199074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C6F7D2-04F6-1B05-1567-AC8C45D08C29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4" y="3985173"/>
              <a:ext cx="1990742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3F57C6D-B9C7-8013-E16A-A25CDC1456EE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4" y="4068927"/>
              <a:ext cx="214181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48C621A-0EBD-DFB0-F1EB-73E9D9B00539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4" y="4159008"/>
              <a:ext cx="228494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FC3D4A6-37CC-D85A-C2CA-D4197A11A249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3" y="4257433"/>
              <a:ext cx="199074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C1436D4-7CA4-6DE0-422E-9D138D79C0FB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4" y="4718598"/>
              <a:ext cx="89520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E6924F7-27BA-F047-3B0B-2EF705EC876D}"/>
                </a:ext>
              </a:extLst>
            </p:cNvPr>
            <p:cNvCxnSpPr>
              <a:cxnSpLocks/>
            </p:cNvCxnSpPr>
            <p:nvPr/>
          </p:nvCxnSpPr>
          <p:spPr>
            <a:xfrm>
              <a:off x="5492750" y="4802352"/>
              <a:ext cx="13462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1D3E4DE-4BAC-6744-5E16-304960F3EDDD}"/>
                </a:ext>
              </a:extLst>
            </p:cNvPr>
            <p:cNvCxnSpPr>
              <a:cxnSpLocks/>
            </p:cNvCxnSpPr>
            <p:nvPr/>
          </p:nvCxnSpPr>
          <p:spPr>
            <a:xfrm>
              <a:off x="5492750" y="4892433"/>
              <a:ext cx="122555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EE2924-DDE4-C633-5D90-743C9C81D179}"/>
                </a:ext>
              </a:extLst>
            </p:cNvPr>
            <p:cNvCxnSpPr>
              <a:cxnSpLocks/>
            </p:cNvCxnSpPr>
            <p:nvPr/>
          </p:nvCxnSpPr>
          <p:spPr>
            <a:xfrm>
              <a:off x="5492750" y="4990858"/>
              <a:ext cx="13081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E11C267-3BE3-F10A-1A1A-D123B5EBF4E7}"/>
                </a:ext>
              </a:extLst>
            </p:cNvPr>
            <p:cNvCxnSpPr>
              <a:cxnSpLocks/>
            </p:cNvCxnSpPr>
            <p:nvPr/>
          </p:nvCxnSpPr>
          <p:spPr>
            <a:xfrm>
              <a:off x="5419873" y="5070233"/>
              <a:ext cx="99537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EF5A75D-B133-A1A2-B490-A3EEBDEA3322}"/>
                </a:ext>
              </a:extLst>
            </p:cNvPr>
            <p:cNvCxnSpPr>
              <a:cxnSpLocks/>
            </p:cNvCxnSpPr>
            <p:nvPr/>
          </p:nvCxnSpPr>
          <p:spPr>
            <a:xfrm>
              <a:off x="5423463" y="5228807"/>
              <a:ext cx="99537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8EF6AC1-4BB8-390E-B5F9-39792C5DDFC9}"/>
                </a:ext>
              </a:extLst>
            </p:cNvPr>
            <p:cNvCxnSpPr>
              <a:cxnSpLocks/>
            </p:cNvCxnSpPr>
            <p:nvPr/>
          </p:nvCxnSpPr>
          <p:spPr>
            <a:xfrm>
              <a:off x="5496339" y="5312561"/>
              <a:ext cx="122555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6D250C7-D2DB-1792-361E-C5533A28CF37}"/>
                </a:ext>
              </a:extLst>
            </p:cNvPr>
            <p:cNvCxnSpPr>
              <a:cxnSpLocks/>
            </p:cNvCxnSpPr>
            <p:nvPr/>
          </p:nvCxnSpPr>
          <p:spPr>
            <a:xfrm>
              <a:off x="5496339" y="5402642"/>
              <a:ext cx="115454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6AAF97F-7288-8F4A-CBEE-AB965427C471}"/>
                </a:ext>
              </a:extLst>
            </p:cNvPr>
            <p:cNvCxnSpPr>
              <a:cxnSpLocks/>
            </p:cNvCxnSpPr>
            <p:nvPr/>
          </p:nvCxnSpPr>
          <p:spPr>
            <a:xfrm>
              <a:off x="5496339" y="5501067"/>
              <a:ext cx="122555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AADE495-BA09-18C4-38C3-28DC0A9E18D6}"/>
                </a:ext>
              </a:extLst>
            </p:cNvPr>
            <p:cNvCxnSpPr>
              <a:cxnSpLocks/>
            </p:cNvCxnSpPr>
            <p:nvPr/>
          </p:nvCxnSpPr>
          <p:spPr>
            <a:xfrm>
              <a:off x="5423462" y="5580442"/>
              <a:ext cx="106982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582E669-2974-DF88-2436-AC9C639050EF}"/>
                </a:ext>
              </a:extLst>
            </p:cNvPr>
            <p:cNvCxnSpPr>
              <a:cxnSpLocks/>
            </p:cNvCxnSpPr>
            <p:nvPr/>
          </p:nvCxnSpPr>
          <p:spPr>
            <a:xfrm>
              <a:off x="5423462" y="5653467"/>
              <a:ext cx="95381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0EABEE6-6551-79F4-3671-E91CD9EA663B}"/>
                </a:ext>
              </a:extLst>
            </p:cNvPr>
            <p:cNvCxnSpPr>
              <a:cxnSpLocks/>
            </p:cNvCxnSpPr>
            <p:nvPr/>
          </p:nvCxnSpPr>
          <p:spPr>
            <a:xfrm>
              <a:off x="5423463" y="5811801"/>
              <a:ext cx="89520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49CB4C9-EB49-B2CC-4CCB-73501A8C519E}"/>
                </a:ext>
              </a:extLst>
            </p:cNvPr>
            <p:cNvCxnSpPr>
              <a:cxnSpLocks/>
            </p:cNvCxnSpPr>
            <p:nvPr/>
          </p:nvCxnSpPr>
          <p:spPr>
            <a:xfrm>
              <a:off x="5496339" y="5895555"/>
              <a:ext cx="13462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FDDEF6-28B1-52D9-CA02-1ADB13CD2FC6}"/>
                </a:ext>
              </a:extLst>
            </p:cNvPr>
            <p:cNvCxnSpPr>
              <a:cxnSpLocks/>
            </p:cNvCxnSpPr>
            <p:nvPr/>
          </p:nvCxnSpPr>
          <p:spPr>
            <a:xfrm>
              <a:off x="5496339" y="5985636"/>
              <a:ext cx="122555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732CEE9-171C-C761-AD98-A6045D146D2A}"/>
                </a:ext>
              </a:extLst>
            </p:cNvPr>
            <p:cNvCxnSpPr>
              <a:cxnSpLocks/>
            </p:cNvCxnSpPr>
            <p:nvPr/>
          </p:nvCxnSpPr>
          <p:spPr>
            <a:xfrm>
              <a:off x="5496339" y="6084061"/>
              <a:ext cx="13081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9CF95D0-4915-A754-897B-5017014BA62E}"/>
                </a:ext>
              </a:extLst>
            </p:cNvPr>
            <p:cNvCxnSpPr>
              <a:cxnSpLocks/>
            </p:cNvCxnSpPr>
            <p:nvPr/>
          </p:nvCxnSpPr>
          <p:spPr>
            <a:xfrm>
              <a:off x="5423462" y="6163436"/>
              <a:ext cx="10698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A9E2A91-D453-D3EB-A57B-9F5157CA6925}"/>
                </a:ext>
              </a:extLst>
            </p:cNvPr>
            <p:cNvCxnSpPr>
              <a:cxnSpLocks/>
            </p:cNvCxnSpPr>
            <p:nvPr/>
          </p:nvCxnSpPr>
          <p:spPr>
            <a:xfrm>
              <a:off x="5423462" y="6236461"/>
              <a:ext cx="107617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8A75F86-4EE7-3E19-575B-47A2BDC88CAE}"/>
                </a:ext>
              </a:extLst>
            </p:cNvPr>
            <p:cNvCxnSpPr>
              <a:cxnSpLocks/>
            </p:cNvCxnSpPr>
            <p:nvPr/>
          </p:nvCxnSpPr>
          <p:spPr>
            <a:xfrm>
              <a:off x="5649810" y="1465427"/>
              <a:ext cx="87615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C61C053-5FD1-36C6-BEA9-2E7D6AC23065}"/>
                </a:ext>
              </a:extLst>
            </p:cNvPr>
            <p:cNvCxnSpPr>
              <a:cxnSpLocks/>
            </p:cNvCxnSpPr>
            <p:nvPr/>
          </p:nvCxnSpPr>
          <p:spPr>
            <a:xfrm>
              <a:off x="5771135" y="1653933"/>
              <a:ext cx="32486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E95AE08-2049-6217-3210-46516C7B004B}"/>
              </a:ext>
            </a:extLst>
          </p:cNvPr>
          <p:cNvGrpSpPr/>
          <p:nvPr/>
        </p:nvGrpSpPr>
        <p:grpSpPr>
          <a:xfrm>
            <a:off x="8872921" y="360992"/>
            <a:ext cx="3203122" cy="6114278"/>
            <a:chOff x="8872921" y="360992"/>
            <a:chExt cx="3203122" cy="6114278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9882A65-F14B-31B9-71B8-C5CA2150E70E}"/>
                </a:ext>
              </a:extLst>
            </p:cNvPr>
            <p:cNvGrpSpPr/>
            <p:nvPr/>
          </p:nvGrpSpPr>
          <p:grpSpPr>
            <a:xfrm>
              <a:off x="8872921" y="360992"/>
              <a:ext cx="3203122" cy="6114278"/>
              <a:chOff x="6660541" y="216184"/>
              <a:chExt cx="5249918" cy="611427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8F82521C-3469-C038-CBF7-5E02AB5A9279}"/>
                  </a:ext>
                </a:extLst>
              </p:cNvPr>
              <p:cNvGrpSpPr/>
              <p:nvPr/>
            </p:nvGrpSpPr>
            <p:grpSpPr>
              <a:xfrm>
                <a:off x="6660541" y="216184"/>
                <a:ext cx="5249918" cy="6114278"/>
                <a:chOff x="3176215" y="1892910"/>
                <a:chExt cx="6557011" cy="4819209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68226BE0-B606-812A-A9AE-C31DA031A6E2}"/>
                    </a:ext>
                  </a:extLst>
                </p:cNvPr>
                <p:cNvSpPr/>
                <p:nvPr/>
              </p:nvSpPr>
              <p:spPr>
                <a:xfrm>
                  <a:off x="3176215" y="1892910"/>
                  <a:ext cx="6557011" cy="481920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E" dirty="0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98212EC-0F08-B13F-9DA4-4134C3320131}"/>
                    </a:ext>
                  </a:extLst>
                </p:cNvPr>
                <p:cNvSpPr/>
                <p:nvPr/>
              </p:nvSpPr>
              <p:spPr>
                <a:xfrm>
                  <a:off x="3237176" y="1968893"/>
                  <a:ext cx="6419850" cy="457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a-DK" dirty="0" err="1"/>
                    <a:t>McStasScript</a:t>
                  </a:r>
                  <a:endParaRPr lang="en-SE" dirty="0"/>
                </a:p>
              </p:txBody>
            </p: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B2C4A8A-9CA8-3678-BC8D-506F9A775115}"/>
                  </a:ext>
                </a:extLst>
              </p:cNvPr>
              <p:cNvSpPr txBox="1"/>
              <p:nvPr/>
            </p:nvSpPr>
            <p:spPr>
              <a:xfrm>
                <a:off x="6709350" y="903891"/>
                <a:ext cx="5104278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dirty="0">
                    <a:solidFill>
                      <a:srgbClr val="666666"/>
                    </a:solidFill>
                  </a:rPr>
                  <a:t>i</a:t>
                </a:r>
                <a:r>
                  <a:rPr lang="en-SE" dirty="0">
                    <a:solidFill>
                      <a:srgbClr val="666666"/>
                    </a:solidFill>
                  </a:rPr>
                  <a:t>nstr = McStas_instr(“demo”)</a:t>
                </a: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r>
                  <a:rPr lang="en-SE" dirty="0">
                    <a:solidFill>
                      <a:srgbClr val="666666"/>
                    </a:solidFill>
                  </a:rPr>
                  <a:t># Guide</a:t>
                </a: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r>
                  <a:rPr lang="en-SE" dirty="0">
                    <a:solidFill>
                      <a:srgbClr val="666666"/>
                    </a:solidFill>
                  </a:rPr>
                  <a:t># Choppers</a:t>
                </a: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r>
                  <a:rPr lang="en-SE" dirty="0">
                    <a:solidFill>
                      <a:srgbClr val="666666"/>
                    </a:solidFill>
                  </a:rPr>
                  <a:t># Sample environment</a:t>
                </a: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  <a:p>
                <a:pPr algn="l"/>
                <a:r>
                  <a:rPr lang="en-SE" dirty="0">
                    <a:solidFill>
                      <a:srgbClr val="666666"/>
                    </a:solidFill>
                  </a:rPr>
                  <a:t># Detectors</a:t>
                </a:r>
              </a:p>
              <a:p>
                <a:pPr algn="l"/>
                <a:endParaRPr lang="en-SE" dirty="0">
                  <a:solidFill>
                    <a:srgbClr val="666666"/>
                  </a:solidFill>
                </a:endParaRPr>
              </a:p>
            </p:txBody>
          </p:sp>
        </p:grp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628CCD3-B973-2BCA-BECD-7031F2682101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1961239"/>
              <a:ext cx="121465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D684327-FFDC-4AC7-1438-9A913E4A38B8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2060995"/>
              <a:ext cx="151252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8B2716F-C015-828B-3802-AD034B562E6F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2162800"/>
              <a:ext cx="135320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B834324-B8FF-D068-DB00-3BDA90D68DFD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2273925"/>
              <a:ext cx="121465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1F7B631-2D9D-82C8-1473-5E1AF1EC75D7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2385050"/>
              <a:ext cx="185889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F85693B-E391-1A82-5651-93EFB28D71AD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2499350"/>
              <a:ext cx="166492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25EAF2F-E8E6-8CC1-AA40-1879634249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2614777"/>
              <a:ext cx="106225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6105F55C-0BEB-B773-219A-139911691B34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2741777"/>
              <a:ext cx="1567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BE36F56-03FF-FFCE-6566-4A90F4412037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2868777"/>
              <a:ext cx="151252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9E305EA-8B0A-D1EC-5C67-FC02E73EF8DE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3323072"/>
              <a:ext cx="121465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63DC4FD-BB0D-24D6-2640-D7581D357B91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3422828"/>
              <a:ext cx="1567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9C8B861-DDA5-B7D9-06DD-249F5436F1D7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3524633"/>
              <a:ext cx="129085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435308F-1293-9392-F6AB-4A082352DB55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3635758"/>
              <a:ext cx="166492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AC6CE0B6-8C3C-A242-6A18-40ADC3B7297F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3746883"/>
              <a:ext cx="1567947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EE6A84E0-725F-65DC-834F-F74F365019EF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3861183"/>
              <a:ext cx="116616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79DB1607-9770-BE50-312B-73DDE420AF55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3976610"/>
              <a:ext cx="151252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19A9A8C-1F33-688E-BA67-48B53D04CCBD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4103610"/>
              <a:ext cx="135320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385F321-C030-B19F-FD77-6353B5F29965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4230610"/>
              <a:ext cx="1567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471F7AA-E723-5C94-DA71-7395357D4FAA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4723194"/>
              <a:ext cx="121465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7B5670F-770B-5633-1431-439A27CD23B0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4822950"/>
              <a:ext cx="1567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06986B5-3FAD-56C8-5982-81DDC3F29366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4924755"/>
              <a:ext cx="129085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DA528A4-B6CA-64AA-266A-694F5FB90E7A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5035880"/>
              <a:ext cx="151252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371D09A-1A61-BB35-878F-4987F33D4BF8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5147005"/>
              <a:ext cx="166492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0853375-1EC8-E209-F92C-4F0CC36D47B9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5261305"/>
              <a:ext cx="151252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7FBC894-DEA0-D115-7E3C-54B5EF8B4109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5821993"/>
              <a:ext cx="121465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DBAE9B6-8E68-AFDC-CF1E-A504A8CC43FC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5948993"/>
              <a:ext cx="156794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D554785-05FE-D067-7CB5-2948B081F75C}"/>
                </a:ext>
              </a:extLst>
            </p:cNvPr>
            <p:cNvCxnSpPr>
              <a:cxnSpLocks/>
            </p:cNvCxnSpPr>
            <p:nvPr/>
          </p:nvCxnSpPr>
          <p:spPr>
            <a:xfrm>
              <a:off x="9044635" y="6075993"/>
              <a:ext cx="141907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Freeform 170">
            <a:extLst>
              <a:ext uri="{FF2B5EF4-FFF2-40B4-BE49-F238E27FC236}">
                <a16:creationId xmlns:a16="http://schemas.microsoft.com/office/drawing/2014/main" id="{6F015C07-8295-0FAF-3D79-ED676E6B5752}"/>
              </a:ext>
            </a:extLst>
          </p:cNvPr>
          <p:cNvSpPr/>
          <p:nvPr/>
        </p:nvSpPr>
        <p:spPr>
          <a:xfrm rot="21138149">
            <a:off x="8126559" y="162370"/>
            <a:ext cx="1360714" cy="294382"/>
          </a:xfrm>
          <a:custGeom>
            <a:avLst/>
            <a:gdLst>
              <a:gd name="connsiteX0" fmla="*/ 1360714 w 1360714"/>
              <a:gd name="connsiteY0" fmla="*/ 294382 h 294382"/>
              <a:gd name="connsiteX1" fmla="*/ 707571 w 1360714"/>
              <a:gd name="connsiteY1" fmla="*/ 468 h 294382"/>
              <a:gd name="connsiteX2" fmla="*/ 0 w 1360714"/>
              <a:gd name="connsiteY2" fmla="*/ 239954 h 29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0714" h="294382">
                <a:moveTo>
                  <a:pt x="1360714" y="294382"/>
                </a:moveTo>
                <a:cubicBezTo>
                  <a:pt x="1147535" y="151960"/>
                  <a:pt x="934357" y="9539"/>
                  <a:pt x="707571" y="468"/>
                </a:cubicBezTo>
                <a:cubicBezTo>
                  <a:pt x="480785" y="-8603"/>
                  <a:pt x="240392" y="115675"/>
                  <a:pt x="0" y="239954"/>
                </a:cubicBezTo>
              </a:path>
            </a:pathLst>
          </a:custGeom>
          <a:noFill/>
          <a:ln w="1270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72" name="Freeform 171">
            <a:extLst>
              <a:ext uri="{FF2B5EF4-FFF2-40B4-BE49-F238E27FC236}">
                <a16:creationId xmlns:a16="http://schemas.microsoft.com/office/drawing/2014/main" id="{1C72E3E4-36C0-8FA6-76FD-F247E7057B43}"/>
              </a:ext>
            </a:extLst>
          </p:cNvPr>
          <p:cNvSpPr/>
          <p:nvPr/>
        </p:nvSpPr>
        <p:spPr>
          <a:xfrm rot="10568223">
            <a:off x="8282880" y="6323472"/>
            <a:ext cx="1360714" cy="294382"/>
          </a:xfrm>
          <a:custGeom>
            <a:avLst/>
            <a:gdLst>
              <a:gd name="connsiteX0" fmla="*/ 1360714 w 1360714"/>
              <a:gd name="connsiteY0" fmla="*/ 294382 h 294382"/>
              <a:gd name="connsiteX1" fmla="*/ 707571 w 1360714"/>
              <a:gd name="connsiteY1" fmla="*/ 468 h 294382"/>
              <a:gd name="connsiteX2" fmla="*/ 0 w 1360714"/>
              <a:gd name="connsiteY2" fmla="*/ 239954 h 29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0714" h="294382">
                <a:moveTo>
                  <a:pt x="1360714" y="294382"/>
                </a:moveTo>
                <a:cubicBezTo>
                  <a:pt x="1147535" y="151960"/>
                  <a:pt x="934357" y="9539"/>
                  <a:pt x="707571" y="468"/>
                </a:cubicBezTo>
                <a:cubicBezTo>
                  <a:pt x="480785" y="-8603"/>
                  <a:pt x="240392" y="115675"/>
                  <a:pt x="0" y="239954"/>
                </a:cubicBezTo>
              </a:path>
            </a:pathLst>
          </a:custGeom>
          <a:noFill/>
          <a:ln w="1270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893325A-E2E6-999A-44C2-5B38A678668D}"/>
              </a:ext>
            </a:extLst>
          </p:cNvPr>
          <p:cNvSpPr txBox="1"/>
          <p:nvPr/>
        </p:nvSpPr>
        <p:spPr>
          <a:xfrm>
            <a:off x="1186972" y="5845526"/>
            <a:ext cx="4758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rgbClr val="666666"/>
                </a:solidFill>
              </a:rPr>
              <a:t>m</a:t>
            </a:r>
            <a:r>
              <a:rPr lang="en-SE" dirty="0">
                <a:solidFill>
                  <a:srgbClr val="666666"/>
                </a:solidFill>
              </a:rPr>
              <a:t>cstas-pygen translator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7A8371D-E11D-27F9-6674-4512A7B5C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851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72" grpId="0" animBg="1"/>
      <p:bldP spid="1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D0FB8EB-1974-4F1B-9F83-4FDD9AB6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8A5AF1C-CD2B-3242-88CF-04FA26AE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069019B7-CECB-38E0-1FE2-201FCAD17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Installation</a:t>
            </a:r>
          </a:p>
        </p:txBody>
      </p:sp>
      <p:sp>
        <p:nvSpPr>
          <p:cNvPr id="12" name="Platshållare för innehåll 5">
            <a:extLst>
              <a:ext uri="{FF2B5EF4-FFF2-40B4-BE49-F238E27FC236}">
                <a16:creationId xmlns:a16="http://schemas.microsoft.com/office/drawing/2014/main" id="{29B867FF-67F5-20CE-F31A-EE1C39854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8" y="1562400"/>
            <a:ext cx="8109892" cy="4768062"/>
          </a:xfrm>
        </p:spPr>
        <p:txBody>
          <a:bodyPr/>
          <a:lstStyle/>
          <a:p>
            <a:pPr lvl="1"/>
            <a:r>
              <a:rPr lang="en-US" dirty="0"/>
              <a:t>Install from pip / </a:t>
            </a:r>
            <a:r>
              <a:rPr lang="en-US" dirty="0" err="1"/>
              <a:t>conda</a:t>
            </a:r>
            <a:endParaRPr lang="en-US" dirty="0"/>
          </a:p>
          <a:p>
            <a:pPr lvl="2"/>
            <a:r>
              <a:rPr lang="en-US" b="1" dirty="0"/>
              <a:t>pip install </a:t>
            </a:r>
            <a:r>
              <a:rPr lang="en-US" b="1" dirty="0" err="1"/>
              <a:t>McStasScript</a:t>
            </a:r>
            <a:endParaRPr lang="en-US" b="1" dirty="0"/>
          </a:p>
          <a:p>
            <a:pPr lvl="2"/>
            <a:r>
              <a:rPr lang="en-US" b="1" dirty="0" err="1"/>
              <a:t>conda</a:t>
            </a:r>
            <a:r>
              <a:rPr lang="en-US" b="1" dirty="0"/>
              <a:t> install –c </a:t>
            </a:r>
            <a:r>
              <a:rPr lang="en-US" b="1" dirty="0" err="1"/>
              <a:t>conda</a:t>
            </a:r>
            <a:r>
              <a:rPr lang="en-US" b="1" dirty="0"/>
              <a:t>-forge </a:t>
            </a:r>
            <a:r>
              <a:rPr lang="en-US" b="1" dirty="0" err="1"/>
              <a:t>mcstasscript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pPr lvl="2"/>
            <a:r>
              <a:rPr lang="en-US" dirty="0"/>
              <a:t>Included as dependency if you install </a:t>
            </a:r>
            <a:r>
              <a:rPr lang="en-US" dirty="0" err="1"/>
              <a:t>McStas</a:t>
            </a:r>
            <a:r>
              <a:rPr lang="en-US" dirty="0"/>
              <a:t>, e.g.</a:t>
            </a:r>
            <a:br>
              <a:rPr lang="en-US" dirty="0"/>
            </a:br>
            <a:r>
              <a:rPr lang="en-US" b="1" dirty="0" err="1"/>
              <a:t>conda</a:t>
            </a:r>
            <a:r>
              <a:rPr lang="en-US" b="1" dirty="0"/>
              <a:t> install –c </a:t>
            </a:r>
            <a:r>
              <a:rPr lang="en-US" b="1" dirty="0" err="1"/>
              <a:t>conda</a:t>
            </a:r>
            <a:r>
              <a:rPr lang="en-US" b="1" dirty="0"/>
              <a:t>-forge </a:t>
            </a:r>
            <a:r>
              <a:rPr lang="en-US" b="1" dirty="0" err="1"/>
              <a:t>mcstas</a:t>
            </a:r>
            <a:endParaRPr lang="en-US" b="1" dirty="0"/>
          </a:p>
          <a:p>
            <a:pPr lvl="2"/>
            <a:endParaRPr lang="en-US" b="1" dirty="0"/>
          </a:p>
          <a:p>
            <a:pPr lvl="1"/>
            <a:r>
              <a:rPr lang="en-US" dirty="0"/>
              <a:t>Already available in your VISA instance in ESS </a:t>
            </a:r>
            <a:r>
              <a:rPr lang="en-US" dirty="0" err="1"/>
              <a:t>conda</a:t>
            </a:r>
            <a:r>
              <a:rPr lang="en-US" dirty="0"/>
              <a:t> environment</a:t>
            </a:r>
          </a:p>
        </p:txBody>
      </p:sp>
      <p:sp>
        <p:nvSpPr>
          <p:cNvPr id="5" name="Platshållare för sidfot 3">
            <a:extLst>
              <a:ext uri="{FF2B5EF4-FFF2-40B4-BE49-F238E27FC236}">
                <a16:creationId xmlns:a16="http://schemas.microsoft.com/office/drawing/2014/main" id="{32AF3C0E-7088-D2B7-A066-38286AFCB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032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1E2AA-20F3-2D28-FD2F-A3FA7AD38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4E01EEB-597A-2BE1-3303-DC20C19D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McStasScript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F2F34B0A-F50C-4E3B-7053-0F7550430C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r>
              <a:rPr lang="sv-SE"/>
              <a:t>2023-10-10</a:t>
            </a:r>
            <a:endParaRPr lang="sv-SE" dirty="0"/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65230DF2-894C-C721-89B2-58AFC6FFF4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3709" y="931026"/>
            <a:ext cx="9360000" cy="507076"/>
          </a:xfrm>
        </p:spPr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12" name="Platshållare för innehåll 5">
            <a:extLst>
              <a:ext uri="{FF2B5EF4-FFF2-40B4-BE49-F238E27FC236}">
                <a16:creationId xmlns:a16="http://schemas.microsoft.com/office/drawing/2014/main" id="{7A130457-DE56-F80E-75CE-B36B1C402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731" y="1438102"/>
            <a:ext cx="8109892" cy="4768062"/>
          </a:xfrm>
        </p:spPr>
        <p:txBody>
          <a:bodyPr/>
          <a:lstStyle/>
          <a:p>
            <a:pPr lvl="1"/>
            <a:r>
              <a:rPr lang="en-US" dirty="0" err="1"/>
              <a:t>McStasScript</a:t>
            </a:r>
            <a:r>
              <a:rPr lang="en-US" dirty="0"/>
              <a:t> quiz</a:t>
            </a:r>
          </a:p>
          <a:p>
            <a:pPr lvl="2"/>
            <a:r>
              <a:rPr lang="en-US" dirty="0"/>
              <a:t>Questions that need to be answered by a number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Multiple choice questions need a string, options typically A, B, C, D, …</a:t>
            </a:r>
          </a:p>
          <a:p>
            <a:pPr lvl="2"/>
            <a:endParaRPr lang="en-US" sz="2400" dirty="0"/>
          </a:p>
          <a:p>
            <a:pPr marL="252413" lvl="2" indent="0">
              <a:buNone/>
            </a:pPr>
            <a:endParaRPr lang="en-US" dirty="0"/>
          </a:p>
          <a:p>
            <a:pPr lvl="2"/>
            <a:r>
              <a:rPr lang="en-US" dirty="0"/>
              <a:t>Instrument questions check you have set up an instrument correctly</a:t>
            </a:r>
            <a:endParaRPr lang="en-US" sz="2000" dirty="0"/>
          </a:p>
          <a:p>
            <a:pPr lvl="2"/>
            <a:endParaRPr lang="en-US" dirty="0"/>
          </a:p>
        </p:txBody>
      </p:sp>
      <p:sp>
        <p:nvSpPr>
          <p:cNvPr id="5" name="Platshållare för sidfot 3">
            <a:extLst>
              <a:ext uri="{FF2B5EF4-FFF2-40B4-BE49-F238E27FC236}">
                <a16:creationId xmlns:a16="http://schemas.microsoft.com/office/drawing/2014/main" id="{D10F377A-45E8-6086-6DC9-423169DD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3" y="6475270"/>
            <a:ext cx="7716087" cy="365125"/>
          </a:xfrm>
        </p:spPr>
        <p:txBody>
          <a:bodyPr/>
          <a:lstStyle/>
          <a:p>
            <a:r>
              <a:rPr lang="en-GB" dirty="0" err="1"/>
              <a:t>McStasScript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3CFFA-134E-4504-E0A6-0CB3E6F44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91" y="2235053"/>
            <a:ext cx="6565900" cy="7366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7BF800-EF9A-E932-326D-32745C648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91" y="3422709"/>
            <a:ext cx="6565900" cy="977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5A27D4-389C-25EA-DF06-9B6E8ECA7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291" y="4752385"/>
            <a:ext cx="6565900" cy="7226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9D8DB1-B453-259F-6E18-8EFFE65404E8}"/>
              </a:ext>
            </a:extLst>
          </p:cNvPr>
          <p:cNvSpPr txBox="1"/>
          <p:nvPr/>
        </p:nvSpPr>
        <p:spPr>
          <a:xfrm rot="640531">
            <a:off x="7051503" y="888050"/>
            <a:ext cx="4621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666666"/>
                </a:solidFill>
              </a:rPr>
              <a:t>Also </a:t>
            </a:r>
            <a:r>
              <a:rPr lang="en-US" sz="2400" dirty="0" err="1">
                <a:solidFill>
                  <a:srgbClr val="666666"/>
                </a:solidFill>
              </a:rPr>
              <a:t>cryostat_demo</a:t>
            </a:r>
            <a:r>
              <a:rPr lang="en-US" sz="2400" dirty="0">
                <a:solidFill>
                  <a:srgbClr val="666666"/>
                </a:solidFill>
              </a:rPr>
              <a:t> notebook if you are curious! Uses </a:t>
            </a:r>
            <a:r>
              <a:rPr lang="en-US" sz="2400" dirty="0" err="1">
                <a:solidFill>
                  <a:srgbClr val="666666"/>
                </a:solidFill>
              </a:rPr>
              <a:t>NCrystal</a:t>
            </a:r>
            <a:endParaRPr lang="en-US" sz="2400" dirty="0">
              <a:solidFill>
                <a:srgbClr val="66666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3AF57-65EE-0FC6-F23D-7805D6E2B558}"/>
              </a:ext>
            </a:extLst>
          </p:cNvPr>
          <p:cNvSpPr txBox="1"/>
          <p:nvPr/>
        </p:nvSpPr>
        <p:spPr>
          <a:xfrm>
            <a:off x="1348100" y="5559815"/>
            <a:ext cx="9495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66666"/>
                </a:solidFill>
              </a:rPr>
              <a:t>Copy entire exercise and </a:t>
            </a:r>
            <a:r>
              <a:rPr lang="en-US" sz="2400" dirty="0" err="1">
                <a:solidFill>
                  <a:srgbClr val="666666"/>
                </a:solidFill>
              </a:rPr>
              <a:t>cryostat_demo</a:t>
            </a:r>
            <a:r>
              <a:rPr lang="en-US" sz="2400" dirty="0">
                <a:solidFill>
                  <a:srgbClr val="666666"/>
                </a:solidFill>
              </a:rPr>
              <a:t> folder to your environment</a:t>
            </a:r>
          </a:p>
          <a:p>
            <a:r>
              <a:rPr lang="en-US" sz="2400" dirty="0">
                <a:solidFill>
                  <a:srgbClr val="666666"/>
                </a:solidFill>
              </a:rPr>
              <a:t>Then quit your VISA instance and open as </a:t>
            </a:r>
            <a:r>
              <a:rPr lang="en-US" sz="2400" dirty="0" err="1">
                <a:solidFill>
                  <a:srgbClr val="666666"/>
                </a:solidFill>
              </a:rPr>
              <a:t>Jupyter</a:t>
            </a:r>
            <a:r>
              <a:rPr lang="en-US" sz="2400" dirty="0">
                <a:solidFill>
                  <a:srgbClr val="666666"/>
                </a:solidFill>
              </a:rPr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42733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ESS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9DC"/>
      </a:accent1>
      <a:accent2>
        <a:srgbClr val="003366"/>
      </a:accent2>
      <a:accent3>
        <a:srgbClr val="99BE00"/>
      </a:accent3>
      <a:accent4>
        <a:srgbClr val="006646"/>
      </a:accent4>
      <a:accent5>
        <a:srgbClr val="FF7D00"/>
      </a:accent5>
      <a:accent6>
        <a:srgbClr val="821482"/>
      </a:accent6>
      <a:hlink>
        <a:srgbClr val="0099DC"/>
      </a:hlink>
      <a:folHlink>
        <a:srgbClr val="0099DC"/>
      </a:folHlink>
    </a:clrScheme>
    <a:fontScheme name="ESS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>
            <a:solidFill>
              <a:srgbClr val="666666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C8E05FD6-4408-40A1-AAFA-F1913A6B3D38}" vid="{2ACFAA60-6D1B-4172-9AA5-52CCB5CBBC4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20240</TotalTime>
  <Words>652</Words>
  <Application>Microsoft Macintosh PowerPoint</Application>
  <PresentationFormat>Widescreen</PresentationFormat>
  <Paragraphs>267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Segoe UI</vt:lpstr>
      <vt:lpstr>Segoe UI Light</vt:lpstr>
      <vt:lpstr>Segoe UI Semibold</vt:lpstr>
      <vt:lpstr>Times</vt:lpstr>
      <vt:lpstr>Wingdings</vt:lpstr>
      <vt:lpstr>Office-tema</vt:lpstr>
      <vt:lpstr>McStasScript Python interface</vt:lpstr>
      <vt:lpstr>McStas</vt:lpstr>
      <vt:lpstr>McStas</vt:lpstr>
      <vt:lpstr>McStas</vt:lpstr>
      <vt:lpstr>McStas</vt:lpstr>
      <vt:lpstr>McStasScript</vt:lpstr>
      <vt:lpstr>McStasScript</vt:lpstr>
      <vt:lpstr>McStasScript</vt:lpstr>
      <vt:lpstr>McStasScript</vt:lpstr>
      <vt:lpstr>McStasScript</vt:lpstr>
      <vt:lpstr>McStasScript</vt:lpstr>
      <vt:lpstr>McStasScript</vt:lpstr>
      <vt:lpstr>McStasScript</vt:lpstr>
      <vt:lpstr>McStasScript</vt:lpstr>
      <vt:lpstr>McStasScript</vt:lpstr>
      <vt:lpstr>McStasScript</vt:lpstr>
      <vt:lpstr>McStasScript</vt:lpstr>
      <vt:lpstr>McStasScript</vt:lpstr>
      <vt:lpstr>McStasScript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Mads Bertelsen</cp:lastModifiedBy>
  <cp:revision>43</cp:revision>
  <cp:lastPrinted>2019-03-08T10:27:30Z</cp:lastPrinted>
  <dcterms:created xsi:type="dcterms:W3CDTF">2024-05-03T08:52:39Z</dcterms:created>
  <dcterms:modified xsi:type="dcterms:W3CDTF">2025-11-05T09:21:25Z</dcterms:modified>
</cp:coreProperties>
</file>