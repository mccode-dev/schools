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9" r:id="rId2"/>
    <p:sldId id="278" r:id="rId3"/>
    <p:sldId id="287" r:id="rId4"/>
    <p:sldId id="280" r:id="rId5"/>
    <p:sldId id="286" r:id="rId6"/>
    <p:sldId id="281" r:id="rId7"/>
    <p:sldId id="289" r:id="rId8"/>
    <p:sldId id="284" r:id="rId9"/>
    <p:sldId id="283" r:id="rId10"/>
    <p:sldId id="285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666666"/>
    <a:srgbClr val="FECC99"/>
    <a:srgbClr val="FEE6CC"/>
    <a:srgbClr val="CCDFDB"/>
    <a:srgbClr val="E5F0EC"/>
    <a:srgbClr val="D7E59A"/>
    <a:srgbClr val="EBF1CB"/>
    <a:srgbClr val="CDD5E0"/>
    <a:srgbClr val="E6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08" autoAdjust="0"/>
    <p:restoredTop sz="94681" autoAdjust="0"/>
  </p:normalViewPr>
  <p:slideViewPr>
    <p:cSldViewPr snapToGrid="0" snapToObjects="1">
      <p:cViewPr varScale="1">
        <p:scale>
          <a:sx n="127" d="100"/>
          <a:sy n="127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16F17-FF12-814E-936A-620B3383A43B}" type="datetimeFigureOut">
              <a:rPr lang="sv-SE" smtClean="0"/>
              <a:t>2025-11-03</a:t>
            </a:fld>
            <a:endParaRPr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5A434-646A-2746-9BDC-885B2382B33E}" type="slidenum">
              <a:rPr lang="sv-SE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182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4">
            <a:extLst>
              <a:ext uri="{FF2B5EF4-FFF2-40B4-BE49-F238E27FC236}">
                <a16:creationId xmlns:a16="http://schemas.microsoft.com/office/drawing/2014/main" id="{5105BBA5-0B01-43EB-96EC-725AF28E5A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BB3141B3-566C-47FF-8C29-67289995D2FA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B965145F-CDA4-4965-A7C5-ACBA59393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3069" y="1048935"/>
            <a:ext cx="8872165" cy="476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8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BE7B1DDB-F4AA-4E8D-BD07-905FE45A5555}"/>
              </a:ext>
            </a:extLst>
          </p:cNvPr>
          <p:cNvSpPr/>
          <p:nvPr userDrawn="1"/>
        </p:nvSpPr>
        <p:spPr>
          <a:xfrm>
            <a:off x="-2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4780BC8-191C-6D4B-93F3-54A06FD4F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395" y="1153621"/>
            <a:ext cx="8640000" cy="238760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1DF3056-F3A8-2949-876C-528413E34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395" y="3883393"/>
            <a:ext cx="8640000" cy="921363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C66F586-F662-4573-A59B-7D4EDD05A153}"/>
              </a:ext>
            </a:extLst>
          </p:cNvPr>
          <p:cNvSpPr/>
          <p:nvPr userDrawn="1"/>
        </p:nvSpPr>
        <p:spPr>
          <a:xfrm>
            <a:off x="-2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3193CED5-E020-4279-918D-055F43A91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611" y="417443"/>
            <a:ext cx="826395" cy="800100"/>
          </a:xfrm>
          <a:prstGeom prst="rect">
            <a:avLst/>
          </a:prstGeom>
        </p:spPr>
      </p:pic>
      <p:sp>
        <p:nvSpPr>
          <p:cNvPr id="15" name="Platshållare för text 14">
            <a:extLst>
              <a:ext uri="{FF2B5EF4-FFF2-40B4-BE49-F238E27FC236}">
                <a16:creationId xmlns:a16="http://schemas.microsoft.com/office/drawing/2014/main" id="{EA5DA2EE-60AD-41D0-96B0-DDF02E0AE5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30395" y="5605695"/>
            <a:ext cx="6290892" cy="459883"/>
          </a:xfrm>
          <a:prstGeom prst="rect">
            <a:avLst/>
          </a:prstGeom>
        </p:spPr>
        <p:txBody>
          <a:bodyPr lIns="90000" tIns="18000" bIns="360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 strike="noStrike" cap="all" spc="12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sv-SE"/>
              <a:t>presented by &lt;name nameson&gt;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5CE429DE-35D4-F144-9881-2C3DD8AB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30395" y="6096663"/>
            <a:ext cx="1241068" cy="365125"/>
          </a:xfrm>
        </p:spPr>
        <p:txBody>
          <a:bodyPr/>
          <a:lstStyle>
            <a:lvl1pPr>
              <a:defRPr sz="1200"/>
            </a:lvl1pPr>
          </a:lstStyle>
          <a:p>
            <a:fld id="{18896B66-0B3A-474C-9C9C-E4F07B1F5DAD}" type="datetime1">
              <a:rPr lang="sv-SE" smtClean="0"/>
              <a:pPr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0138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9BCCEAFE-E21B-43CF-80C4-FF01C3F9D479}"/>
              </a:ext>
            </a:extLst>
          </p:cNvPr>
          <p:cNvSpPr/>
          <p:nvPr userDrawn="1"/>
        </p:nvSpPr>
        <p:spPr>
          <a:xfrm>
            <a:off x="0" y="16274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PRESENTATION </a:t>
            </a:r>
            <a:r>
              <a:rPr lang="sv-SE" dirty="0" err="1"/>
              <a:t>TITLe</a:t>
            </a:r>
            <a:r>
              <a:rPr lang="sv-SE" dirty="0"/>
              <a:t>/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283078-D760-1647-8B80-66BA8B52336D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6426DF26-09C3-4DAE-B43E-0C11D6A63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611" y="417443"/>
            <a:ext cx="826395" cy="800100"/>
          </a:xfrm>
          <a:prstGeom prst="rect">
            <a:avLst/>
          </a:prstGeom>
        </p:spPr>
      </p:pic>
      <p:sp>
        <p:nvSpPr>
          <p:cNvPr id="11" name="Platshållare för text 10">
            <a:extLst>
              <a:ext uri="{FF2B5EF4-FFF2-40B4-BE49-F238E27FC236}">
                <a16:creationId xmlns:a16="http://schemas.microsoft.com/office/drawing/2014/main" id="{5C48DF05-1B09-4DA6-AC56-07304871CC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95647" y="1640719"/>
            <a:ext cx="10042073" cy="4375520"/>
          </a:xfrm>
        </p:spPr>
        <p:txBody>
          <a:bodyPr>
            <a:noAutofit/>
          </a:bodyPr>
          <a:lstStyle>
            <a:lvl1pPr marL="457200" indent="-4572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latshållare för datum 3">
            <a:extLst>
              <a:ext uri="{FF2B5EF4-FFF2-40B4-BE49-F238E27FC236}">
                <a16:creationId xmlns:a16="http://schemas.microsoft.com/office/drawing/2014/main" id="{04D3287D-3E21-D845-8766-C307E676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3988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/break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250D024A-8F85-4618-9506-0F493B263A92}"/>
              </a:ext>
            </a:extLst>
          </p:cNvPr>
          <p:cNvSpPr/>
          <p:nvPr userDrawn="1"/>
        </p:nvSpPr>
        <p:spPr>
          <a:xfrm>
            <a:off x="0" y="0"/>
            <a:ext cx="64777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628E18C2-A66E-436E-89DA-1C5D481CB4B4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latshållare för bild 12">
            <a:extLst>
              <a:ext uri="{FF2B5EF4-FFF2-40B4-BE49-F238E27FC236}">
                <a16:creationId xmlns:a16="http://schemas.microsoft.com/office/drawing/2014/main" id="{4FD00856-A3E1-48A7-B9CD-D7B89BD6A06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7712" y="0"/>
            <a:ext cx="5714288" cy="6858000"/>
          </a:xfrm>
          <a:solidFill>
            <a:srgbClr val="ECECEC"/>
          </a:solidFill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sv-SE"/>
              <a:t>INSERT IMAGE</a:t>
            </a:r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A8D8C0FE-DA05-418D-9F18-A5A81125A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24611" y="417443"/>
            <a:ext cx="828000" cy="799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1848DA8D-03CE-4CA5-A851-F6ABAE67A9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47675"/>
            <a:ext cx="292100" cy="6410325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F55DE042-7DE8-4583-986C-4082375307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0491" y="1051132"/>
            <a:ext cx="4255909" cy="829149"/>
          </a:xfrm>
        </p:spPr>
        <p:txBody>
          <a:bodyPr rIns="18000" anchor="b" anchorCtr="0"/>
          <a:lstStyle>
            <a:lvl1pPr marL="0" indent="0">
              <a:buFontTx/>
              <a:buNone/>
              <a:defRPr sz="4800">
                <a:solidFill>
                  <a:schemeClr val="bg1"/>
                </a:solidFill>
                <a:latin typeface="+mn-lt"/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# (chapter)</a:t>
            </a:r>
          </a:p>
        </p:txBody>
      </p:sp>
      <p:sp>
        <p:nvSpPr>
          <p:cNvPr id="11" name="Platshållare för text 2">
            <a:extLst>
              <a:ext uri="{FF2B5EF4-FFF2-40B4-BE49-F238E27FC236}">
                <a16:creationId xmlns:a16="http://schemas.microsoft.com/office/drawing/2014/main" id="{1DC53C5B-9DC3-4646-B6B3-DD59404D44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0491" y="2169209"/>
            <a:ext cx="4255909" cy="2462613"/>
          </a:xfrm>
        </p:spPr>
        <p:txBody>
          <a:bodyPr rIns="18000" anchor="t" anchorCtr="0"/>
          <a:lstStyle>
            <a:lvl1pPr marL="0" indent="0">
              <a:spcBef>
                <a:spcPts val="0"/>
              </a:spcBef>
              <a:buFontTx/>
              <a:buNone/>
              <a:defRPr sz="4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25464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DD4ACE8-21C9-474B-A84B-6E399CB9FB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5917406D-4BE3-3B4C-BCFF-41B4F0FAB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9365782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3" name="Platshållare för datum 3">
            <a:extLst>
              <a:ext uri="{FF2B5EF4-FFF2-40B4-BE49-F238E27FC236}">
                <a16:creationId xmlns:a16="http://schemas.microsoft.com/office/drawing/2014/main" id="{3E8E36C4-8565-B94E-A90D-FF5DD7F8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8008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590CF35B-F516-4A5B-A8AB-7A0A2836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4993785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58775" indent="-215900">
              <a:lnSpc>
                <a:spcPct val="100000"/>
              </a:lnSpc>
              <a:tabLst/>
              <a:defRPr/>
            </a:lvl2pPr>
            <a:lvl3pPr marL="449263" indent="-196850">
              <a:lnSpc>
                <a:spcPct val="100000"/>
              </a:lnSpc>
              <a:tabLst/>
              <a:defRPr/>
            </a:lvl3pPr>
            <a:lvl4pPr marL="541338" indent="-18000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BA21051E-3C35-41FB-8E6B-797DB8F2697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73692" y="1562400"/>
            <a:ext cx="4993785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40000" indent="-180000">
              <a:lnSpc>
                <a:spcPct val="100000"/>
              </a:lnSpc>
              <a:tabLst/>
              <a:defRPr/>
            </a:lvl4pPr>
            <a:lvl5pPr marL="62865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7E2C692-2C39-4CA8-AA87-45E0F36B6A0E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E327627C-4BB8-4965-8107-0E7E741F83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1" name="Platshållare för datum 3">
            <a:extLst>
              <a:ext uri="{FF2B5EF4-FFF2-40B4-BE49-F238E27FC236}">
                <a16:creationId xmlns:a16="http://schemas.microsoft.com/office/drawing/2014/main" id="{154C1432-4F85-1F42-8016-9B83B89C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3510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n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590CF35B-F516-4A5B-A8AB-7A0A2836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3255409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49263" indent="-196850">
              <a:lnSpc>
                <a:spcPct val="100000"/>
              </a:lnSpc>
              <a:tabLst/>
              <a:defRPr/>
            </a:lvl3pPr>
            <a:lvl4pPr marL="541338" indent="-180975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87E2C692-2C39-4CA8-AA87-45E0F36B6A0E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E327627C-4BB8-4965-8107-0E7E741F83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3" name="Platshållare för innehåll 2">
            <a:extLst>
              <a:ext uri="{FF2B5EF4-FFF2-40B4-BE49-F238E27FC236}">
                <a16:creationId xmlns:a16="http://schemas.microsoft.com/office/drawing/2014/main" id="{B2D0E559-A900-41F3-93C5-387A7764A15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605297" y="1562400"/>
            <a:ext cx="3255409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39750" indent="-19685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7" name="Platshållare för innehåll 2">
            <a:extLst>
              <a:ext uri="{FF2B5EF4-FFF2-40B4-BE49-F238E27FC236}">
                <a16:creationId xmlns:a16="http://schemas.microsoft.com/office/drawing/2014/main" id="{E4E99B3B-ADB3-4D1A-9A7F-AA1B8528E6C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16194" y="1562400"/>
            <a:ext cx="3255409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40000" indent="-18000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F91A8E7B-C629-D343-8A83-7EB0ADF6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6766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16B191E2-1C71-4B4C-B562-DD793673C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73813" y="1562100"/>
            <a:ext cx="4994275" cy="476885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FontTx/>
              <a:buNone/>
              <a:defRPr sz="800">
                <a:solidFill>
                  <a:srgbClr val="666666"/>
                </a:solidFill>
              </a:defRPr>
            </a:lvl1pPr>
          </a:lstStyle>
          <a:p>
            <a:r>
              <a:rPr lang="sv-SE"/>
              <a:t>INSERT IMAGE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 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9" name="Platshållare för innehåll 2">
            <a:extLst>
              <a:ext uri="{FF2B5EF4-FFF2-40B4-BE49-F238E27FC236}">
                <a16:creationId xmlns:a16="http://schemas.microsoft.com/office/drawing/2014/main" id="{590CF35B-F516-4A5B-A8AB-7A0A2836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400" y="1562400"/>
            <a:ext cx="4993785" cy="4768062"/>
          </a:xfrm>
        </p:spPr>
        <p:txBody>
          <a:bodyPr lIns="0" rIns="18000"/>
          <a:lstStyle>
            <a:lvl1pPr>
              <a:lnSpc>
                <a:spcPct val="100000"/>
              </a:lnSpc>
              <a:defRPr/>
            </a:lvl1pPr>
            <a:lvl2pPr marL="360000" indent="-216000">
              <a:lnSpc>
                <a:spcPct val="100000"/>
              </a:lnSpc>
              <a:tabLst/>
              <a:defRPr/>
            </a:lvl2pPr>
            <a:lvl3pPr marL="450000" indent="-198000">
              <a:lnSpc>
                <a:spcPct val="100000"/>
              </a:lnSpc>
              <a:tabLst/>
              <a:defRPr/>
            </a:lvl3pPr>
            <a:lvl4pPr marL="540000" indent="-180000">
              <a:lnSpc>
                <a:spcPct val="100000"/>
              </a:lnSpc>
              <a:tabLst/>
              <a:defRPr/>
            </a:lvl4pPr>
            <a:lvl5pPr marL="630000" indent="-162000">
              <a:lnSpc>
                <a:spcPct val="100000"/>
              </a:lnSpc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BC4F3A85-66E6-412A-97CD-99D922EFBEE2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506E76ED-0FF0-4A03-8EB9-06B57B12EC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5D496E45-863B-704B-B14F-5E0F5857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06655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.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tshållare för bild 12">
            <a:extLst>
              <a:ext uri="{FF2B5EF4-FFF2-40B4-BE49-F238E27FC236}">
                <a16:creationId xmlns:a16="http://schemas.microsoft.com/office/drawing/2014/main" id="{4FD00856-A3E1-48A7-B9CD-D7B89BD6A06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800"/>
            </a:lvl1pPr>
          </a:lstStyle>
          <a:p>
            <a:r>
              <a:rPr lang="sv-SE" dirty="0"/>
              <a:t>INSERT IMAGE</a:t>
            </a:r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A8D8C0FE-DA05-418D-9F18-A5A81125AD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24611" y="417443"/>
            <a:ext cx="828000" cy="799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latshållare för text 6">
            <a:extLst>
              <a:ext uri="{FF2B5EF4-FFF2-40B4-BE49-F238E27FC236}">
                <a16:creationId xmlns:a16="http://schemas.microsoft.com/office/drawing/2014/main" id="{1848DA8D-03CE-4CA5-A851-F6ABAE67A9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447675"/>
            <a:ext cx="292100" cy="6410325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00"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8F5BB748-C0D0-CB4F-BA93-7488E4BA7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Image </a:t>
            </a:r>
            <a:r>
              <a:rPr lang="sv-SE" dirty="0" err="1"/>
              <a:t>title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3286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A591D-7BEE-2A48-BD08-DCDF3D90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/>
              <a:t>PRESENTATION TITLE /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DD4ACE8-21C9-474B-A84B-6E399CB9FB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7" name="Platshållare för diagram 6">
            <a:extLst>
              <a:ext uri="{FF2B5EF4-FFF2-40B4-BE49-F238E27FC236}">
                <a16:creationId xmlns:a16="http://schemas.microsoft.com/office/drawing/2014/main" id="{FA784AEE-BB11-4271-AB33-DE077410560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1103313" y="1657350"/>
            <a:ext cx="7767637" cy="4445000"/>
          </a:xfrm>
        </p:spPr>
        <p:txBody>
          <a:bodyPr/>
          <a:lstStyle>
            <a:lvl1pPr algn="ctr">
              <a:defRPr sz="800" cap="all" baseline="0"/>
            </a:lvl1pPr>
          </a:lstStyle>
          <a:p>
            <a:r>
              <a:rPr lang="en-US"/>
              <a:t>Click icon to add chart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755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4C1ADE6-C058-9C40-B135-034EB97B43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3709" y="265373"/>
            <a:ext cx="9360000" cy="657339"/>
          </a:xfrm>
        </p:spPr>
        <p:txBody>
          <a:bodyPr lIns="90000" bIns="18000"/>
          <a:lstStyle>
            <a:lvl1pPr>
              <a:defRPr/>
            </a:lvl1pPr>
          </a:lstStyle>
          <a:p>
            <a:r>
              <a:rPr lang="sv-SE"/>
              <a:t>Headline</a:t>
            </a:r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A0D4D5C-5B1B-1441-A13B-8613512E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53244" y="6475270"/>
            <a:ext cx="4320448" cy="365125"/>
          </a:xfrm>
        </p:spPr>
        <p:txBody>
          <a:bodyPr/>
          <a:lstStyle/>
          <a:p>
            <a:r>
              <a:rPr lang="sv-SE" dirty="0"/>
              <a:t>PRESENTATION TITLE/FOOTER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84FAE50-4669-D540-A55E-354FF0C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5292" y="6475270"/>
            <a:ext cx="2743200" cy="365125"/>
          </a:xfrm>
        </p:spPr>
        <p:txBody>
          <a:bodyPr/>
          <a:lstStyle/>
          <a:p>
            <a:fld id="{F7283078-D760-1647-8B80-66BA8B52336D}" type="slidenum">
              <a:rPr lang="sv-SE" smtClean="0"/>
              <a:t>‹#›</a:t>
            </a:fld>
            <a:endParaRPr lang="sv-SE"/>
          </a:p>
        </p:txBody>
      </p:sp>
      <p:sp>
        <p:nvSpPr>
          <p:cNvPr id="14" name="Platshållare för text 13">
            <a:extLst>
              <a:ext uri="{FF2B5EF4-FFF2-40B4-BE49-F238E27FC236}">
                <a16:creationId xmlns:a16="http://schemas.microsoft.com/office/drawing/2014/main" id="{DD16215C-7D16-4D0F-BA5D-E02EED6FB2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3709" y="931026"/>
            <a:ext cx="9360000" cy="507076"/>
          </a:xfrm>
        </p:spPr>
        <p:txBody>
          <a:bodyPr lIns="90000" tIns="1800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200">
                <a:solidFill>
                  <a:schemeClr val="accent1"/>
                </a:solidFill>
              </a:defRPr>
            </a:lvl1pPr>
            <a:lvl2pPr marL="82550" indent="0">
              <a:buNone/>
              <a:defRPr/>
            </a:lvl2pPr>
          </a:lstStyle>
          <a:p>
            <a:pPr lvl="0"/>
            <a:r>
              <a:rPr lang="sv-SE"/>
              <a:t>Sub-headline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5E954D6-E4D2-47AD-A504-7408EC606D35}"/>
              </a:ext>
            </a:extLst>
          </p:cNvPr>
          <p:cNvSpPr/>
          <p:nvPr userDrawn="1"/>
        </p:nvSpPr>
        <p:spPr>
          <a:xfrm>
            <a:off x="0" y="447675"/>
            <a:ext cx="292101" cy="641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6DD4ACE8-21C9-474B-A84B-6E399CB9FB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24611" y="417443"/>
            <a:ext cx="826394" cy="800100"/>
          </a:xfrm>
          <a:prstGeom prst="rect">
            <a:avLst/>
          </a:prstGeom>
        </p:spPr>
      </p:pic>
      <p:sp>
        <p:nvSpPr>
          <p:cNvPr id="8" name="Platshållare för tabell 7">
            <a:extLst>
              <a:ext uri="{FF2B5EF4-FFF2-40B4-BE49-F238E27FC236}">
                <a16:creationId xmlns:a16="http://schemas.microsoft.com/office/drawing/2014/main" id="{489D1BD7-202A-4115-BE6C-1B053CFFDE1E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1103313" y="1614488"/>
            <a:ext cx="9359900" cy="4406900"/>
          </a:xfrm>
        </p:spPr>
        <p:txBody>
          <a:bodyPr/>
          <a:lstStyle>
            <a:lvl1pPr algn="ctr">
              <a:defRPr sz="800" cap="all" baseline="0"/>
            </a:lvl1pPr>
          </a:lstStyle>
          <a:p>
            <a:r>
              <a:rPr lang="en-US"/>
              <a:t>Click icon to add table</a:t>
            </a:r>
            <a:endParaRPr lang="sv-SE"/>
          </a:p>
        </p:txBody>
      </p:sp>
      <p:sp>
        <p:nvSpPr>
          <p:cNvPr id="12" name="Platshållare för datum 3">
            <a:extLst>
              <a:ext uri="{FF2B5EF4-FFF2-40B4-BE49-F238E27FC236}">
                <a16:creationId xmlns:a16="http://schemas.microsoft.com/office/drawing/2014/main" id="{EF177138-95E5-674B-B010-143A8CD1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2518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BE7B1DDB-F4AA-4E8D-BD07-905FE45A5555}"/>
              </a:ext>
            </a:extLst>
          </p:cNvPr>
          <p:cNvSpPr/>
          <p:nvPr userDrawn="1"/>
        </p:nvSpPr>
        <p:spPr>
          <a:xfrm>
            <a:off x="0" y="388593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4780BC8-191C-6D4B-93F3-54A06FD4F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0395" y="1153621"/>
            <a:ext cx="8640000" cy="238760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20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EC66F586-F662-4573-A59B-7D4EDD05A153}"/>
              </a:ext>
            </a:extLst>
          </p:cNvPr>
          <p:cNvSpPr/>
          <p:nvPr userDrawn="1"/>
        </p:nvSpPr>
        <p:spPr>
          <a:xfrm>
            <a:off x="-2" y="447675"/>
            <a:ext cx="292101" cy="6410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3193CED5-E020-4279-918D-055F43A91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4611" y="417443"/>
            <a:ext cx="82639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79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81532B06-EA3A-AA45-A1FA-C8E1873F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709" y="281999"/>
            <a:ext cx="9478393" cy="657340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6E4D6F2-5CFB-9D4E-AED8-120937FE25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5647" y="6483583"/>
            <a:ext cx="832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spc="80" baseline="0">
                <a:solidFill>
                  <a:srgbClr val="CCCCCC"/>
                </a:solidFill>
              </a:defRPr>
            </a:lvl1pPr>
          </a:lstStyle>
          <a:p>
            <a:fld id="{926FFDD8-E9D5-414B-9D01-E73C6B8A8FCA}" type="datetime1">
              <a:rPr lang="sv-SE" smtClean="0"/>
              <a:t>2025-11-03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15FD9D7-4C35-3343-B008-A413FF500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244" y="648358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80" baseline="0">
                <a:solidFill>
                  <a:srgbClr val="CCCCCC"/>
                </a:solidFill>
              </a:defRPr>
            </a:lvl1pPr>
          </a:lstStyle>
          <a:p>
            <a:r>
              <a:rPr lang="sv-SE"/>
              <a:t>PRESENTATION TITLE / FOOTER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F6B396D-270A-E047-8DAD-6D51B53CA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5292" y="64835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>
                <a:solidFill>
                  <a:schemeClr val="accent1"/>
                </a:solidFill>
              </a:defRPr>
            </a:lvl1pPr>
          </a:lstStyle>
          <a:p>
            <a:fld id="{F7283078-D760-1647-8B80-66BA8B52336D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11" name="Platshållare för text 2">
            <a:extLst>
              <a:ext uri="{FF2B5EF4-FFF2-40B4-BE49-F238E27FC236}">
                <a16:creationId xmlns:a16="http://schemas.microsoft.com/office/drawing/2014/main" id="{CD0A89FF-22DC-4B6A-B9ED-60B2F32ED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5894" y="1561865"/>
            <a:ext cx="9561022" cy="4565397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</p:spTree>
    <p:extLst>
      <p:ext uri="{BB962C8B-B14F-4D97-AF65-F5344CB8AC3E}">
        <p14:creationId xmlns:p14="http://schemas.microsoft.com/office/powerpoint/2010/main" val="825848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65" r:id="rId3"/>
    <p:sldLayoutId id="2147483667" r:id="rId4"/>
    <p:sldLayoutId id="2147483669" r:id="rId5"/>
    <p:sldLayoutId id="2147483650" r:id="rId6"/>
    <p:sldLayoutId id="2147483668" r:id="rId7"/>
    <p:sldLayoutId id="2147483662" r:id="rId8"/>
    <p:sldLayoutId id="2147483664" r:id="rId9"/>
    <p:sldLayoutId id="2147483663" r:id="rId10"/>
    <p:sldLayoutId id="2147483666" r:id="rId11"/>
    <p:sldLayoutId id="214748367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rgbClr val="666666"/>
          </a:solidFill>
          <a:latin typeface="+mj-lt"/>
          <a:ea typeface="+mj-ea"/>
          <a:cs typeface="+mj-cs"/>
        </a:defRPr>
      </a:lvl1pPr>
    </p:titleStyle>
    <p:bodyStyle>
      <a:lvl1pPr marL="101600" indent="-101600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Segoe UI" panose="020B0502040204020203" pitchFamily="34" charset="0"/>
        <a:buChar char=" "/>
        <a:defRPr sz="2000" kern="1200">
          <a:solidFill>
            <a:srgbClr val="666666"/>
          </a:solidFill>
          <a:latin typeface="+mn-lt"/>
          <a:ea typeface="+mn-ea"/>
          <a:cs typeface="+mn-cs"/>
        </a:defRPr>
      </a:lvl1pPr>
      <a:lvl2pPr marL="315913" indent="-233363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Wingdings" panose="05000000000000000000" pitchFamily="2" charset="2"/>
        <a:buChar char=""/>
        <a:defRPr sz="2000" kern="1200">
          <a:solidFill>
            <a:srgbClr val="666666"/>
          </a:solidFill>
          <a:latin typeface="+mn-lt"/>
          <a:ea typeface="+mn-ea"/>
          <a:cs typeface="+mn-cs"/>
        </a:defRPr>
      </a:lvl2pPr>
      <a:lvl3pPr marL="582613" indent="-250825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Arial" panose="020B0604020202020204" pitchFamily="34" charset="0"/>
        <a:buChar char="−"/>
        <a:defRPr sz="1800" kern="1200">
          <a:solidFill>
            <a:srgbClr val="666666"/>
          </a:solidFill>
          <a:latin typeface="+mn-lt"/>
          <a:ea typeface="+mn-ea"/>
          <a:cs typeface="+mn-cs"/>
        </a:defRPr>
      </a:lvl3pPr>
      <a:lvl4pPr marL="839788" indent="-233363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Arial" panose="020B0604020202020204" pitchFamily="34" charset="0"/>
        <a:buChar char="−"/>
        <a:defRPr sz="1600" kern="1200">
          <a:solidFill>
            <a:srgbClr val="666666"/>
          </a:solidFill>
          <a:latin typeface="+mn-lt"/>
          <a:ea typeface="+mn-ea"/>
          <a:cs typeface="+mn-cs"/>
        </a:defRPr>
      </a:lvl4pPr>
      <a:lvl5pPr marL="1055688" indent="-200025" algn="l" defTabSz="914400" rtl="0" eaLnBrk="1" latinLnBrk="0" hangingPunct="1">
        <a:lnSpc>
          <a:spcPct val="100000"/>
        </a:lnSpc>
        <a:spcBef>
          <a:spcPts val="1000"/>
        </a:spcBef>
        <a:buClr>
          <a:srgbClr val="666666"/>
        </a:buClr>
        <a:buFont typeface="Arial" panose="020B0604020202020204" pitchFamily="34" charset="0"/>
        <a:buChar char="−"/>
        <a:defRPr sz="1400" kern="1200">
          <a:solidFill>
            <a:srgbClr val="66666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4C96C-BA4C-89CD-A743-E6346556B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D41D3B-F658-DF57-CC14-D2B83D49D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Investigating instrument resolution with </a:t>
            </a:r>
            <a:r>
              <a:rPr lang="en-GB" dirty="0" err="1"/>
              <a:t>McStas</a:t>
            </a:r>
            <a:endParaRPr lang="en-GB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9DACCBF-E74A-358D-308F-265B8036E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ISIS 2025 </a:t>
            </a:r>
            <a:r>
              <a:rPr lang="en-GB" dirty="0" err="1"/>
              <a:t>McStas</a:t>
            </a:r>
            <a:r>
              <a:rPr lang="en-GB" dirty="0"/>
              <a:t> School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485126B-27BC-887D-AE2C-5C89313824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PRESENTED BY Mads Bertelsen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0630169A-9E9E-E76B-6807-4E50D50C45C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930395" y="6117873"/>
            <a:ext cx="3215183" cy="459883"/>
          </a:xfrm>
        </p:spPr>
        <p:txBody>
          <a:bodyPr/>
          <a:lstStyle/>
          <a:p>
            <a:fld id="{18896B66-0B3A-474C-9C9C-E4F07B1F5DAD}" type="datetime1">
              <a:rPr lang="sv-SE" sz="1200" b="1">
                <a:solidFill>
                  <a:schemeClr val="bg1"/>
                </a:solidFill>
              </a:rPr>
              <a:pPr/>
              <a:t>2025-11-03</a:t>
            </a:fld>
            <a:endParaRPr lang="en-GB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040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86967-26FE-204D-EAB6-0B063E49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6713083-767C-C55E-F59B-4C164C65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DC549B9-A321-39F5-4BEF-BA65D6F5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96EF3D2-4008-F6D8-1D4D-19A063E6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2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463F1140-93E4-A30C-3044-DA692AC7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8" y="1562400"/>
            <a:ext cx="9998981" cy="4768062"/>
          </a:xfrm>
        </p:spPr>
        <p:txBody>
          <a:bodyPr/>
          <a:lstStyle/>
          <a:p>
            <a:pPr marL="142875" lvl="1" indent="0">
              <a:buNone/>
            </a:pPr>
            <a:r>
              <a:rPr lang="en-US" dirty="0"/>
              <a:t>Two important concepts:</a:t>
            </a:r>
          </a:p>
          <a:p>
            <a:pPr lvl="1"/>
            <a:r>
              <a:rPr lang="en-US" b="1" dirty="0"/>
              <a:t>Point spread function</a:t>
            </a:r>
            <a:r>
              <a:rPr lang="en-US" dirty="0"/>
              <a:t>: Distribution on detector from specific </a:t>
            </a:r>
            <a:r>
              <a:rPr lang="en-US" b="1" dirty="0"/>
              <a:t>q</a:t>
            </a:r>
            <a:r>
              <a:rPr lang="en-US" dirty="0"/>
              <a:t>, E</a:t>
            </a:r>
          </a:p>
          <a:p>
            <a:pPr lvl="2"/>
            <a:r>
              <a:rPr lang="en-US" dirty="0"/>
              <a:t>Used to build expected detector response from known </a:t>
            </a:r>
            <a:r>
              <a:rPr lang="en-US" b="1" dirty="0"/>
              <a:t>q</a:t>
            </a:r>
            <a:r>
              <a:rPr lang="en-US" dirty="0"/>
              <a:t>, E distribution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Detector response</a:t>
            </a:r>
            <a:r>
              <a:rPr lang="en-US" dirty="0"/>
              <a:t>: Distribution of </a:t>
            </a:r>
            <a:r>
              <a:rPr lang="en-US" b="1" dirty="0"/>
              <a:t>q</a:t>
            </a:r>
            <a:r>
              <a:rPr lang="en-US" dirty="0"/>
              <a:t>, E measured by part of detector (pixel, time)</a:t>
            </a:r>
          </a:p>
          <a:p>
            <a:pPr lvl="2"/>
            <a:r>
              <a:rPr lang="en-US" dirty="0"/>
              <a:t>Used to build up map of </a:t>
            </a:r>
            <a:r>
              <a:rPr lang="en-US" b="1" dirty="0"/>
              <a:t>q</a:t>
            </a:r>
            <a:r>
              <a:rPr lang="en-US" dirty="0"/>
              <a:t>, E measured from detector response</a:t>
            </a:r>
          </a:p>
          <a:p>
            <a:pPr marL="252413" lvl="2" indent="0">
              <a:buNone/>
            </a:pPr>
            <a:endParaRPr lang="en-US" dirty="0"/>
          </a:p>
          <a:p>
            <a:pPr lvl="1"/>
            <a:r>
              <a:rPr lang="en-US" dirty="0"/>
              <a:t>Depends on almost all aspects of instrument:	</a:t>
            </a:r>
          </a:p>
          <a:p>
            <a:pPr lvl="2"/>
            <a:r>
              <a:rPr lang="en-US" dirty="0"/>
              <a:t>Source size/time structure, optics, sample size/shape, detector, …</a:t>
            </a:r>
          </a:p>
          <a:p>
            <a:pPr marL="252413" lvl="2" indent="0">
              <a:buNone/>
            </a:pPr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E72DDE28-6B52-A995-9D0C-52086D2DF0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What do we mean by instrument resolution?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71747ED9-B814-3957-6D1C-48F743BF6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3069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FFDD2-59D7-1612-DFFB-442A4D1B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601F29D-182F-2EA2-D1F8-EBE3BF62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13F073E6-CF72-CA27-FE45-DAE58DD0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6990E34-78A6-7B9B-F51A-6CE119B5B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3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4027E7D0-FB76-82A4-F0E8-FF96F07EB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9114726" cy="4768062"/>
          </a:xfrm>
        </p:spPr>
        <p:txBody>
          <a:bodyPr/>
          <a:lstStyle/>
          <a:p>
            <a:pPr marL="142875" lvl="1" indent="0">
              <a:buNone/>
            </a:pPr>
            <a:r>
              <a:rPr lang="en-US" b="1" dirty="0" err="1"/>
              <a:t>Spot_sample</a:t>
            </a:r>
            <a:r>
              <a:rPr lang="en-US" b="1" dirty="0"/>
              <a:t> </a:t>
            </a:r>
            <a:r>
              <a:rPr lang="en-US" dirty="0"/>
              <a:t>(in </a:t>
            </a:r>
            <a:r>
              <a:rPr lang="en-US" dirty="0" err="1"/>
              <a:t>Contrib</a:t>
            </a:r>
            <a:r>
              <a:rPr lang="en-US" dirty="0"/>
              <a:t>, by Garrett Granroth)</a:t>
            </a:r>
          </a:p>
          <a:p>
            <a:pPr lvl="1"/>
            <a:r>
              <a:rPr lang="en-US" dirty="0"/>
              <a:t>Number of spots in </a:t>
            </a:r>
            <a:r>
              <a:rPr lang="en-US" b="1" dirty="0"/>
              <a:t>q</a:t>
            </a:r>
            <a:r>
              <a:rPr lang="en-US" dirty="0"/>
              <a:t>, E</a:t>
            </a:r>
          </a:p>
          <a:p>
            <a:pPr lvl="1"/>
            <a:r>
              <a:rPr lang="en-US" dirty="0"/>
              <a:t>Probes the point spread function for all these spots in one simulation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E6E46E26-30A0-1502-77AD-FFF5907EC1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Tools for point spread function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EBB3B81F-C651-D3E8-A8F4-1D1EF8EF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5831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538C7-9A54-3AF4-430A-8B3FA3A3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FEF00C0-408E-1DD8-9076-C18B4A9D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1219B6D-DF86-60AF-23EC-A31FCB6D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87BE70AA-91FC-200E-9066-949BD5A21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4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EA7D7C5-FF50-39A5-8D03-870E3F035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8" y="1562400"/>
            <a:ext cx="10049223" cy="4768062"/>
          </a:xfrm>
        </p:spPr>
        <p:txBody>
          <a:bodyPr/>
          <a:lstStyle/>
          <a:p>
            <a:pPr lvl="1"/>
            <a:r>
              <a:rPr lang="en-US" dirty="0"/>
              <a:t>Continuous measurements </a:t>
            </a:r>
            <a:r>
              <a:rPr lang="en-US" b="1" dirty="0" err="1"/>
              <a:t>Res_sample.comp</a:t>
            </a:r>
            <a:r>
              <a:rPr lang="en-US" b="1" dirty="0"/>
              <a:t> / </a:t>
            </a:r>
            <a:r>
              <a:rPr lang="en-US" b="1" dirty="0" err="1"/>
              <a:t>Res_monitor.comp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0D600A4A-D892-BA21-CB76-FF529927EA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Tools for detector response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37AC5470-F33A-A5A3-BC19-61F9D57915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5597F10-C850-ADF4-D347-8738D324ECE9}"/>
              </a:ext>
            </a:extLst>
          </p:cNvPr>
          <p:cNvCxnSpPr/>
          <p:nvPr/>
        </p:nvCxnSpPr>
        <p:spPr>
          <a:xfrm>
            <a:off x="2433260" y="3290288"/>
            <a:ext cx="2984360" cy="462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8CF2CD4-A4E2-8634-5C83-7DD9984335D9}"/>
              </a:ext>
            </a:extLst>
          </p:cNvPr>
          <p:cNvCxnSpPr/>
          <p:nvPr/>
        </p:nvCxnSpPr>
        <p:spPr>
          <a:xfrm>
            <a:off x="2304306" y="3929976"/>
            <a:ext cx="2984360" cy="462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4742C0-8021-B167-383F-3560DFBB6ADF}"/>
              </a:ext>
            </a:extLst>
          </p:cNvPr>
          <p:cNvCxnSpPr>
            <a:cxnSpLocks/>
          </p:cNvCxnSpPr>
          <p:nvPr/>
        </p:nvCxnSpPr>
        <p:spPr>
          <a:xfrm flipV="1">
            <a:off x="1912313" y="3137888"/>
            <a:ext cx="137327" cy="792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5B3E38-D486-E761-3B1A-07E1D0C52E0C}"/>
              </a:ext>
            </a:extLst>
          </p:cNvPr>
          <p:cNvGrpSpPr/>
          <p:nvPr/>
        </p:nvGrpSpPr>
        <p:grpSpPr>
          <a:xfrm>
            <a:off x="6010041" y="3929976"/>
            <a:ext cx="979254" cy="713333"/>
            <a:chOff x="5346185" y="3699641"/>
            <a:chExt cx="1400936" cy="1020505"/>
          </a:xfrm>
        </p:grpSpPr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F909FD4-0A09-C415-647B-7FB3F0A6BCF7}"/>
                </a:ext>
              </a:extLst>
            </p:cNvPr>
            <p:cNvSpPr/>
            <p:nvPr/>
          </p:nvSpPr>
          <p:spPr>
            <a:xfrm>
              <a:off x="5370786" y="3699641"/>
              <a:ext cx="1355835" cy="357352"/>
            </a:xfrm>
            <a:custGeom>
              <a:avLst/>
              <a:gdLst>
                <a:gd name="connsiteX0" fmla="*/ 0 w 1355835"/>
                <a:gd name="connsiteY0" fmla="*/ 105104 h 357352"/>
                <a:gd name="connsiteX1" fmla="*/ 525517 w 1355835"/>
                <a:gd name="connsiteY1" fmla="*/ 357352 h 357352"/>
                <a:gd name="connsiteX2" fmla="*/ 1355835 w 1355835"/>
                <a:gd name="connsiteY2" fmla="*/ 220718 h 357352"/>
                <a:gd name="connsiteX3" fmla="*/ 819807 w 1355835"/>
                <a:gd name="connsiteY3" fmla="*/ 0 h 357352"/>
                <a:gd name="connsiteX4" fmla="*/ 0 w 1355835"/>
                <a:gd name="connsiteY4" fmla="*/ 105104 h 3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835" h="357352">
                  <a:moveTo>
                    <a:pt x="0" y="105104"/>
                  </a:moveTo>
                  <a:lnTo>
                    <a:pt x="525517" y="357352"/>
                  </a:lnTo>
                  <a:lnTo>
                    <a:pt x="1355835" y="220718"/>
                  </a:lnTo>
                  <a:lnTo>
                    <a:pt x="819807" y="0"/>
                  </a:lnTo>
                  <a:lnTo>
                    <a:pt x="0" y="105104"/>
                  </a:lnTo>
                  <a:close/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7CE62E3-68FB-06C8-5B8B-630417B02DB8}"/>
                </a:ext>
              </a:extLst>
            </p:cNvPr>
            <p:cNvSpPr/>
            <p:nvPr/>
          </p:nvSpPr>
          <p:spPr>
            <a:xfrm>
              <a:off x="5370785" y="4362794"/>
              <a:ext cx="1355835" cy="357352"/>
            </a:xfrm>
            <a:custGeom>
              <a:avLst/>
              <a:gdLst>
                <a:gd name="connsiteX0" fmla="*/ 0 w 1355835"/>
                <a:gd name="connsiteY0" fmla="*/ 105104 h 357352"/>
                <a:gd name="connsiteX1" fmla="*/ 525517 w 1355835"/>
                <a:gd name="connsiteY1" fmla="*/ 357352 h 357352"/>
                <a:gd name="connsiteX2" fmla="*/ 1355835 w 1355835"/>
                <a:gd name="connsiteY2" fmla="*/ 220718 h 357352"/>
                <a:gd name="connsiteX3" fmla="*/ 819807 w 1355835"/>
                <a:gd name="connsiteY3" fmla="*/ 0 h 357352"/>
                <a:gd name="connsiteX4" fmla="*/ 0 w 1355835"/>
                <a:gd name="connsiteY4" fmla="*/ 105104 h 3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835" h="357352">
                  <a:moveTo>
                    <a:pt x="0" y="105104"/>
                  </a:moveTo>
                  <a:lnTo>
                    <a:pt x="525517" y="357352"/>
                  </a:lnTo>
                  <a:lnTo>
                    <a:pt x="1355835" y="220718"/>
                  </a:lnTo>
                  <a:lnTo>
                    <a:pt x="819807" y="0"/>
                  </a:lnTo>
                  <a:lnTo>
                    <a:pt x="0" y="105104"/>
                  </a:lnTo>
                  <a:close/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7ADEF01-6A3B-60D6-D6E6-C8D95D445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185" y="3804745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3572908-8BAF-184A-447F-8ECD573B901A}"/>
                </a:ext>
              </a:extLst>
            </p:cNvPr>
            <p:cNvCxnSpPr>
              <a:stCxn id="42" idx="1"/>
              <a:endCxn id="43" idx="1"/>
            </p:cNvCxnSpPr>
            <p:nvPr/>
          </p:nvCxnSpPr>
          <p:spPr>
            <a:xfrm flipH="1">
              <a:off x="5896302" y="4056993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365B569-1168-40C2-5F6B-A01424EE8818}"/>
                </a:ext>
              </a:extLst>
            </p:cNvPr>
            <p:cNvCxnSpPr>
              <a:stCxn id="42" idx="3"/>
              <a:endCxn id="43" idx="3"/>
            </p:cNvCxnSpPr>
            <p:nvPr/>
          </p:nvCxnSpPr>
          <p:spPr>
            <a:xfrm flipH="1">
              <a:off x="6190592" y="3699641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0157F59-3F9A-750B-7B97-A3FC8EA2C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7120" y="3920359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C317D72-4240-A1EE-C45C-B228E3AD4AB7}"/>
              </a:ext>
            </a:extLst>
          </p:cNvPr>
          <p:cNvCxnSpPr>
            <a:cxnSpLocks/>
          </p:cNvCxnSpPr>
          <p:nvPr/>
        </p:nvCxnSpPr>
        <p:spPr>
          <a:xfrm flipH="1" flipV="1">
            <a:off x="9591422" y="3189173"/>
            <a:ext cx="141601" cy="6396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69752A76-6124-0C6E-7622-1A0413BF96B8}"/>
              </a:ext>
            </a:extLst>
          </p:cNvPr>
          <p:cNvCxnSpPr>
            <a:cxnSpLocks/>
          </p:cNvCxnSpPr>
          <p:nvPr/>
        </p:nvCxnSpPr>
        <p:spPr>
          <a:xfrm flipH="1">
            <a:off x="6600281" y="3201556"/>
            <a:ext cx="2920341" cy="1114474"/>
          </a:xfrm>
          <a:prstGeom prst="line">
            <a:avLst/>
          </a:prstGeom>
          <a:ln w="38100">
            <a:solidFill>
              <a:schemeClr val="accent1">
                <a:alpha val="71867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219C1F1-C0CE-0FD5-A681-519F5987C6C0}"/>
              </a:ext>
            </a:extLst>
          </p:cNvPr>
          <p:cNvCxnSpPr>
            <a:cxnSpLocks/>
          </p:cNvCxnSpPr>
          <p:nvPr/>
        </p:nvCxnSpPr>
        <p:spPr>
          <a:xfrm flipH="1">
            <a:off x="6600280" y="3906351"/>
            <a:ext cx="3126049" cy="409679"/>
          </a:xfrm>
          <a:prstGeom prst="line">
            <a:avLst/>
          </a:prstGeom>
          <a:ln w="38100">
            <a:solidFill>
              <a:schemeClr val="accent1">
                <a:alpha val="71867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1CEBDD7-E804-67BB-5D69-5E16EA0E6EEB}"/>
              </a:ext>
            </a:extLst>
          </p:cNvPr>
          <p:cNvSpPr txBox="1"/>
          <p:nvPr/>
        </p:nvSpPr>
        <p:spPr>
          <a:xfrm>
            <a:off x="1311332" y="2591092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6666"/>
                </a:solidFill>
              </a:rPr>
              <a:t>Start of instrument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05E55C-ABDD-CDB4-9D2C-C2B756DB7D52}"/>
              </a:ext>
            </a:extLst>
          </p:cNvPr>
          <p:cNvSpPr txBox="1"/>
          <p:nvPr/>
        </p:nvSpPr>
        <p:spPr>
          <a:xfrm>
            <a:off x="5851968" y="3303574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solidFill>
                  <a:srgbClr val="666666"/>
                </a:solidFill>
              </a:rPr>
              <a:t>Res_sample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0A3BB6-5976-3048-7C7A-910F9E36E493}"/>
              </a:ext>
            </a:extLst>
          </p:cNvPr>
          <p:cNvSpPr txBox="1"/>
          <p:nvPr/>
        </p:nvSpPr>
        <p:spPr>
          <a:xfrm>
            <a:off x="9156358" y="2664493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solidFill>
                  <a:srgbClr val="666666"/>
                </a:solidFill>
              </a:rPr>
              <a:t>Res_monitor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D312FE-8589-201D-DE0D-0F9F603A7679}"/>
              </a:ext>
            </a:extLst>
          </p:cNvPr>
          <p:cNvSpPr txBox="1"/>
          <p:nvPr/>
        </p:nvSpPr>
        <p:spPr>
          <a:xfrm>
            <a:off x="7476669" y="4701387"/>
            <a:ext cx="4787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6666"/>
                </a:solidFill>
              </a:rPr>
              <a:t>Sample sends rays towards monitor.</a:t>
            </a:r>
          </a:p>
          <a:p>
            <a:pPr algn="l"/>
            <a:r>
              <a:rPr lang="en-US" dirty="0">
                <a:solidFill>
                  <a:srgbClr val="666666"/>
                </a:solidFill>
              </a:rPr>
              <a:t>Selects random final energy in given interval.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6A1792-9607-BB92-AE83-D49D7F99AF31}"/>
              </a:ext>
            </a:extLst>
          </p:cNvPr>
          <p:cNvSpPr txBox="1"/>
          <p:nvPr/>
        </p:nvSpPr>
        <p:spPr>
          <a:xfrm>
            <a:off x="707211" y="5259609"/>
            <a:ext cx="6683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666666"/>
                </a:solidFill>
              </a:rPr>
              <a:t>Sample records </a:t>
            </a:r>
            <a:r>
              <a:rPr lang="en-US" sz="2800" b="1" dirty="0">
                <a:solidFill>
                  <a:srgbClr val="666666"/>
                </a:solidFill>
              </a:rPr>
              <a:t>q</a:t>
            </a:r>
            <a:r>
              <a:rPr lang="en-US" sz="2800" dirty="0">
                <a:solidFill>
                  <a:srgbClr val="666666"/>
                </a:solidFill>
              </a:rPr>
              <a:t>, E for each event</a:t>
            </a:r>
          </a:p>
          <a:p>
            <a:pPr algn="l"/>
            <a:r>
              <a:rPr lang="en-US" sz="2800" dirty="0">
                <a:solidFill>
                  <a:srgbClr val="666666"/>
                </a:solidFill>
              </a:rPr>
              <a:t>Monitor histograms those that reach it</a:t>
            </a:r>
          </a:p>
        </p:txBody>
      </p:sp>
    </p:spTree>
    <p:extLst>
      <p:ext uri="{BB962C8B-B14F-4D97-AF65-F5344CB8AC3E}">
        <p14:creationId xmlns:p14="http://schemas.microsoft.com/office/powerpoint/2010/main" val="383241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2D25-BF3E-CFAF-ACA0-591E2C55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BCCA14F-4DA9-A8BC-BDE6-86082B56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B9CD2B61-F0A1-C9A7-671C-569F4B832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48F06AD-D7A8-0180-52F5-430ED8127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5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18C416A-7D2F-C4E2-89E0-179A70F78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9114726" cy="4768062"/>
          </a:xfrm>
        </p:spPr>
        <p:txBody>
          <a:bodyPr/>
          <a:lstStyle/>
          <a:p>
            <a:pPr marL="142875" lvl="1" indent="0">
              <a:buNone/>
            </a:pPr>
            <a:r>
              <a:rPr lang="en-US" dirty="0"/>
              <a:t>Terminal tool: </a:t>
            </a:r>
            <a:r>
              <a:rPr lang="en-US" dirty="0" err="1"/>
              <a:t>mcresplot</a:t>
            </a:r>
            <a:r>
              <a:rPr lang="en-US" dirty="0"/>
              <a:t> 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964BFBCB-F0DB-05D7-1DE9-AB7DDF24AF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Tools for detector response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69C04A15-CDE3-4C3D-6921-A11F657A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FDF3D5-1B4B-439C-6A4F-EA9E9E71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078" y="17605"/>
            <a:ext cx="524798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EE92E6-634B-BA1A-A6AA-352D393A3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882" y="1446416"/>
            <a:ext cx="7772400" cy="58418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24C98F-385B-49D4-6949-9549CBC4B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92" y="2186468"/>
            <a:ext cx="5635654" cy="49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12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FD25-A89D-8395-F7E0-826DB9925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C98715B-BC77-E436-9BA4-3BB84D93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B5759AA-2029-514B-1BAB-F32EBFB11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8261DE5-FFAB-3F8F-6393-2180D604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6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239B4C0-4EBF-DE90-C48F-82F622EE7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8" y="1562400"/>
            <a:ext cx="10049223" cy="4768062"/>
          </a:xfrm>
        </p:spPr>
        <p:txBody>
          <a:bodyPr/>
          <a:lstStyle/>
          <a:p>
            <a:pPr lvl="1"/>
            <a:r>
              <a:rPr lang="en-US" dirty="0"/>
              <a:t>Time of flight measurements </a:t>
            </a:r>
            <a:r>
              <a:rPr lang="en-US" b="1" dirty="0" err="1"/>
              <a:t>TOFRes_sample.comp</a:t>
            </a:r>
            <a:r>
              <a:rPr lang="en-US" b="1" dirty="0"/>
              <a:t> / </a:t>
            </a:r>
            <a:r>
              <a:rPr lang="en-US" b="1" dirty="0" err="1"/>
              <a:t>TOFRes_monitor.comp</a:t>
            </a:r>
            <a:endParaRPr lang="en-US" b="1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A8780A2-D2D8-3148-CC2F-5917C1E4C6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Tools for detector response TOF case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4D022EE7-73B4-F380-C871-1C87DD70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B08E86-0359-90B7-6C61-12429938BA0B}"/>
              </a:ext>
            </a:extLst>
          </p:cNvPr>
          <p:cNvCxnSpPr/>
          <p:nvPr/>
        </p:nvCxnSpPr>
        <p:spPr>
          <a:xfrm>
            <a:off x="2433260" y="3290288"/>
            <a:ext cx="2984360" cy="462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B7E772-536B-956F-EFD3-D993C5FD25E6}"/>
              </a:ext>
            </a:extLst>
          </p:cNvPr>
          <p:cNvCxnSpPr/>
          <p:nvPr/>
        </p:nvCxnSpPr>
        <p:spPr>
          <a:xfrm>
            <a:off x="2304306" y="3929976"/>
            <a:ext cx="2984360" cy="462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A7DF1AD-D68D-2E33-55DE-827600084573}"/>
              </a:ext>
            </a:extLst>
          </p:cNvPr>
          <p:cNvCxnSpPr>
            <a:cxnSpLocks/>
          </p:cNvCxnSpPr>
          <p:nvPr/>
        </p:nvCxnSpPr>
        <p:spPr>
          <a:xfrm flipV="1">
            <a:off x="1912313" y="3137888"/>
            <a:ext cx="137327" cy="792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E87611-800A-6C08-CF23-968308E96691}"/>
              </a:ext>
            </a:extLst>
          </p:cNvPr>
          <p:cNvGrpSpPr/>
          <p:nvPr/>
        </p:nvGrpSpPr>
        <p:grpSpPr>
          <a:xfrm>
            <a:off x="6010041" y="3929976"/>
            <a:ext cx="979254" cy="713333"/>
            <a:chOff x="5346185" y="3699641"/>
            <a:chExt cx="1400936" cy="1020505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468D47B-113D-8E4B-FBAC-228E62069C32}"/>
                </a:ext>
              </a:extLst>
            </p:cNvPr>
            <p:cNvSpPr/>
            <p:nvPr/>
          </p:nvSpPr>
          <p:spPr>
            <a:xfrm>
              <a:off x="5370786" y="3699641"/>
              <a:ext cx="1355835" cy="357352"/>
            </a:xfrm>
            <a:custGeom>
              <a:avLst/>
              <a:gdLst>
                <a:gd name="connsiteX0" fmla="*/ 0 w 1355835"/>
                <a:gd name="connsiteY0" fmla="*/ 105104 h 357352"/>
                <a:gd name="connsiteX1" fmla="*/ 525517 w 1355835"/>
                <a:gd name="connsiteY1" fmla="*/ 357352 h 357352"/>
                <a:gd name="connsiteX2" fmla="*/ 1355835 w 1355835"/>
                <a:gd name="connsiteY2" fmla="*/ 220718 h 357352"/>
                <a:gd name="connsiteX3" fmla="*/ 819807 w 1355835"/>
                <a:gd name="connsiteY3" fmla="*/ 0 h 357352"/>
                <a:gd name="connsiteX4" fmla="*/ 0 w 1355835"/>
                <a:gd name="connsiteY4" fmla="*/ 105104 h 3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835" h="357352">
                  <a:moveTo>
                    <a:pt x="0" y="105104"/>
                  </a:moveTo>
                  <a:lnTo>
                    <a:pt x="525517" y="357352"/>
                  </a:lnTo>
                  <a:lnTo>
                    <a:pt x="1355835" y="220718"/>
                  </a:lnTo>
                  <a:lnTo>
                    <a:pt x="819807" y="0"/>
                  </a:lnTo>
                  <a:lnTo>
                    <a:pt x="0" y="105104"/>
                  </a:lnTo>
                  <a:close/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7D7702C-9AE5-20C9-EF76-C3FB0A15D74C}"/>
                </a:ext>
              </a:extLst>
            </p:cNvPr>
            <p:cNvSpPr/>
            <p:nvPr/>
          </p:nvSpPr>
          <p:spPr>
            <a:xfrm>
              <a:off x="5370785" y="4362794"/>
              <a:ext cx="1355835" cy="357352"/>
            </a:xfrm>
            <a:custGeom>
              <a:avLst/>
              <a:gdLst>
                <a:gd name="connsiteX0" fmla="*/ 0 w 1355835"/>
                <a:gd name="connsiteY0" fmla="*/ 105104 h 357352"/>
                <a:gd name="connsiteX1" fmla="*/ 525517 w 1355835"/>
                <a:gd name="connsiteY1" fmla="*/ 357352 h 357352"/>
                <a:gd name="connsiteX2" fmla="*/ 1355835 w 1355835"/>
                <a:gd name="connsiteY2" fmla="*/ 220718 h 357352"/>
                <a:gd name="connsiteX3" fmla="*/ 819807 w 1355835"/>
                <a:gd name="connsiteY3" fmla="*/ 0 h 357352"/>
                <a:gd name="connsiteX4" fmla="*/ 0 w 1355835"/>
                <a:gd name="connsiteY4" fmla="*/ 105104 h 3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835" h="357352">
                  <a:moveTo>
                    <a:pt x="0" y="105104"/>
                  </a:moveTo>
                  <a:lnTo>
                    <a:pt x="525517" y="357352"/>
                  </a:lnTo>
                  <a:lnTo>
                    <a:pt x="1355835" y="220718"/>
                  </a:lnTo>
                  <a:lnTo>
                    <a:pt x="819807" y="0"/>
                  </a:lnTo>
                  <a:lnTo>
                    <a:pt x="0" y="105104"/>
                  </a:lnTo>
                  <a:close/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E466803-A003-CC7C-883A-52CC22EE49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185" y="3804745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32B25A7-4775-D797-AC3D-F66B60419D05}"/>
                </a:ext>
              </a:extLst>
            </p:cNvPr>
            <p:cNvCxnSpPr>
              <a:stCxn id="14" idx="1"/>
              <a:endCxn id="15" idx="1"/>
            </p:cNvCxnSpPr>
            <p:nvPr/>
          </p:nvCxnSpPr>
          <p:spPr>
            <a:xfrm flipH="1">
              <a:off x="5896302" y="4056993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217D721-9901-66A5-775A-0EF739CC542A}"/>
                </a:ext>
              </a:extLst>
            </p:cNvPr>
            <p:cNvCxnSpPr>
              <a:stCxn id="14" idx="3"/>
              <a:endCxn id="15" idx="3"/>
            </p:cNvCxnSpPr>
            <p:nvPr/>
          </p:nvCxnSpPr>
          <p:spPr>
            <a:xfrm flipH="1">
              <a:off x="6190592" y="3699641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1196113-F1FE-EA5D-9BFB-F9A125E036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7120" y="3920359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CA28B5-EE92-7300-2855-8258F8C305B6}"/>
              </a:ext>
            </a:extLst>
          </p:cNvPr>
          <p:cNvCxnSpPr>
            <a:cxnSpLocks/>
          </p:cNvCxnSpPr>
          <p:nvPr/>
        </p:nvCxnSpPr>
        <p:spPr>
          <a:xfrm flipH="1" flipV="1">
            <a:off x="9591422" y="3189173"/>
            <a:ext cx="141601" cy="6396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21FA87-A10C-0F9E-F25F-90558D2FD1BC}"/>
              </a:ext>
            </a:extLst>
          </p:cNvPr>
          <p:cNvCxnSpPr>
            <a:cxnSpLocks/>
          </p:cNvCxnSpPr>
          <p:nvPr/>
        </p:nvCxnSpPr>
        <p:spPr>
          <a:xfrm flipH="1">
            <a:off x="6600281" y="3201556"/>
            <a:ext cx="2920341" cy="1114474"/>
          </a:xfrm>
          <a:prstGeom prst="line">
            <a:avLst/>
          </a:prstGeom>
          <a:ln w="38100">
            <a:solidFill>
              <a:schemeClr val="accent1">
                <a:alpha val="71867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1C9F31-420A-B1E3-2FA5-5F265E80638D}"/>
              </a:ext>
            </a:extLst>
          </p:cNvPr>
          <p:cNvCxnSpPr>
            <a:cxnSpLocks/>
          </p:cNvCxnSpPr>
          <p:nvPr/>
        </p:nvCxnSpPr>
        <p:spPr>
          <a:xfrm flipH="1">
            <a:off x="6600280" y="3906351"/>
            <a:ext cx="3126049" cy="409679"/>
          </a:xfrm>
          <a:prstGeom prst="line">
            <a:avLst/>
          </a:prstGeom>
          <a:ln w="38100">
            <a:solidFill>
              <a:schemeClr val="accent1">
                <a:alpha val="71867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D6AAC5C-D34F-574F-5A27-CC2D4553259C}"/>
              </a:ext>
            </a:extLst>
          </p:cNvPr>
          <p:cNvSpPr txBox="1"/>
          <p:nvPr/>
        </p:nvSpPr>
        <p:spPr>
          <a:xfrm>
            <a:off x="1311332" y="2591092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6666"/>
                </a:solidFill>
              </a:rPr>
              <a:t>Start of instrument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35252B-C77F-2D1E-0C8D-991789AF6EF0}"/>
              </a:ext>
            </a:extLst>
          </p:cNvPr>
          <p:cNvSpPr txBox="1"/>
          <p:nvPr/>
        </p:nvSpPr>
        <p:spPr>
          <a:xfrm>
            <a:off x="5647572" y="3303574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solidFill>
                  <a:srgbClr val="666666"/>
                </a:solidFill>
              </a:rPr>
              <a:t>TOFRes_sample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FF97B3-EEC9-F374-A6D6-9EA7339A42C8}"/>
              </a:ext>
            </a:extLst>
          </p:cNvPr>
          <p:cNvSpPr txBox="1"/>
          <p:nvPr/>
        </p:nvSpPr>
        <p:spPr>
          <a:xfrm>
            <a:off x="8865900" y="2664493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666666"/>
                </a:solidFill>
              </a:rPr>
              <a:t>TOFRes_monitor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A3C9C1-2912-E93C-3424-B118212EF027}"/>
              </a:ext>
            </a:extLst>
          </p:cNvPr>
          <p:cNvSpPr txBox="1"/>
          <p:nvPr/>
        </p:nvSpPr>
        <p:spPr>
          <a:xfrm>
            <a:off x="7476669" y="4701387"/>
            <a:ext cx="4787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6666"/>
                </a:solidFill>
              </a:rPr>
              <a:t>Sample sends rays towards monitor.</a:t>
            </a:r>
          </a:p>
          <a:p>
            <a:pPr algn="l"/>
            <a:r>
              <a:rPr lang="en-US" dirty="0">
                <a:solidFill>
                  <a:srgbClr val="666666"/>
                </a:solidFill>
              </a:rPr>
              <a:t>Selects random final time in given interval.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610C9-5192-5F8A-ACE2-465F30631DA4}"/>
              </a:ext>
            </a:extLst>
          </p:cNvPr>
          <p:cNvSpPr txBox="1"/>
          <p:nvPr/>
        </p:nvSpPr>
        <p:spPr>
          <a:xfrm>
            <a:off x="707211" y="5259609"/>
            <a:ext cx="6683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666666"/>
                </a:solidFill>
              </a:rPr>
              <a:t>Sample records </a:t>
            </a:r>
            <a:r>
              <a:rPr lang="en-US" sz="2800" b="1" dirty="0">
                <a:solidFill>
                  <a:srgbClr val="666666"/>
                </a:solidFill>
              </a:rPr>
              <a:t>q</a:t>
            </a:r>
            <a:r>
              <a:rPr lang="en-US" sz="2800" dirty="0">
                <a:solidFill>
                  <a:srgbClr val="666666"/>
                </a:solidFill>
              </a:rPr>
              <a:t>, E for each event</a:t>
            </a:r>
          </a:p>
          <a:p>
            <a:pPr algn="l"/>
            <a:r>
              <a:rPr lang="en-US" sz="2800" dirty="0">
                <a:solidFill>
                  <a:srgbClr val="666666"/>
                </a:solidFill>
              </a:rPr>
              <a:t>Monitor histograms those that reach it</a:t>
            </a:r>
          </a:p>
        </p:txBody>
      </p:sp>
    </p:spTree>
    <p:extLst>
      <p:ext uri="{BB962C8B-B14F-4D97-AF65-F5344CB8AC3E}">
        <p14:creationId xmlns:p14="http://schemas.microsoft.com/office/powerpoint/2010/main" val="148837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07E3-866C-A402-BF88-63D84893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F04C806-526E-6E8C-F41F-8788C651D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71326C9-AFF5-2952-8D57-839B09D7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013041E0-4C5D-963A-A38B-27637752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7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B5C56459-77AF-AF26-09AA-471421DEE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9114726" cy="4768062"/>
          </a:xfrm>
        </p:spPr>
        <p:txBody>
          <a:bodyPr/>
          <a:lstStyle/>
          <a:p>
            <a:pPr marL="142875" lvl="1" indent="0">
              <a:buNone/>
            </a:pPr>
            <a:r>
              <a:rPr lang="en-US" dirty="0"/>
              <a:t>Terminal tool: </a:t>
            </a:r>
            <a:r>
              <a:rPr lang="en-US" dirty="0" err="1"/>
              <a:t>mcresplot</a:t>
            </a:r>
            <a:r>
              <a:rPr lang="en-US" dirty="0"/>
              <a:t> </a:t>
            </a:r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0B2F6865-F830-AAFE-1D66-EB16D8700F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Tools for detector response TOF case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8C55B955-A731-45CD-47BF-D0A7D95C77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2025-11-04</a:t>
            </a:fld>
            <a:endParaRPr lang="sv-S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E3FF35-7196-A563-914B-DF176DC0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715" y="-17605"/>
            <a:ext cx="5631644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BCEBDB-6F9A-B2BC-8612-011DDEA4F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767" y="1308471"/>
            <a:ext cx="6989802" cy="58149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1A2522-B1C9-79CE-730D-41C4671C5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922" y="1888143"/>
            <a:ext cx="5825716" cy="50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5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13CF2-E074-CAB5-C488-9AB2EB52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CE68981-56BD-F42D-152D-AEB21392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F9B2D41B-21FF-B426-FA90-DED098CA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5834B3D-82A8-650D-BA40-8F462835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8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F282C4E-E72C-8FBB-08A8-0654F52F1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9369309" cy="4768062"/>
          </a:xfrm>
        </p:spPr>
        <p:txBody>
          <a:bodyPr/>
          <a:lstStyle/>
          <a:p>
            <a:pPr lvl="1"/>
            <a:r>
              <a:rPr lang="en-US" dirty="0"/>
              <a:t>Separate for detector response and point spread function</a:t>
            </a:r>
          </a:p>
          <a:p>
            <a:pPr lvl="2"/>
            <a:r>
              <a:rPr lang="en-US" dirty="0"/>
              <a:t>Point spread function can be determined for n spots at once with </a:t>
            </a:r>
            <a:r>
              <a:rPr lang="en-US" dirty="0" err="1"/>
              <a:t>Spot_sample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For detector response</a:t>
            </a:r>
          </a:p>
          <a:p>
            <a:pPr lvl="2"/>
            <a:r>
              <a:rPr lang="en-US" dirty="0"/>
              <a:t>Existing solutions look at a single pixel (and time bin for TOF)</a:t>
            </a:r>
          </a:p>
          <a:p>
            <a:pPr lvl="2"/>
            <a:r>
              <a:rPr lang="en-US" dirty="0"/>
              <a:t>Getting resolution function for whole detector requires</a:t>
            </a:r>
          </a:p>
          <a:p>
            <a:pPr lvl="3"/>
            <a:r>
              <a:rPr lang="en-US" sz="1800" dirty="0"/>
              <a:t>Scan over instrument settings (incoming / final energy)</a:t>
            </a:r>
          </a:p>
          <a:p>
            <a:pPr lvl="3"/>
            <a:r>
              <a:rPr lang="en-US" sz="1800" dirty="0"/>
              <a:t>Either scan over all pixel positions or large number of components</a:t>
            </a:r>
          </a:p>
          <a:p>
            <a:pPr lvl="3"/>
            <a:r>
              <a:rPr lang="en-US" sz="1800" dirty="0"/>
              <a:t>For TOF instruments, scan over investigated time bin at given pixel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These components are admittedly designed for TAS / simple TOF instruments</a:t>
            </a:r>
          </a:p>
          <a:p>
            <a:pPr marL="142875" lvl="1" indent="0">
              <a:buNone/>
            </a:pPr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66276608-B9A9-3847-BD3E-BBFDBED600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Current situation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F4654963-74B4-4BA3-AECA-4989B777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585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2C3C1-68FF-3A0B-AF3B-71DD9C3EC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630F96C-7650-3A88-C649-0DCC68C9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5122CCFC-BBF7-9C38-76EB-E04C8894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BEF7E6A-BD0C-821A-DBAF-63C5694AE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9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6358EE77-79A6-B84E-4F4C-390F79351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9369309" cy="4768062"/>
          </a:xfrm>
        </p:spPr>
        <p:txBody>
          <a:bodyPr/>
          <a:lstStyle/>
          <a:p>
            <a:pPr lvl="1"/>
            <a:r>
              <a:rPr lang="en-US" dirty="0"/>
              <a:t>Want to get both detector response and point spread function</a:t>
            </a:r>
          </a:p>
          <a:p>
            <a:pPr lvl="1"/>
            <a:r>
              <a:rPr lang="en-US" dirty="0"/>
              <a:t>Want to get entire detector and all times in one simulation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F390F5A0-3819-A31F-6165-F09BDC12A1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Method for full detector resolution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6AD03F51-8213-9F1D-74F6-88690684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2025-11-04</a:t>
            </a:fld>
            <a:endParaRPr lang="sv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D90461-2B6F-0694-3E47-A373CD2B063D}"/>
              </a:ext>
            </a:extLst>
          </p:cNvPr>
          <p:cNvCxnSpPr/>
          <p:nvPr/>
        </p:nvCxnSpPr>
        <p:spPr>
          <a:xfrm>
            <a:off x="2433260" y="3290288"/>
            <a:ext cx="2984360" cy="462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C4EC4B-3F15-A039-136D-2B87CE1BEF34}"/>
              </a:ext>
            </a:extLst>
          </p:cNvPr>
          <p:cNvCxnSpPr/>
          <p:nvPr/>
        </p:nvCxnSpPr>
        <p:spPr>
          <a:xfrm>
            <a:off x="2304306" y="3929976"/>
            <a:ext cx="2984360" cy="4622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43321F-510F-0ABF-1D09-138531654C48}"/>
              </a:ext>
            </a:extLst>
          </p:cNvPr>
          <p:cNvCxnSpPr>
            <a:cxnSpLocks/>
          </p:cNvCxnSpPr>
          <p:nvPr/>
        </p:nvCxnSpPr>
        <p:spPr>
          <a:xfrm flipV="1">
            <a:off x="1912313" y="3137888"/>
            <a:ext cx="137327" cy="7920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B891C1-432F-8127-2DF5-C0BF001B1A7B}"/>
              </a:ext>
            </a:extLst>
          </p:cNvPr>
          <p:cNvGrpSpPr/>
          <p:nvPr/>
        </p:nvGrpSpPr>
        <p:grpSpPr>
          <a:xfrm>
            <a:off x="6010041" y="3929976"/>
            <a:ext cx="979254" cy="713333"/>
            <a:chOff x="5346185" y="3699641"/>
            <a:chExt cx="1400936" cy="102050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DE0EE72-E63C-F2E5-A6FA-9FE34213B61A}"/>
                </a:ext>
              </a:extLst>
            </p:cNvPr>
            <p:cNvSpPr/>
            <p:nvPr/>
          </p:nvSpPr>
          <p:spPr>
            <a:xfrm>
              <a:off x="5370786" y="3699641"/>
              <a:ext cx="1355835" cy="357352"/>
            </a:xfrm>
            <a:custGeom>
              <a:avLst/>
              <a:gdLst>
                <a:gd name="connsiteX0" fmla="*/ 0 w 1355835"/>
                <a:gd name="connsiteY0" fmla="*/ 105104 h 357352"/>
                <a:gd name="connsiteX1" fmla="*/ 525517 w 1355835"/>
                <a:gd name="connsiteY1" fmla="*/ 357352 h 357352"/>
                <a:gd name="connsiteX2" fmla="*/ 1355835 w 1355835"/>
                <a:gd name="connsiteY2" fmla="*/ 220718 h 357352"/>
                <a:gd name="connsiteX3" fmla="*/ 819807 w 1355835"/>
                <a:gd name="connsiteY3" fmla="*/ 0 h 357352"/>
                <a:gd name="connsiteX4" fmla="*/ 0 w 1355835"/>
                <a:gd name="connsiteY4" fmla="*/ 105104 h 3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835" h="357352">
                  <a:moveTo>
                    <a:pt x="0" y="105104"/>
                  </a:moveTo>
                  <a:lnTo>
                    <a:pt x="525517" y="357352"/>
                  </a:lnTo>
                  <a:lnTo>
                    <a:pt x="1355835" y="220718"/>
                  </a:lnTo>
                  <a:lnTo>
                    <a:pt x="819807" y="0"/>
                  </a:lnTo>
                  <a:lnTo>
                    <a:pt x="0" y="105104"/>
                  </a:lnTo>
                  <a:close/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9B079BB-201A-6F35-B659-DBA981300F85}"/>
                </a:ext>
              </a:extLst>
            </p:cNvPr>
            <p:cNvSpPr/>
            <p:nvPr/>
          </p:nvSpPr>
          <p:spPr>
            <a:xfrm>
              <a:off x="5370785" y="4362794"/>
              <a:ext cx="1355835" cy="357352"/>
            </a:xfrm>
            <a:custGeom>
              <a:avLst/>
              <a:gdLst>
                <a:gd name="connsiteX0" fmla="*/ 0 w 1355835"/>
                <a:gd name="connsiteY0" fmla="*/ 105104 h 357352"/>
                <a:gd name="connsiteX1" fmla="*/ 525517 w 1355835"/>
                <a:gd name="connsiteY1" fmla="*/ 357352 h 357352"/>
                <a:gd name="connsiteX2" fmla="*/ 1355835 w 1355835"/>
                <a:gd name="connsiteY2" fmla="*/ 220718 h 357352"/>
                <a:gd name="connsiteX3" fmla="*/ 819807 w 1355835"/>
                <a:gd name="connsiteY3" fmla="*/ 0 h 357352"/>
                <a:gd name="connsiteX4" fmla="*/ 0 w 1355835"/>
                <a:gd name="connsiteY4" fmla="*/ 105104 h 357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835" h="357352">
                  <a:moveTo>
                    <a:pt x="0" y="105104"/>
                  </a:moveTo>
                  <a:lnTo>
                    <a:pt x="525517" y="357352"/>
                  </a:lnTo>
                  <a:lnTo>
                    <a:pt x="1355835" y="220718"/>
                  </a:lnTo>
                  <a:lnTo>
                    <a:pt x="819807" y="0"/>
                  </a:lnTo>
                  <a:lnTo>
                    <a:pt x="0" y="105104"/>
                  </a:lnTo>
                  <a:close/>
                </a:path>
              </a:pathLst>
            </a:cu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55470BC-B6FB-8C16-A3CC-BB0155BFE8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185" y="3804745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482ACCB-5900-EA44-43BB-D19D38AB9A97}"/>
                </a:ext>
              </a:extLst>
            </p:cNvPr>
            <p:cNvCxnSpPr>
              <a:stCxn id="13" idx="1"/>
              <a:endCxn id="14" idx="1"/>
            </p:cNvCxnSpPr>
            <p:nvPr/>
          </p:nvCxnSpPr>
          <p:spPr>
            <a:xfrm flipH="1">
              <a:off x="5896302" y="4056993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3B36C99-D02E-89F2-C9CC-320EC22759FF}"/>
                </a:ext>
              </a:extLst>
            </p:cNvPr>
            <p:cNvCxnSpPr>
              <a:stCxn id="13" idx="3"/>
              <a:endCxn id="14" idx="3"/>
            </p:cNvCxnSpPr>
            <p:nvPr/>
          </p:nvCxnSpPr>
          <p:spPr>
            <a:xfrm flipH="1">
              <a:off x="6190592" y="3699641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7A74815-BC30-277B-00C0-2085D268B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47120" y="3920359"/>
              <a:ext cx="1" cy="66315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82D478-874E-D04F-6E9B-510034DD81FB}"/>
              </a:ext>
            </a:extLst>
          </p:cNvPr>
          <p:cNvCxnSpPr>
            <a:cxnSpLocks/>
            <a:stCxn id="27" idx="0"/>
          </p:cNvCxnSpPr>
          <p:nvPr/>
        </p:nvCxnSpPr>
        <p:spPr>
          <a:xfrm flipH="1">
            <a:off x="6600281" y="2158977"/>
            <a:ext cx="1807473" cy="2157053"/>
          </a:xfrm>
          <a:prstGeom prst="line">
            <a:avLst/>
          </a:prstGeom>
          <a:ln w="38100">
            <a:solidFill>
              <a:schemeClr val="accent1">
                <a:alpha val="71867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EF014A-C5CF-F87E-0A42-07F81728E06D}"/>
              </a:ext>
            </a:extLst>
          </p:cNvPr>
          <p:cNvCxnSpPr>
            <a:cxnSpLocks/>
            <a:stCxn id="27" idx="2"/>
          </p:cNvCxnSpPr>
          <p:nvPr/>
        </p:nvCxnSpPr>
        <p:spPr>
          <a:xfrm flipH="1" flipV="1">
            <a:off x="6600280" y="4316030"/>
            <a:ext cx="2502639" cy="1302633"/>
          </a:xfrm>
          <a:prstGeom prst="line">
            <a:avLst/>
          </a:prstGeom>
          <a:ln w="38100">
            <a:solidFill>
              <a:schemeClr val="accent1">
                <a:alpha val="71867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8E825BA-0510-7703-5327-0DD0CFD46F08}"/>
              </a:ext>
            </a:extLst>
          </p:cNvPr>
          <p:cNvSpPr txBox="1"/>
          <p:nvPr/>
        </p:nvSpPr>
        <p:spPr>
          <a:xfrm>
            <a:off x="1311332" y="2591092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6666"/>
                </a:solidFill>
              </a:rPr>
              <a:t>Start of instrument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8D72C-AB17-EDAA-BE61-EA9F5EEC4BD2}"/>
              </a:ext>
            </a:extLst>
          </p:cNvPr>
          <p:cNvSpPr txBox="1"/>
          <p:nvPr/>
        </p:nvSpPr>
        <p:spPr>
          <a:xfrm>
            <a:off x="5883380" y="3378799"/>
            <a:ext cx="2614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 err="1">
                <a:solidFill>
                  <a:srgbClr val="666666"/>
                </a:solidFill>
              </a:rPr>
              <a:t>Res_sample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3122F7-82CE-A947-AA1B-6F3CAEBFA965}"/>
              </a:ext>
            </a:extLst>
          </p:cNvPr>
          <p:cNvSpPr txBox="1"/>
          <p:nvPr/>
        </p:nvSpPr>
        <p:spPr>
          <a:xfrm>
            <a:off x="7109193" y="5799882"/>
            <a:ext cx="4787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666666"/>
                </a:solidFill>
              </a:rPr>
              <a:t>Sample sends rays towards monitor.</a:t>
            </a:r>
          </a:p>
          <a:p>
            <a:pPr algn="l"/>
            <a:r>
              <a:rPr lang="en-US" dirty="0">
                <a:solidFill>
                  <a:srgbClr val="666666"/>
                </a:solidFill>
              </a:rPr>
              <a:t>Selects random final energy in given interval.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A92CD155-ACE8-29CC-1142-2CC4DD3FB581}"/>
              </a:ext>
            </a:extLst>
          </p:cNvPr>
          <p:cNvSpPr/>
          <p:nvPr/>
        </p:nvSpPr>
        <p:spPr>
          <a:xfrm>
            <a:off x="3715687" y="1612664"/>
            <a:ext cx="5825342" cy="5245336"/>
          </a:xfrm>
          <a:prstGeom prst="arc">
            <a:avLst>
              <a:gd name="adj1" fmla="val 18635756"/>
              <a:gd name="adj2" fmla="val 1752366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ABA0C12-1EB5-665B-A0E0-D8F0F270B2AC}"/>
              </a:ext>
            </a:extLst>
          </p:cNvPr>
          <p:cNvCxnSpPr/>
          <p:nvPr/>
        </p:nvCxnSpPr>
        <p:spPr>
          <a:xfrm flipH="1">
            <a:off x="5658026" y="3521400"/>
            <a:ext cx="131481" cy="115727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A744BBE-FC22-0340-60B4-73B44B579FB2}"/>
              </a:ext>
            </a:extLst>
          </p:cNvPr>
          <p:cNvCxnSpPr/>
          <p:nvPr/>
        </p:nvCxnSpPr>
        <p:spPr>
          <a:xfrm flipH="1">
            <a:off x="7058953" y="3739195"/>
            <a:ext cx="131481" cy="115727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E5C55B-BA8E-D894-FA0C-31A92B4F3610}"/>
              </a:ext>
            </a:extLst>
          </p:cNvPr>
          <p:cNvSpPr txBox="1"/>
          <p:nvPr/>
        </p:nvSpPr>
        <p:spPr>
          <a:xfrm>
            <a:off x="4498444" y="3066113"/>
            <a:ext cx="210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666666"/>
                </a:solidFill>
              </a:rPr>
              <a:t>Monitor_nD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8152B9-792D-78BD-A1D5-1E86D3251A99}"/>
              </a:ext>
            </a:extLst>
          </p:cNvPr>
          <p:cNvSpPr txBox="1"/>
          <p:nvPr/>
        </p:nvSpPr>
        <p:spPr>
          <a:xfrm>
            <a:off x="6052232" y="4950645"/>
            <a:ext cx="210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666666"/>
                </a:solidFill>
              </a:rPr>
              <a:t>Monitor_nD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124158-3B85-702C-180C-FEF6D433B98B}"/>
              </a:ext>
            </a:extLst>
          </p:cNvPr>
          <p:cNvSpPr txBox="1"/>
          <p:nvPr/>
        </p:nvSpPr>
        <p:spPr>
          <a:xfrm>
            <a:off x="8534978" y="2172638"/>
            <a:ext cx="210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666666"/>
                </a:solidFill>
              </a:rPr>
              <a:t>Monitor_nD</a:t>
            </a:r>
            <a:endParaRPr lang="en-US" dirty="0">
              <a:solidFill>
                <a:srgbClr val="666666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57317-3248-2951-1B73-2C5655CF5FC8}"/>
              </a:ext>
            </a:extLst>
          </p:cNvPr>
          <p:cNvSpPr txBox="1"/>
          <p:nvPr/>
        </p:nvSpPr>
        <p:spPr>
          <a:xfrm>
            <a:off x="609777" y="5325703"/>
            <a:ext cx="60437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rgbClr val="666666"/>
                </a:solidFill>
              </a:rPr>
              <a:t>Before sample:</a:t>
            </a:r>
          </a:p>
          <a:p>
            <a:pPr algn="l"/>
            <a:r>
              <a:rPr lang="en-US" sz="2000" dirty="0">
                <a:solidFill>
                  <a:srgbClr val="666666"/>
                </a:solidFill>
              </a:rPr>
              <a:t>After sample:</a:t>
            </a:r>
          </a:p>
          <a:p>
            <a:pPr algn="l"/>
            <a:r>
              <a:rPr lang="en-US" sz="2000" dirty="0">
                <a:solidFill>
                  <a:srgbClr val="666666"/>
                </a:solidFill>
              </a:rPr>
              <a:t>Detector: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4364FB-5FBA-B06E-E073-07BCBA581E90}"/>
              </a:ext>
            </a:extLst>
          </p:cNvPr>
          <p:cNvSpPr txBox="1"/>
          <p:nvPr/>
        </p:nvSpPr>
        <p:spPr>
          <a:xfrm>
            <a:off x="2423212" y="5332608"/>
            <a:ext cx="60437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rgbClr val="666666"/>
                </a:solidFill>
              </a:rPr>
              <a:t>k</a:t>
            </a:r>
            <a:r>
              <a:rPr lang="en-US" sz="2000" dirty="0">
                <a:solidFill>
                  <a:srgbClr val="666666"/>
                </a:solidFill>
              </a:rPr>
              <a:t>, neutron id</a:t>
            </a:r>
          </a:p>
          <a:p>
            <a:pPr algn="l"/>
            <a:r>
              <a:rPr lang="en-US" sz="2000" b="1" dirty="0">
                <a:solidFill>
                  <a:srgbClr val="666666"/>
                </a:solidFill>
              </a:rPr>
              <a:t>k</a:t>
            </a:r>
            <a:r>
              <a:rPr lang="en-US" sz="2000" dirty="0">
                <a:solidFill>
                  <a:srgbClr val="666666"/>
                </a:solidFill>
              </a:rPr>
              <a:t>, neutron id</a:t>
            </a:r>
          </a:p>
          <a:p>
            <a:pPr algn="l"/>
            <a:r>
              <a:rPr lang="en-US" sz="2000" dirty="0">
                <a:solidFill>
                  <a:srgbClr val="666666"/>
                </a:solidFill>
              </a:rPr>
              <a:t>pixel position, time and neutron id </a:t>
            </a:r>
          </a:p>
        </p:txBody>
      </p:sp>
    </p:spTree>
    <p:extLst>
      <p:ext uri="{BB962C8B-B14F-4D97-AF65-F5344CB8AC3E}">
        <p14:creationId xmlns:p14="http://schemas.microsoft.com/office/powerpoint/2010/main" val="427831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3F74E-6AEB-ACF8-416E-F18523DE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A463B09-7FA9-E62C-70EB-8A37C1BA6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Resolution</a:t>
            </a:r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930CBA2-50E9-8060-16D5-117FFFDEC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PRESENTATION TITLE/FOOTER</a:t>
            </a: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308BB3A-9352-C64B-F1A2-C73B0D76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83078-D760-1647-8B80-66BA8B52336D}" type="slidenum">
              <a:rPr lang="sv-SE" smtClean="0">
                <a:solidFill>
                  <a:srgbClr val="CCCCCC"/>
                </a:solidFill>
              </a:rPr>
              <a:t>10</a:t>
            </a:fld>
            <a:endParaRPr lang="sv-SE" dirty="0">
              <a:solidFill>
                <a:srgbClr val="CCCCCC"/>
              </a:solidFill>
            </a:endParaRP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53EF4DF0-92FE-52CC-BE5E-525A29518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399" y="1562400"/>
            <a:ext cx="9369309" cy="4768062"/>
          </a:xfrm>
        </p:spPr>
        <p:txBody>
          <a:bodyPr/>
          <a:lstStyle/>
          <a:p>
            <a:pPr lvl="1"/>
            <a:r>
              <a:rPr lang="en-US" dirty="0"/>
              <a:t>For each event recorded in the detector we know</a:t>
            </a:r>
          </a:p>
          <a:p>
            <a:pPr lvl="2"/>
            <a:r>
              <a:rPr lang="en-US" dirty="0"/>
              <a:t>From the detector itself: pixel position, time and neutron id</a:t>
            </a:r>
          </a:p>
          <a:p>
            <a:pPr lvl="2"/>
            <a:r>
              <a:rPr lang="en-US" dirty="0"/>
              <a:t>From this id, we can look up: initial and final wavevector -&gt; </a:t>
            </a:r>
            <a:r>
              <a:rPr lang="en-US" b="1" dirty="0"/>
              <a:t>q</a:t>
            </a:r>
            <a:r>
              <a:rPr lang="en-US" dirty="0"/>
              <a:t>, E</a:t>
            </a:r>
          </a:p>
          <a:p>
            <a:pPr lvl="2"/>
            <a:endParaRPr lang="en-US" baseline="-25000" dirty="0"/>
          </a:p>
          <a:p>
            <a:pPr lvl="1"/>
            <a:r>
              <a:rPr lang="en-US" dirty="0"/>
              <a:t>With this information we can look at</a:t>
            </a:r>
          </a:p>
          <a:p>
            <a:pPr lvl="2"/>
            <a:r>
              <a:rPr lang="en-US" dirty="0"/>
              <a:t>Small subset of pixel / time positions -&gt; Detector response for that area in </a:t>
            </a:r>
            <a:r>
              <a:rPr lang="en-US" b="1" dirty="0"/>
              <a:t>q</a:t>
            </a:r>
            <a:r>
              <a:rPr lang="en-US" dirty="0"/>
              <a:t>, E</a:t>
            </a:r>
          </a:p>
          <a:p>
            <a:pPr lvl="2"/>
            <a:r>
              <a:rPr lang="en-US" dirty="0"/>
              <a:t>Small subset of </a:t>
            </a:r>
            <a:r>
              <a:rPr lang="en-US" b="1" dirty="0"/>
              <a:t>q</a:t>
            </a:r>
            <a:r>
              <a:rPr lang="en-US" dirty="0"/>
              <a:t>, E -&gt; Point spread function on detector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This requires large dataset and code to handle data</a:t>
            </a:r>
          </a:p>
          <a:p>
            <a:pPr lvl="1"/>
            <a:r>
              <a:rPr lang="en-US" dirty="0"/>
              <a:t>Still requires multiple simulations scanning over </a:t>
            </a:r>
            <a:r>
              <a:rPr lang="en-US"/>
              <a:t>instrument settings</a:t>
            </a:r>
            <a:endParaRPr lang="en-US" dirty="0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E5ABB74-C801-B0F9-E6C4-CB08CAF50B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Method for full detector resolution</a:t>
            </a:r>
          </a:p>
        </p:txBody>
      </p:sp>
      <p:sp>
        <p:nvSpPr>
          <p:cNvPr id="10" name="Platshållare för datum 3">
            <a:extLst>
              <a:ext uri="{FF2B5EF4-FFF2-40B4-BE49-F238E27FC236}">
                <a16:creationId xmlns:a16="http://schemas.microsoft.com/office/drawing/2014/main" id="{5C1CF10C-B4B0-4A3E-34A4-9B7FECBE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5647" y="6475270"/>
            <a:ext cx="832658" cy="365125"/>
          </a:xfrm>
        </p:spPr>
        <p:txBody>
          <a:bodyPr/>
          <a:lstStyle/>
          <a:p>
            <a:fld id="{18896B66-0B3A-474C-9C9C-E4F07B1F5DAD}" type="datetime1">
              <a:rPr lang="sv-SE" smtClean="0"/>
              <a:t>2025-11-03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2602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ESS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99DC"/>
      </a:accent1>
      <a:accent2>
        <a:srgbClr val="003366"/>
      </a:accent2>
      <a:accent3>
        <a:srgbClr val="99BE00"/>
      </a:accent3>
      <a:accent4>
        <a:srgbClr val="006646"/>
      </a:accent4>
      <a:accent5>
        <a:srgbClr val="FF7D00"/>
      </a:accent5>
      <a:accent6>
        <a:srgbClr val="821482"/>
      </a:accent6>
      <a:hlink>
        <a:srgbClr val="0099DC"/>
      </a:hlink>
      <a:folHlink>
        <a:srgbClr val="0099DC"/>
      </a:folHlink>
    </a:clrScheme>
    <a:fontScheme name="ESS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>
            <a:solidFill>
              <a:srgbClr val="666666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C8E05FD6-4408-40A1-AAFA-F1913A6B3D38}" vid="{2ACFAA60-6D1B-4172-9AA5-52CCB5CBBC40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1750</TotalTime>
  <Words>601</Words>
  <Application>Microsoft Macintosh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Segoe UI</vt:lpstr>
      <vt:lpstr>Segoe UI Light</vt:lpstr>
      <vt:lpstr>Segoe UI Semibold</vt:lpstr>
      <vt:lpstr>Wingdings</vt:lpstr>
      <vt:lpstr>Office-tema</vt:lpstr>
      <vt:lpstr>Investigating instrument resolution with McStas</vt:lpstr>
      <vt:lpstr>Resolution</vt:lpstr>
      <vt:lpstr>Resolution</vt:lpstr>
      <vt:lpstr>Resolution</vt:lpstr>
      <vt:lpstr>Resolution</vt:lpstr>
      <vt:lpstr>Resolution</vt:lpstr>
      <vt:lpstr>Resolution</vt:lpstr>
      <vt:lpstr>Resolution</vt:lpstr>
      <vt:lpstr>Resolution</vt:lpstr>
      <vt:lpstr>Resolution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Mads Bertelsen</dc:creator>
  <cp:lastModifiedBy>Mads Bertelsen</cp:lastModifiedBy>
  <cp:revision>8</cp:revision>
  <cp:lastPrinted>2019-03-08T10:27:30Z</cp:lastPrinted>
  <dcterms:created xsi:type="dcterms:W3CDTF">2025-11-03T16:38:44Z</dcterms:created>
  <dcterms:modified xsi:type="dcterms:W3CDTF">2025-11-04T21:53:31Z</dcterms:modified>
</cp:coreProperties>
</file>